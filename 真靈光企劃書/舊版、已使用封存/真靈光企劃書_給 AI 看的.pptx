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6858000" cx="12192000"/>
  <p:notesSz cx="6858000" cy="9144000"/>
  <p:embeddedFontLst>
    <p:embeddedFont>
      <p:font typeface="Sorts Mill Goudy"/>
      <p:regular r:id="rId29"/>
      <p:italic r:id="rId30"/>
    </p:embeddedFont>
    <p:embeddedFont>
      <p:font typeface="Century Gothic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g2IOBfdbi75OVfdJWnRkTWmjJz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218573-F3EE-4882-B7E4-E67086CEF204}">
  <a:tblStyle styleId="{13218573-F3EE-4882-B7E4-E67086CEF204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5E7"/>
          </a:solidFill>
        </a:fill>
      </a:tcStyle>
    </a:wholeTbl>
    <a:band1H>
      <a:tcTxStyle/>
      <a:tcStyle>
        <a:fill>
          <a:solidFill>
            <a:srgbClr val="DFEBCA"/>
          </a:solidFill>
        </a:fill>
      </a:tcStyle>
    </a:band1H>
    <a:band2H>
      <a:tcTxStyle/>
    </a:band2H>
    <a:band1V>
      <a:tcTxStyle/>
      <a:tcStyle>
        <a:fill>
          <a:solidFill>
            <a:srgbClr val="DFEB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B1D82ED-64FE-44D7-B84F-EB100761257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rtsMillGoudy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CenturyGothic-regular.fntdata"/><Relationship Id="rId30" Type="http://schemas.openxmlformats.org/officeDocument/2006/relationships/font" Target="fonts/SortsMillGoudy-italic.fntdata"/><Relationship Id="rId11" Type="http://schemas.openxmlformats.org/officeDocument/2006/relationships/slide" Target="slides/slide3.xml"/><Relationship Id="rId33" Type="http://schemas.openxmlformats.org/officeDocument/2006/relationships/font" Target="fonts/CenturyGothic-italic.fntdata"/><Relationship Id="rId10" Type="http://schemas.openxmlformats.org/officeDocument/2006/relationships/slide" Target="slides/slide2.xml"/><Relationship Id="rId32" Type="http://schemas.openxmlformats.org/officeDocument/2006/relationships/font" Target="fonts/CenturyGothic-bold.fntdata"/><Relationship Id="rId13" Type="http://schemas.openxmlformats.org/officeDocument/2006/relationships/slide" Target="slides/slide5.xml"/><Relationship Id="rId35" Type="http://customschemas.google.com/relationships/presentationmetadata" Target="metadata"/><Relationship Id="rId12" Type="http://schemas.openxmlformats.org/officeDocument/2006/relationships/slide" Target="slides/slide4.xml"/><Relationship Id="rId34" Type="http://schemas.openxmlformats.org/officeDocument/2006/relationships/font" Target="fonts/CenturyGothic-bold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0" name="Google Shape;2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6" name="Google Shape;2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>
  <p:cSld name="标题幻灯片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图片 1" id="14" name="Google Shape;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4140" y="201929"/>
            <a:ext cx="1466218" cy="575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/>
          <p:nvPr>
            <p:ph type="title"/>
          </p:nvPr>
        </p:nvSpPr>
        <p:spPr>
          <a:xfrm>
            <a:off x="2667000" y="1122362"/>
            <a:ext cx="6858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" type="body"/>
          </p:nvPr>
        </p:nvSpPr>
        <p:spPr>
          <a:xfrm>
            <a:off x="2667000" y="3602037"/>
            <a:ext cx="6858000" cy="16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7981950" y="6356351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>
  <p:cSld name="兩項物件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5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idx="10" type="dt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1" type="ftr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11719859" y="6569093"/>
            <a:ext cx="609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/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2pPr>
            <a:lvl3pPr indent="-3556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4pPr>
            <a:lvl5pPr indent="-3556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5pPr>
            <a:lvl6pPr indent="-3556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8"/>
          <p:cNvSpPr txBox="1"/>
          <p:nvPr>
            <p:ph idx="11" type="ftr"/>
          </p:nvPr>
        </p:nvSpPr>
        <p:spPr>
          <a:xfrm>
            <a:off x="4165603" y="635635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080" y="365040"/>
            <a:ext cx="10515360" cy="132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080" y="1825560"/>
            <a:ext cx="10515360" cy="4350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10" y="332656"/>
            <a:ext cx="118851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719403" y="1628800"/>
            <a:ext cx="51846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·"/>
              <a:defRPr sz="2800"/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3pPr>
            <a:lvl4pPr indent="-2286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576055" y="1628800"/>
            <a:ext cx="51846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·"/>
              <a:defRPr sz="2800"/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3pPr>
            <a:lvl4pPr indent="-2286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11719859" y="6569093"/>
            <a:ext cx="609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/>
          <p:nvPr>
            <p:ph type="ctrTitle"/>
          </p:nvPr>
        </p:nvSpPr>
        <p:spPr>
          <a:xfrm>
            <a:off x="0" y="2157319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" type="subTitle"/>
          </p:nvPr>
        </p:nvSpPr>
        <p:spPr>
          <a:xfrm>
            <a:off x="1219200" y="3034555"/>
            <a:ext cx="10668000" cy="3823447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7" name="Google Shape;57;p48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含圖片">
  <p:cSld name="標題投影片含圖片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type="ctrTitle"/>
          </p:nvPr>
        </p:nvSpPr>
        <p:spPr>
          <a:xfrm>
            <a:off x="0" y="5025435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" type="subTitle"/>
          </p:nvPr>
        </p:nvSpPr>
        <p:spPr>
          <a:xfrm>
            <a:off x="1219200" y="5943600"/>
            <a:ext cx="10668000" cy="9144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3" name="Google Shape;63;p49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/>
          <p:nvPr>
            <p:ph idx="2" type="pic"/>
          </p:nvPr>
        </p:nvSpPr>
        <p:spPr>
          <a:xfrm>
            <a:off x="1236133" y="1129553"/>
            <a:ext cx="10651067" cy="388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頭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0"/>
          <p:cNvSpPr txBox="1"/>
          <p:nvPr>
            <p:ph type="title"/>
          </p:nvPr>
        </p:nvSpPr>
        <p:spPr>
          <a:xfrm>
            <a:off x="0" y="3200399"/>
            <a:ext cx="118872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" type="body"/>
          </p:nvPr>
        </p:nvSpPr>
        <p:spPr>
          <a:xfrm>
            <a:off x="1219200" y="5484607"/>
            <a:ext cx="10668000" cy="7772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91425" lIns="292600" spcFirstLastPara="1" rIns="274300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9" name="Google Shape;69;p50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" type="body"/>
          </p:nvPr>
        </p:nvSpPr>
        <p:spPr>
          <a:xfrm>
            <a:off x="719402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75" name="Google Shape;75;p51"/>
          <p:cNvSpPr txBox="1"/>
          <p:nvPr>
            <p:ph idx="2" type="body"/>
          </p:nvPr>
        </p:nvSpPr>
        <p:spPr>
          <a:xfrm>
            <a:off x="6576054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76" name="Google Shape;76;p51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2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" type="body"/>
          </p:nvPr>
        </p:nvSpPr>
        <p:spPr>
          <a:xfrm>
            <a:off x="982100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52"/>
          <p:cNvSpPr txBox="1"/>
          <p:nvPr>
            <p:ph idx="2" type="body"/>
          </p:nvPr>
        </p:nvSpPr>
        <p:spPr>
          <a:xfrm>
            <a:off x="982100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83" name="Google Shape;83;p52"/>
          <p:cNvSpPr txBox="1"/>
          <p:nvPr>
            <p:ph idx="3" type="body"/>
          </p:nvPr>
        </p:nvSpPr>
        <p:spPr>
          <a:xfrm>
            <a:off x="6351361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52"/>
          <p:cNvSpPr txBox="1"/>
          <p:nvPr>
            <p:ph idx="4" type="body"/>
          </p:nvPr>
        </p:nvSpPr>
        <p:spPr>
          <a:xfrm>
            <a:off x="6351361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85" name="Google Shape;85;p52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2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2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88" name="Google Shape;88;p52"/>
          <p:cNvCxnSpPr/>
          <p:nvPr/>
        </p:nvCxnSpPr>
        <p:spPr>
          <a:xfrm>
            <a:off x="1054127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52"/>
          <p:cNvCxnSpPr/>
          <p:nvPr/>
        </p:nvCxnSpPr>
        <p:spPr>
          <a:xfrm>
            <a:off x="645613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52"/>
          <p:cNvCxnSpPr/>
          <p:nvPr/>
        </p:nvCxnSpPr>
        <p:spPr>
          <a:xfrm>
            <a:off x="112615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52"/>
          <p:cNvCxnSpPr/>
          <p:nvPr/>
        </p:nvCxnSpPr>
        <p:spPr>
          <a:xfrm>
            <a:off x="645613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52"/>
          <p:cNvCxnSpPr/>
          <p:nvPr/>
        </p:nvCxnSpPr>
        <p:spPr>
          <a:xfrm>
            <a:off x="1104021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52"/>
          <p:cNvCxnSpPr/>
          <p:nvPr/>
        </p:nvCxnSpPr>
        <p:spPr>
          <a:xfrm>
            <a:off x="6473282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3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3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4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4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4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5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5"/>
          <p:cNvSpPr txBox="1"/>
          <p:nvPr>
            <p:ph idx="1" type="body"/>
          </p:nvPr>
        </p:nvSpPr>
        <p:spPr>
          <a:xfrm>
            <a:off x="6863378" y="2590802"/>
            <a:ext cx="4754880" cy="368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064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064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064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064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9pPr>
          </a:lstStyle>
          <a:p/>
        </p:txBody>
      </p:sp>
      <p:sp>
        <p:nvSpPr>
          <p:cNvPr id="106" name="Google Shape;106;p55"/>
          <p:cNvSpPr txBox="1"/>
          <p:nvPr>
            <p:ph idx="2" type="body"/>
          </p:nvPr>
        </p:nvSpPr>
        <p:spPr>
          <a:xfrm>
            <a:off x="1201269" y="2039111"/>
            <a:ext cx="4754880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7" name="Google Shape;107;p55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5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5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6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E8C4D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6"/>
          <p:cNvSpPr/>
          <p:nvPr>
            <p:ph idx="2" type="pic"/>
          </p:nvPr>
        </p:nvSpPr>
        <p:spPr>
          <a:xfrm>
            <a:off x="7317317" y="2048256"/>
            <a:ext cx="4569884" cy="420624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56"/>
          <p:cNvSpPr txBox="1"/>
          <p:nvPr>
            <p:ph idx="1" type="body"/>
          </p:nvPr>
        </p:nvSpPr>
        <p:spPr>
          <a:xfrm>
            <a:off x="1219200" y="2039112"/>
            <a:ext cx="6096001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4" name="Google Shape;114;p56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6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6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上的圖片">
  <p:cSld name="標題上的圖片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7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7"/>
          <p:cNvSpPr txBox="1"/>
          <p:nvPr>
            <p:ph idx="1" type="subTitle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0" name="Google Shape;120;p57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7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7"/>
          <p:cNvSpPr/>
          <p:nvPr>
            <p:ph idx="2" type="pic"/>
          </p:nvPr>
        </p:nvSpPr>
        <p:spPr>
          <a:xfrm>
            <a:off x="1236133" y="1129553"/>
            <a:ext cx="10651067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張含標題圖片">
  <p:cSld name="2 張含標題圖片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8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8"/>
          <p:cNvSpPr txBox="1"/>
          <p:nvPr>
            <p:ph idx="1" type="subTitle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6" name="Google Shape;126;p58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8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8"/>
          <p:cNvSpPr/>
          <p:nvPr>
            <p:ph idx="2" type="pic"/>
          </p:nvPr>
        </p:nvSpPr>
        <p:spPr>
          <a:xfrm>
            <a:off x="1236133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58"/>
          <p:cNvSpPr/>
          <p:nvPr>
            <p:ph idx="3" type="pic"/>
          </p:nvPr>
        </p:nvSpPr>
        <p:spPr>
          <a:xfrm>
            <a:off x="6571488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張含標題圖片">
  <p:cSld name="3 張含標題圖片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9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9"/>
          <p:cNvSpPr txBox="1"/>
          <p:nvPr>
            <p:ph idx="1" type="subTitle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3" name="Google Shape;133;p59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9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9"/>
          <p:cNvSpPr/>
          <p:nvPr>
            <p:ph idx="2" type="pic"/>
          </p:nvPr>
        </p:nvSpPr>
        <p:spPr>
          <a:xfrm>
            <a:off x="1236133" y="1129553"/>
            <a:ext cx="8802624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59"/>
          <p:cNvSpPr/>
          <p:nvPr>
            <p:ph idx="3" type="pic"/>
          </p:nvPr>
        </p:nvSpPr>
        <p:spPr>
          <a:xfrm>
            <a:off x="10058401" y="1129553"/>
            <a:ext cx="182880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59"/>
          <p:cNvSpPr/>
          <p:nvPr>
            <p:ph idx="4" type="pic"/>
          </p:nvPr>
        </p:nvSpPr>
        <p:spPr>
          <a:xfrm>
            <a:off x="10058401" y="2629169"/>
            <a:ext cx="1828800" cy="14813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0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0"/>
          <p:cNvSpPr txBox="1"/>
          <p:nvPr>
            <p:ph idx="1" type="body"/>
          </p:nvPr>
        </p:nvSpPr>
        <p:spPr>
          <a:xfrm rot="5400000">
            <a:off x="3737525" y="-1629347"/>
            <a:ext cx="4781545" cy="1100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141" name="Google Shape;141;p60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0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0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1"/>
          <p:cNvSpPr txBox="1"/>
          <p:nvPr>
            <p:ph type="title"/>
          </p:nvPr>
        </p:nvSpPr>
        <p:spPr>
          <a:xfrm rot="5400000">
            <a:off x="8493033" y="3286593"/>
            <a:ext cx="5533278" cy="1219201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685800" lIns="274300" spcFirstLastPara="1" rIns="274300" wrap="square" tIns="6858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1"/>
          <p:cNvSpPr txBox="1"/>
          <p:nvPr>
            <p:ph idx="1" type="body"/>
          </p:nvPr>
        </p:nvSpPr>
        <p:spPr>
          <a:xfrm rot="5400000">
            <a:off x="3503115" y="-278310"/>
            <a:ext cx="4542304" cy="8568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147" name="Google Shape;147;p61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1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1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2"/>
          <p:cNvSpPr/>
          <p:nvPr/>
        </p:nvSpPr>
        <p:spPr>
          <a:xfrm>
            <a:off x="2" y="-1"/>
            <a:ext cx="3213100" cy="6858000"/>
          </a:xfrm>
          <a:prstGeom prst="rect">
            <a:avLst/>
          </a:prstGeom>
          <a:solidFill>
            <a:srgbClr val="7E8C4D">
              <a:alpha val="7607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62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2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2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3"/>
          <p:cNvSpPr txBox="1"/>
          <p:nvPr>
            <p:ph type="title"/>
          </p:nvPr>
        </p:nvSpPr>
        <p:spPr>
          <a:xfrm>
            <a:off x="838080" y="365040"/>
            <a:ext cx="10515360" cy="132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63"/>
          <p:cNvSpPr txBox="1"/>
          <p:nvPr>
            <p:ph idx="1" type="body"/>
          </p:nvPr>
        </p:nvSpPr>
        <p:spPr>
          <a:xfrm>
            <a:off x="838080" y="1825560"/>
            <a:ext cx="10515360" cy="4350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63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4"/>
          <p:cNvSpPr txBox="1"/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1" name="Google Shape;161;p64"/>
          <p:cNvSpPr txBox="1"/>
          <p:nvPr>
            <p:ph idx="1" type="body"/>
          </p:nvPr>
        </p:nvSpPr>
        <p:spPr>
          <a:xfrm>
            <a:off x="989399" y="1685925"/>
            <a:ext cx="10213201" cy="404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64"/>
          <p:cNvSpPr txBox="1"/>
          <p:nvPr>
            <p:ph idx="12" type="sldNum"/>
          </p:nvPr>
        </p:nvSpPr>
        <p:spPr>
          <a:xfrm>
            <a:off x="11461009" y="6459730"/>
            <a:ext cx="281941" cy="25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623400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174" name="Google Shape;174;p30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ctrTitle"/>
          </p:nvPr>
        </p:nvSpPr>
        <p:spPr>
          <a:xfrm>
            <a:off x="0" y="2157319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" type="subTitle"/>
          </p:nvPr>
        </p:nvSpPr>
        <p:spPr>
          <a:xfrm>
            <a:off x="1219200" y="3034571"/>
            <a:ext cx="10668000" cy="3823447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0" name="Google Shape;180;p33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含圖片">
  <p:cSld name="標題投影片含圖片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ctrTitle"/>
          </p:nvPr>
        </p:nvSpPr>
        <p:spPr>
          <a:xfrm>
            <a:off x="0" y="5025435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" type="subTitle"/>
          </p:nvPr>
        </p:nvSpPr>
        <p:spPr>
          <a:xfrm>
            <a:off x="1219200" y="5943600"/>
            <a:ext cx="10668000" cy="9144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6" name="Google Shape;186;p34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4"/>
          <p:cNvSpPr/>
          <p:nvPr>
            <p:ph idx="2" type="pic"/>
          </p:nvPr>
        </p:nvSpPr>
        <p:spPr>
          <a:xfrm>
            <a:off x="1236140" y="1129553"/>
            <a:ext cx="10651067" cy="388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頭" type="secHead">
  <p:cSld name="SECTION_HEAD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0" y="3200399"/>
            <a:ext cx="118872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1219200" y="5484607"/>
            <a:ext cx="10668000" cy="7772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91425" lIns="292600" spcFirstLastPara="1" rIns="274300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2" name="Google Shape;192;p35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719403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198" name="Google Shape;198;p36"/>
          <p:cNvSpPr txBox="1"/>
          <p:nvPr>
            <p:ph idx="2" type="body"/>
          </p:nvPr>
        </p:nvSpPr>
        <p:spPr>
          <a:xfrm>
            <a:off x="6576055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199" name="Google Shape;199;p36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6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982100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5" name="Google Shape;205;p37"/>
          <p:cNvSpPr txBox="1"/>
          <p:nvPr>
            <p:ph idx="2" type="body"/>
          </p:nvPr>
        </p:nvSpPr>
        <p:spPr>
          <a:xfrm>
            <a:off x="982100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206" name="Google Shape;206;p37"/>
          <p:cNvSpPr txBox="1"/>
          <p:nvPr>
            <p:ph idx="3" type="body"/>
          </p:nvPr>
        </p:nvSpPr>
        <p:spPr>
          <a:xfrm>
            <a:off x="6351361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7"/>
          <p:cNvSpPr txBox="1"/>
          <p:nvPr>
            <p:ph idx="4" type="body"/>
          </p:nvPr>
        </p:nvSpPr>
        <p:spPr>
          <a:xfrm>
            <a:off x="6351361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208" name="Google Shape;208;p37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7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211" name="Google Shape;211;p37"/>
          <p:cNvCxnSpPr/>
          <p:nvPr/>
        </p:nvCxnSpPr>
        <p:spPr>
          <a:xfrm>
            <a:off x="105413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37"/>
          <p:cNvCxnSpPr/>
          <p:nvPr/>
        </p:nvCxnSpPr>
        <p:spPr>
          <a:xfrm>
            <a:off x="6456142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37"/>
          <p:cNvCxnSpPr/>
          <p:nvPr/>
        </p:nvCxnSpPr>
        <p:spPr>
          <a:xfrm>
            <a:off x="1126162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37"/>
          <p:cNvCxnSpPr/>
          <p:nvPr/>
        </p:nvCxnSpPr>
        <p:spPr>
          <a:xfrm>
            <a:off x="6456142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37"/>
          <p:cNvCxnSpPr/>
          <p:nvPr/>
        </p:nvCxnSpPr>
        <p:spPr>
          <a:xfrm>
            <a:off x="1104028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37"/>
          <p:cNvCxnSpPr/>
          <p:nvPr/>
        </p:nvCxnSpPr>
        <p:spPr>
          <a:xfrm>
            <a:off x="6473283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8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9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9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6863379" y="2590818"/>
            <a:ext cx="4754880" cy="368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064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064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064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064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9pPr>
          </a:lstStyle>
          <a:p/>
        </p:txBody>
      </p:sp>
      <p:sp>
        <p:nvSpPr>
          <p:cNvPr id="229" name="Google Shape;229;p40"/>
          <p:cNvSpPr txBox="1"/>
          <p:nvPr>
            <p:ph idx="2" type="body"/>
          </p:nvPr>
        </p:nvSpPr>
        <p:spPr>
          <a:xfrm>
            <a:off x="1201269" y="2039111"/>
            <a:ext cx="4754880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0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0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E8C4D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1"/>
          <p:cNvSpPr/>
          <p:nvPr>
            <p:ph idx="2" type="pic"/>
          </p:nvPr>
        </p:nvSpPr>
        <p:spPr>
          <a:xfrm>
            <a:off x="7317318" y="2048256"/>
            <a:ext cx="4569884" cy="420624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1219208" y="2039112"/>
            <a:ext cx="6096001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1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1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上的圖片">
  <p:cSld name="標題上的圖片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2"/>
          <p:cNvSpPr txBox="1"/>
          <p:nvPr>
            <p:ph idx="1" type="subTitle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2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2"/>
          <p:cNvSpPr/>
          <p:nvPr>
            <p:ph idx="2" type="pic"/>
          </p:nvPr>
        </p:nvSpPr>
        <p:spPr>
          <a:xfrm>
            <a:off x="1236140" y="1129553"/>
            <a:ext cx="10651067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張含標題圖片">
  <p:cSld name="2 張含標題圖片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1" type="subTitle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3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3"/>
          <p:cNvSpPr/>
          <p:nvPr>
            <p:ph idx="2" type="pic"/>
          </p:nvPr>
        </p:nvSpPr>
        <p:spPr>
          <a:xfrm>
            <a:off x="1236133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3"/>
          <p:cNvSpPr/>
          <p:nvPr>
            <p:ph idx="3" type="pic"/>
          </p:nvPr>
        </p:nvSpPr>
        <p:spPr>
          <a:xfrm>
            <a:off x="6571488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張含標題圖片">
  <p:cSld name="3 張含標題圖片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1" type="subTitle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4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4"/>
          <p:cNvSpPr/>
          <p:nvPr>
            <p:ph idx="2" type="pic"/>
          </p:nvPr>
        </p:nvSpPr>
        <p:spPr>
          <a:xfrm>
            <a:off x="1236133" y="1129553"/>
            <a:ext cx="8802624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44"/>
          <p:cNvSpPr/>
          <p:nvPr>
            <p:ph idx="3" type="pic"/>
          </p:nvPr>
        </p:nvSpPr>
        <p:spPr>
          <a:xfrm>
            <a:off x="10058401" y="1129553"/>
            <a:ext cx="182880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4"/>
          <p:cNvSpPr/>
          <p:nvPr>
            <p:ph idx="4" type="pic"/>
          </p:nvPr>
        </p:nvSpPr>
        <p:spPr>
          <a:xfrm>
            <a:off x="10058401" y="2629169"/>
            <a:ext cx="1828800" cy="14813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1" type="body"/>
          </p:nvPr>
        </p:nvSpPr>
        <p:spPr>
          <a:xfrm rot="5400000">
            <a:off x="3737532" y="-1629347"/>
            <a:ext cx="4781545" cy="1100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5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type="title"/>
          </p:nvPr>
        </p:nvSpPr>
        <p:spPr>
          <a:xfrm rot="5400000">
            <a:off x="8493042" y="3286593"/>
            <a:ext cx="5533278" cy="1219201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685800" lIns="274300" spcFirstLastPara="1" rIns="274300" wrap="square" tIns="6858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 rot="5400000">
            <a:off x="3503118" y="-278311"/>
            <a:ext cx="4542304" cy="8568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/>
          <p:nvPr/>
        </p:nvSpPr>
        <p:spPr>
          <a:xfrm>
            <a:off x="3" y="-1"/>
            <a:ext cx="3213100" cy="6858000"/>
          </a:xfrm>
          <a:prstGeom prst="rect">
            <a:avLst/>
          </a:prstGeom>
          <a:solidFill>
            <a:srgbClr val="7E8C4D">
              <a:alpha val="7607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47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7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7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3E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55600" lvl="5" marL="2743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55600" lvl="6" marL="3200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55600" lvl="7" marL="3657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55600" lvl="8" marL="4114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11461009" y="6459730"/>
            <a:ext cx="281941" cy="25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b="0" i="0" sz="4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🞑"/>
              <a:defRPr b="0" i="0" sz="36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318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318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318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318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3" name="Google Shape;43;p26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4" name="Google Shape;44;p26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" name="Google Shape;46;p26"/>
          <p:cNvSpPr/>
          <p:nvPr/>
        </p:nvSpPr>
        <p:spPr>
          <a:xfrm>
            <a:off x="1219200" y="0"/>
            <a:ext cx="106658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" name="Google Shape;47;p26"/>
          <p:cNvSpPr/>
          <p:nvPr/>
        </p:nvSpPr>
        <p:spPr>
          <a:xfrm>
            <a:off x="1219200" y="6675120"/>
            <a:ext cx="10665884" cy="18288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b="0" i="0" sz="4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623400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🞑"/>
              <a:defRPr b="0" i="0" sz="36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318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318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318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318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6" name="Google Shape;166;p29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7" name="Google Shape;167;p29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1219201" y="0"/>
            <a:ext cx="106658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1219201" y="6675120"/>
            <a:ext cx="10665884" cy="18288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jpg"/><Relationship Id="rId10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5" Type="http://schemas.openxmlformats.org/officeDocument/2006/relationships/image" Target="../media/image7.jpg"/><Relationship Id="rId6" Type="http://schemas.openxmlformats.org/officeDocument/2006/relationships/image" Target="../media/image9.jpg"/><Relationship Id="rId7" Type="http://schemas.openxmlformats.org/officeDocument/2006/relationships/image" Target="../media/image12.jpg"/><Relationship Id="rId8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Relationship Id="rId4" Type="http://schemas.openxmlformats.org/officeDocument/2006/relationships/image" Target="../media/image9.jpg"/><Relationship Id="rId5" Type="http://schemas.openxmlformats.org/officeDocument/2006/relationships/image" Target="../media/image19.png"/><Relationship Id="rId6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Relationship Id="rId4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"/>
          <p:cNvSpPr txBox="1"/>
          <p:nvPr>
            <p:ph idx="4294967295" type="body"/>
          </p:nvPr>
        </p:nvSpPr>
        <p:spPr>
          <a:xfrm>
            <a:off x="559808" y="123984"/>
            <a:ext cx="6141338" cy="6440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b="1"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陳仲豪</a:t>
            </a:r>
            <a:endParaRPr b="1"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1"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經歷：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學習身心健康30年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身心靈健康產業21年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身心靈相關花超過</a:t>
            </a:r>
            <a:r>
              <a:rPr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400萬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台灣六萬名經銷商推薦第一名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拿過三家身心健康產業第一名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拿過20個以上銷售冠軍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經營過14家身心健康相關實體店，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學員超過10000人</a:t>
            </a:r>
            <a:endParaRPr sz="2200"/>
          </a:p>
        </p:txBody>
      </p:sp>
      <p:pic>
        <p:nvPicPr>
          <p:cNvPr descr="C:\Users\ASUS-w10\Desktop\大頭照片\FB大頭貼\1.jpg" id="283" name="Google Shape;283;p1"/>
          <p:cNvPicPr preferRelativeResize="0"/>
          <p:nvPr/>
        </p:nvPicPr>
        <p:blipFill rotWithShape="1">
          <a:blip r:embed="rId3">
            <a:alphaModFix/>
          </a:blip>
          <a:srcRect b="8171" l="2546" r="-2535" t="11140"/>
          <a:stretch/>
        </p:blipFill>
        <p:spPr>
          <a:xfrm>
            <a:off x="6205960" y="123984"/>
            <a:ext cx="5986040" cy="6440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/>
          <p:nvPr>
            <p:ph type="title"/>
          </p:nvPr>
        </p:nvSpPr>
        <p:spPr>
          <a:xfrm>
            <a:off x="0" y="0"/>
            <a:ext cx="12192000" cy="118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b="1" lang="zh-TW" sz="5000"/>
              <a:t>     18歲上心靈課程訂下人生目標</a:t>
            </a:r>
            <a:endParaRPr b="1" sz="5000"/>
          </a:p>
        </p:txBody>
      </p:sp>
      <p:sp>
        <p:nvSpPr>
          <p:cNvPr id="289" name="Google Shape;289;p2"/>
          <p:cNvSpPr txBox="1"/>
          <p:nvPr>
            <p:ph idx="1" type="body"/>
          </p:nvPr>
        </p:nvSpPr>
        <p:spPr>
          <a:xfrm>
            <a:off x="0" y="2182653"/>
            <a:ext cx="11641394" cy="3225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solidFill>
                  <a:srgbClr val="FF0000"/>
                </a:solidFill>
              </a:rPr>
              <a:t>一、身心靈健康整合平台(亞健康)</a:t>
            </a:r>
            <a:endParaRPr sz="3600">
              <a:solidFill>
                <a:srgbClr val="FF0000"/>
              </a:solidFill>
            </a:endParaRPr>
          </a:p>
          <a:p>
            <a:pPr indent="-11430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 sz="3600"/>
              <a:t>二、身心靈療癒中心(重症)</a:t>
            </a:r>
            <a:endParaRPr sz="3600"/>
          </a:p>
          <a:p>
            <a:pPr indent="-11430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 sz="3600"/>
              <a:t>三、身心靈學校&amp;養生村(根本解)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600"/>
          </a:p>
          <a:p>
            <a:pPr indent="-11430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pic>
        <p:nvPicPr>
          <p:cNvPr id="290" name="Google Shape;2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2475" y="2973550"/>
            <a:ext cx="5399525" cy="322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"/>
          <p:cNvSpPr txBox="1"/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/>
              <a:t>平台創立動機</a:t>
            </a:r>
            <a:endParaRPr/>
          </a:p>
        </p:txBody>
      </p:sp>
      <p:sp>
        <p:nvSpPr>
          <p:cNvPr id="296" name="Google Shape;296;p3"/>
          <p:cNvSpPr txBox="1"/>
          <p:nvPr>
            <p:ph idx="4294967295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85000"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消費者:幫助更多人身心靈的健康 快樂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從業者:幫助從業者安身立命,進而幫助更多人 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核心</a:t>
            </a: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:身心靈一站式的服務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包含診所 運動教室 諮詢室 整脊室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101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None/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/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遇到大師指點 做出規劃</a:t>
            </a:r>
            <a:endParaRPr/>
          </a:p>
        </p:txBody>
      </p:sp>
      <p:sp>
        <p:nvSpPr>
          <p:cNvPr id="302" name="Google Shape;302;p5"/>
          <p:cNvSpPr txBox="1"/>
          <p:nvPr>
            <p:ph idx="4294967295" type="body"/>
          </p:nvPr>
        </p:nvSpPr>
        <p:spPr>
          <a:xfrm>
            <a:off x="153987" y="1450975"/>
            <a:ext cx="11884025" cy="540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身心靈界的嚴選蝦皮，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身心靈界的全聯/SOGO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身心靈一站式的服務(諮詢 課程 產品)-定心 定靈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/發掘天賦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業力處理/ 前世回溯/ 身體處理/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靈性定位，處理靈的問題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真正幫助更多人身心靈的提升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靈魂導引/接引，連接主神，身心靈老師提升靈性 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3843" y="1450975"/>
            <a:ext cx="3435075" cy="137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9986" y="2959143"/>
            <a:ext cx="3435075" cy="257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 txBox="1"/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/>
              <a:t>身心靈流程</a:t>
            </a:r>
            <a:endParaRPr/>
          </a:p>
        </p:txBody>
      </p:sp>
      <p:grpSp>
        <p:nvGrpSpPr>
          <p:cNvPr id="310" name="Google Shape;310;p6"/>
          <p:cNvGrpSpPr/>
          <p:nvPr/>
        </p:nvGrpSpPr>
        <p:grpSpPr>
          <a:xfrm>
            <a:off x="356203" y="1247774"/>
            <a:ext cx="11197094" cy="5452664"/>
            <a:chOff x="356203" y="0"/>
            <a:chExt cx="11197094" cy="5452664"/>
          </a:xfrm>
        </p:grpSpPr>
        <p:sp>
          <p:nvSpPr>
            <p:cNvPr id="311" name="Google Shape;311;p6"/>
            <p:cNvSpPr/>
            <p:nvPr/>
          </p:nvSpPr>
          <p:spPr>
            <a:xfrm>
              <a:off x="356203" y="0"/>
              <a:ext cx="11197094" cy="163072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 txBox="1"/>
            <p:nvPr/>
          </p:nvSpPr>
          <p:spPr>
            <a:xfrm>
              <a:off x="356203" y="407681"/>
              <a:ext cx="10789413" cy="815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8875" lIns="91425" spcFirstLastPara="1" rIns="254000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Microsoft JhengHei"/>
                <a:buNone/>
              </a:pPr>
              <a:r>
                <a:rPr b="0" i="0" lang="zh-TW" sz="2400" u="none" cap="none" strike="noStrik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流量</a:t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356203" y="949507"/>
              <a:ext cx="3448704" cy="378259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 txBox="1"/>
            <p:nvPr/>
          </p:nvSpPr>
          <p:spPr>
            <a:xfrm>
              <a:off x="356203" y="949507"/>
              <a:ext cx="3448704" cy="3782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1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天</a:t>
              </a: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：網站 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534988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自媒體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534988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新聞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534988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SEO 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1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地</a:t>
              </a: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：店面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1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人</a:t>
              </a: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：代理商 </a:t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3804908" y="556167"/>
              <a:ext cx="7748389" cy="163072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 txBox="1"/>
            <p:nvPr/>
          </p:nvSpPr>
          <p:spPr>
            <a:xfrm>
              <a:off x="3804908" y="963848"/>
              <a:ext cx="7340708" cy="815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8875" lIns="110475" spcFirstLastPara="1" rIns="254000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0" i="0" lang="zh-TW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變現</a:t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3804908" y="1813691"/>
              <a:ext cx="3448704" cy="3141373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 txBox="1"/>
            <p:nvPr/>
          </p:nvSpPr>
          <p:spPr>
            <a:xfrm>
              <a:off x="3804908" y="1813691"/>
              <a:ext cx="3448704" cy="3141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諮詢或一對一(靈氣 諮詢 )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課程(身心靈課程)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產品 (健康食品 儀器 )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7253613" y="1099742"/>
              <a:ext cx="4299684" cy="163072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7253613" y="1507423"/>
              <a:ext cx="3892003" cy="815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8875" lIns="110475" spcFirstLastPara="1" rIns="254000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b="0" i="0" lang="zh-TW" sz="2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倍增</a:t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7253613" y="2357265"/>
              <a:ext cx="3448704" cy="3095399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 txBox="1"/>
            <p:nvPr/>
          </p:nvSpPr>
          <p:spPr>
            <a:xfrm>
              <a:off x="7253613" y="2357265"/>
              <a:ext cx="3448704" cy="3095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代理商</a:t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加盟店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"/>
          <p:cNvSpPr txBox="1"/>
          <p:nvPr>
            <p:ph idx="4294967295" type="title"/>
          </p:nvPr>
        </p:nvSpPr>
        <p:spPr>
          <a:xfrm>
            <a:off x="397668" y="38555"/>
            <a:ext cx="10213975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</a:pPr>
            <a:r>
              <a:rPr lang="zh-TW" sz="6000"/>
              <a:t>半自動化</a:t>
            </a:r>
            <a:r>
              <a:rPr lang="zh-TW" sz="6000"/>
              <a:t>循環流程</a:t>
            </a:r>
            <a:endParaRPr/>
          </a:p>
        </p:txBody>
      </p:sp>
      <p:grpSp>
        <p:nvGrpSpPr>
          <p:cNvPr id="328" name="Google Shape;328;p7"/>
          <p:cNvGrpSpPr/>
          <p:nvPr/>
        </p:nvGrpSpPr>
        <p:grpSpPr>
          <a:xfrm>
            <a:off x="1509904" y="1549400"/>
            <a:ext cx="7606373" cy="4781549"/>
            <a:chOff x="1509904" y="0"/>
            <a:chExt cx="7606373" cy="4781549"/>
          </a:xfrm>
        </p:grpSpPr>
        <p:sp>
          <p:nvSpPr>
            <p:cNvPr id="329" name="Google Shape;329;p7"/>
            <p:cNvSpPr/>
            <p:nvPr/>
          </p:nvSpPr>
          <p:spPr>
            <a:xfrm>
              <a:off x="6466679" y="3251453"/>
              <a:ext cx="2362085" cy="153009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7208916" y="3667588"/>
              <a:ext cx="1586237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儀器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諮詢 </a:t>
              </a:r>
              <a:endParaRPr/>
            </a:p>
            <a:p>
              <a:pPr indent="-101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-101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509904" y="2486834"/>
              <a:ext cx="3801517" cy="153009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1543515" y="2902969"/>
              <a:ext cx="2593839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健康食品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美容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保養品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能量產品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炁的食衣住行育樂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代餐 咖啡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日常用品</a:t>
              </a:r>
              <a:endParaRPr/>
            </a:p>
            <a:p>
              <a:pPr indent="-101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6179166" y="0"/>
              <a:ext cx="2937111" cy="1530096"/>
            </a:xfrm>
            <a:prstGeom prst="roundRect">
              <a:avLst>
                <a:gd fmla="val 10000" name="adj"/>
              </a:avLst>
            </a:prstGeom>
            <a:solidFill>
              <a:srgbClr val="DAE3E3">
                <a:alpha val="90196"/>
              </a:srgbClr>
            </a:solidFill>
            <a:ln cap="flat" cmpd="sng" w="9525">
              <a:solidFill>
                <a:srgbClr val="767E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 txBox="1"/>
            <p:nvPr/>
          </p:nvSpPr>
          <p:spPr>
            <a:xfrm>
              <a:off x="7093911" y="33611"/>
              <a:ext cx="1988756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量測後分類</a:t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 flipH="1">
              <a:off x="2566606" y="0"/>
              <a:ext cx="2454372" cy="153009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7"/>
            <p:cNvSpPr txBox="1"/>
            <p:nvPr/>
          </p:nvSpPr>
          <p:spPr>
            <a:xfrm>
              <a:off x="2600217" y="33611"/>
              <a:ext cx="1650838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自媒體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IP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實體宣傳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386429" y="272548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 txBox="1"/>
            <p:nvPr/>
          </p:nvSpPr>
          <p:spPr>
            <a:xfrm>
              <a:off x="3992838" y="878957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b="0" i="0" lang="zh-TW" sz="3600" u="none" cap="none" strike="noStrik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宣傳</a:t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 rot="5400000">
              <a:off x="5552472" y="272548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7"/>
            <p:cNvSpPr txBox="1"/>
            <p:nvPr/>
          </p:nvSpPr>
          <p:spPr>
            <a:xfrm>
              <a:off x="5552472" y="878957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b="0" i="0" lang="zh-TW" sz="3600" u="none" cap="none" strike="noStrik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 rot="10800000">
              <a:off x="5552472" y="2438590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7"/>
            <p:cNvSpPr txBox="1"/>
            <p:nvPr/>
          </p:nvSpPr>
          <p:spPr>
            <a:xfrm>
              <a:off x="5552472" y="2438590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b="0" i="0" lang="zh-TW" sz="3600" u="none" cap="none" strike="noStrik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 rot="-5400000">
              <a:off x="3386429" y="2438590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 txBox="1"/>
            <p:nvPr/>
          </p:nvSpPr>
          <p:spPr>
            <a:xfrm>
              <a:off x="3992838" y="2438590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b="0" i="0" lang="zh-TW" sz="3600" u="none" cap="none" strike="noStrik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產品</a:t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5147235" y="1960435"/>
              <a:ext cx="714841" cy="621601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BCBFA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10800000">
              <a:off x="5147235" y="2199513"/>
              <a:ext cx="714841" cy="621601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BCBFA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一張含有 文字, 室內, 地板, 門 的圖片&#10;&#10;AI 產生的內容可能不正確。" id="347" name="Google Shape;3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6125" y="4056276"/>
            <a:ext cx="2237576" cy="237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"/>
          <p:cNvPicPr preferRelativeResize="0"/>
          <p:nvPr/>
        </p:nvPicPr>
        <p:blipFill rotWithShape="1">
          <a:blip r:embed="rId4">
            <a:alphaModFix/>
          </a:blip>
          <a:srcRect b="-5514" l="6387" r="5404" t="0"/>
          <a:stretch/>
        </p:blipFill>
        <p:spPr>
          <a:xfrm rot="158417">
            <a:off x="9277527" y="773983"/>
            <a:ext cx="1009056" cy="2852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螢幕擷取畫面, 鮮豔, 圖形 的圖片&#10;&#10;AI 產生的內容可能不正確。" id="349" name="Google Shape;349;p7"/>
          <p:cNvPicPr preferRelativeResize="0"/>
          <p:nvPr/>
        </p:nvPicPr>
        <p:blipFill rotWithShape="1">
          <a:blip r:embed="rId5">
            <a:alphaModFix/>
          </a:blip>
          <a:srcRect b="0" l="0" r="-1196" t="26385"/>
          <a:stretch/>
        </p:blipFill>
        <p:spPr>
          <a:xfrm>
            <a:off x="211521" y="1121098"/>
            <a:ext cx="2115793" cy="86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521" y="2107705"/>
            <a:ext cx="1415584" cy="1415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符號, 象徵物, 標誌, 圓形 的圖片&#10;&#10;AI 產生的內容可能不正確。" id="351" name="Google Shape;35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6889" y="5370467"/>
            <a:ext cx="642424" cy="70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521" y="3647982"/>
            <a:ext cx="1098873" cy="1464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文字, 箱子, 紅色, 設計 的圖片&#10;&#10;AI 產生的內容可能不正確。" id="353" name="Google Shape;35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98580" y="5112816"/>
            <a:ext cx="1706067" cy="116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7" title="689193441_857769703341717_1973727767636507083_n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76423" y="3949927"/>
            <a:ext cx="1415575" cy="212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7" title="2408280913306687194200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47850" y="1151400"/>
            <a:ext cx="3163373" cy="237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 txBox="1"/>
          <p:nvPr>
            <p:ph type="title"/>
          </p:nvPr>
        </p:nvSpPr>
        <p:spPr>
          <a:xfrm>
            <a:off x="192004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/>
              <a:t>身心靈一站式服務培訓系統</a:t>
            </a:r>
            <a:endParaRPr/>
          </a:p>
        </p:txBody>
      </p:sp>
      <p:grpSp>
        <p:nvGrpSpPr>
          <p:cNvPr id="361" name="Google Shape;361;p8"/>
          <p:cNvGrpSpPr/>
          <p:nvPr/>
        </p:nvGrpSpPr>
        <p:grpSpPr>
          <a:xfrm>
            <a:off x="1140021" y="1870429"/>
            <a:ext cx="10747148" cy="3990972"/>
            <a:chOff x="112825" y="996598"/>
            <a:chExt cx="10747148" cy="3990972"/>
          </a:xfrm>
        </p:grpSpPr>
        <p:sp>
          <p:nvSpPr>
            <p:cNvPr id="362" name="Google Shape;362;p8"/>
            <p:cNvSpPr/>
            <p:nvPr/>
          </p:nvSpPr>
          <p:spPr>
            <a:xfrm>
              <a:off x="9740310" y="3385512"/>
              <a:ext cx="91440" cy="535446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flat" cmpd="sng" w="25400">
              <a:solidFill>
                <a:srgbClr val="69713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3" name="Google Shape;363;p8"/>
            <p:cNvSpPr/>
            <p:nvPr/>
          </p:nvSpPr>
          <p:spPr>
            <a:xfrm>
              <a:off x="5486400" y="1923332"/>
              <a:ext cx="4299630" cy="535446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1538"/>
                  </a:lnTo>
                  <a:lnTo>
                    <a:pt x="120000" y="71538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5D632B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4" name="Google Shape;364;p8"/>
            <p:cNvSpPr/>
            <p:nvPr/>
          </p:nvSpPr>
          <p:spPr>
            <a:xfrm>
              <a:off x="6965706" y="3385512"/>
              <a:ext cx="91440" cy="535446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71538"/>
                  </a:lnTo>
                  <a:lnTo>
                    <a:pt x="177448" y="71538"/>
                  </a:lnTo>
                  <a:lnTo>
                    <a:pt x="177448" y="120000"/>
                  </a:lnTo>
                </a:path>
              </a:pathLst>
            </a:custGeom>
            <a:noFill/>
            <a:ln cap="flat" cmpd="sng" w="25400">
              <a:solidFill>
                <a:srgbClr val="69713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5" name="Google Shape;365;p8"/>
            <p:cNvSpPr/>
            <p:nvPr/>
          </p:nvSpPr>
          <p:spPr>
            <a:xfrm>
              <a:off x="5486400" y="1923332"/>
              <a:ext cx="1525026" cy="535446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1538"/>
                  </a:lnTo>
                  <a:lnTo>
                    <a:pt x="120000" y="71538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5D632B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6" name="Google Shape;366;p8"/>
            <p:cNvSpPr/>
            <p:nvPr/>
          </p:nvSpPr>
          <p:spPr>
            <a:xfrm>
              <a:off x="3777267" y="3385512"/>
              <a:ext cx="91440" cy="535446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71538"/>
                  </a:lnTo>
                  <a:lnTo>
                    <a:pt x="177448" y="71538"/>
                  </a:lnTo>
                  <a:lnTo>
                    <a:pt x="177448" y="120000"/>
                  </a:lnTo>
                </a:path>
              </a:pathLst>
            </a:custGeom>
            <a:noFill/>
            <a:ln cap="flat" cmpd="sng" w="25400">
              <a:solidFill>
                <a:srgbClr val="69713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7" name="Google Shape;367;p8"/>
            <p:cNvSpPr/>
            <p:nvPr/>
          </p:nvSpPr>
          <p:spPr>
            <a:xfrm>
              <a:off x="3822987" y="1923332"/>
              <a:ext cx="1663412" cy="535446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71538"/>
                  </a:lnTo>
                  <a:lnTo>
                    <a:pt x="0" y="71538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5D632B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8" name="Google Shape;368;p8"/>
            <p:cNvSpPr/>
            <p:nvPr/>
          </p:nvSpPr>
          <p:spPr>
            <a:xfrm>
              <a:off x="962058" y="3385512"/>
              <a:ext cx="91440" cy="535446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flat" cmpd="sng" w="25400">
              <a:solidFill>
                <a:srgbClr val="69713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9" name="Google Shape;369;p8"/>
            <p:cNvSpPr/>
            <p:nvPr/>
          </p:nvSpPr>
          <p:spPr>
            <a:xfrm>
              <a:off x="1007778" y="1923332"/>
              <a:ext cx="4478621" cy="535446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71538"/>
                  </a:lnTo>
                  <a:lnTo>
                    <a:pt x="0" y="71538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5D632B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70" name="Google Shape;370;p8"/>
            <p:cNvSpPr/>
            <p:nvPr/>
          </p:nvSpPr>
          <p:spPr>
            <a:xfrm>
              <a:off x="4296944" y="996598"/>
              <a:ext cx="2378910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4296944" y="996598"/>
              <a:ext cx="2378910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0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身心靈整合平台</a:t>
              </a: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4949428" y="171739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8"/>
            <p:cNvSpPr txBox="1"/>
            <p:nvPr/>
          </p:nvSpPr>
          <p:spPr>
            <a:xfrm>
              <a:off x="4949428" y="171739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整合一致性</a:t>
              </a: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112825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8"/>
            <p:cNvSpPr txBox="1"/>
            <p:nvPr/>
          </p:nvSpPr>
          <p:spPr>
            <a:xfrm>
              <a:off x="112825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0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宣傳</a:t>
              </a: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379226" y="315702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8"/>
            <p:cNvSpPr txBox="1"/>
            <p:nvPr/>
          </p:nvSpPr>
          <p:spPr>
            <a:xfrm>
              <a:off x="379226" y="315702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流量</a:t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825" y="3920959"/>
              <a:ext cx="1789906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 txBox="1"/>
            <p:nvPr/>
          </p:nvSpPr>
          <p:spPr>
            <a:xfrm>
              <a:off x="112825" y="3920959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0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行銷與業務培訓</a:t>
              </a: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470807" y="4641752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8"/>
            <p:cNvSpPr txBox="1"/>
            <p:nvPr/>
          </p:nvSpPr>
          <p:spPr>
            <a:xfrm>
              <a:off x="470807" y="4641752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流量變現</a:t>
              </a: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2928033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2928033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0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量測</a:t>
              </a: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3286015" y="317957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8"/>
            <p:cNvSpPr txBox="1"/>
            <p:nvPr/>
          </p:nvSpPr>
          <p:spPr>
            <a:xfrm>
              <a:off x="3286015" y="317957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可數據化</a:t>
              </a: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2514198" y="3920959"/>
              <a:ext cx="2796567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2514198" y="3920959"/>
              <a:ext cx="2796567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0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AI身心靈檢測</a:t>
              </a: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3375510" y="4641752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8"/>
            <p:cNvSpPr txBox="1"/>
            <p:nvPr/>
          </p:nvSpPr>
          <p:spPr>
            <a:xfrm>
              <a:off x="3375510" y="4641752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身心靈量測</a:t>
              </a: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6116473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8"/>
            <p:cNvSpPr txBox="1"/>
            <p:nvPr/>
          </p:nvSpPr>
          <p:spPr>
            <a:xfrm>
              <a:off x="6116473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1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諮詢/課程</a:t>
              </a: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6474454" y="317957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8"/>
            <p:cNvSpPr txBox="1"/>
            <p:nvPr/>
          </p:nvSpPr>
          <p:spPr>
            <a:xfrm>
              <a:off x="6474454" y="317957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獨特技術諮詢</a:t>
              </a: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5743241" y="3920959"/>
              <a:ext cx="2715359" cy="1000548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 txBox="1"/>
            <p:nvPr/>
          </p:nvSpPr>
          <p:spPr>
            <a:xfrm>
              <a:off x="5743241" y="3920959"/>
              <a:ext cx="2715359" cy="100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Microsoft JhengHei"/>
                <a:buNone/>
              </a:pPr>
              <a:r>
                <a:rPr b="0" i="0" lang="zh-TW" sz="2400" u="none" cap="none" strike="noStrik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身心靈老師培訓</a:t>
              </a:r>
              <a:endParaRPr b="0" i="0" sz="2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6563949" y="4678659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8"/>
            <p:cNvSpPr txBox="1"/>
            <p:nvPr/>
          </p:nvSpPr>
          <p:spPr>
            <a:xfrm>
              <a:off x="6563949" y="4678659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43175" spcFirstLastPara="1" rIns="43175" wrap="square" tIns="1077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zh-TW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可複製靈性提升</a:t>
              </a: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8891077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8"/>
            <p:cNvSpPr txBox="1"/>
            <p:nvPr/>
          </p:nvSpPr>
          <p:spPr>
            <a:xfrm>
              <a:off x="8891077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0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產品</a:t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9249058" y="317957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 txBox="1"/>
            <p:nvPr/>
          </p:nvSpPr>
          <p:spPr>
            <a:xfrm>
              <a:off x="9249058" y="317957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建議顧客所需</a:t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8891077" y="3920959"/>
              <a:ext cx="1789906" cy="92673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8"/>
            <p:cNvSpPr txBox="1"/>
            <p:nvPr/>
          </p:nvSpPr>
          <p:spPr>
            <a:xfrm>
              <a:off x="8891077" y="3920959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750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b="0" i="0" lang="zh-TW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產品培訓</a:t>
              </a: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9249058" y="4641752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8"/>
            <p:cNvSpPr txBox="1"/>
            <p:nvPr/>
          </p:nvSpPr>
          <p:spPr>
            <a:xfrm>
              <a:off x="9249058" y="4641752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zh-TW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獨特產品</a:t>
              </a:r>
              <a:endParaRPr/>
            </a:p>
          </p:txBody>
        </p:sp>
      </p:grpSp>
      <p:sp>
        <p:nvSpPr>
          <p:cNvPr id="406" name="Google Shape;406;p8"/>
          <p:cNvSpPr/>
          <p:nvPr/>
        </p:nvSpPr>
        <p:spPr>
          <a:xfrm>
            <a:off x="6120851" y="3613397"/>
            <a:ext cx="628073" cy="46181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7E882C"/>
              </a:gs>
              <a:gs pos="100000">
                <a:srgbClr val="D5DCAB"/>
              </a:gs>
            </a:gsLst>
            <a:lin ang="16200000" scaled="0"/>
          </a:gradFill>
          <a:ln cap="flat" cmpd="sng" w="9525">
            <a:solidFill>
              <a:srgbClr val="747C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9151159" y="3538790"/>
            <a:ext cx="749113" cy="43048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7E882C"/>
              </a:gs>
              <a:gs pos="100000">
                <a:srgbClr val="D5DCAB"/>
              </a:gs>
            </a:gsLst>
            <a:lin ang="16200000" scaled="0"/>
          </a:gradFill>
          <a:ln cap="flat" cmpd="sng" w="9525">
            <a:solidFill>
              <a:srgbClr val="747C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-27179" y="2202426"/>
            <a:ext cx="2108749" cy="983224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5400">
            <a:solidFill>
              <a:srgbClr val="313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Microsoft JhengHei"/>
              <a:buNone/>
            </a:pPr>
            <a:r>
              <a:rPr b="1" i="0" lang="zh-TW" sz="36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客戶流程</a:t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0" y="5863701"/>
            <a:ext cx="2212257" cy="910723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5400">
            <a:solidFill>
              <a:srgbClr val="313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Microsoft JhengHei"/>
              <a:buNone/>
            </a:pPr>
            <a:r>
              <a:rPr b="1" i="0" lang="zh-TW" sz="36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培訓系統</a:t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3090543" y="3538790"/>
            <a:ext cx="628073" cy="46181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7E882C"/>
              </a:gs>
              <a:gs pos="100000">
                <a:srgbClr val="D5DCAB"/>
              </a:gs>
            </a:gsLst>
            <a:lin ang="16200000" scaled="0"/>
          </a:gradFill>
          <a:ln cap="flat" cmpd="sng" w="9525">
            <a:solidFill>
              <a:srgbClr val="747C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"/>
          <p:cNvSpPr txBox="1"/>
          <p:nvPr>
            <p:ph type="title"/>
          </p:nvPr>
        </p:nvSpPr>
        <p:spPr>
          <a:xfrm>
            <a:off x="13803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代理商的收入來源</a:t>
            </a:r>
            <a:endParaRPr/>
          </a:p>
        </p:txBody>
      </p:sp>
      <p:sp>
        <p:nvSpPr>
          <p:cNvPr id="416" name="Google Shape;416;p9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graphicFrame>
        <p:nvGraphicFramePr>
          <p:cNvPr id="417" name="Google Shape;417;p9"/>
          <p:cNvGraphicFramePr/>
          <p:nvPr/>
        </p:nvGraphicFramePr>
        <p:xfrm>
          <a:off x="483079" y="11214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{13218573-F3EE-4882-B7E4-E67086CEF204}</a:tableStyleId>
              </a:tblPr>
              <a:tblGrid>
                <a:gridCol w="3571325"/>
                <a:gridCol w="3571325"/>
                <a:gridCol w="3571325"/>
              </a:tblGrid>
              <a:tr h="60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cap="none" strike="noStrike"/>
                        <a:t>權利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利潤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IFEEL 量測儀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一．所有產品代理權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一．產品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一.單機版 20萬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二．所有課程與系統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二．課程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二.雲端版 2,8萬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三．諮詢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 三.連鎖通路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三．經紀人的權限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四．直播主流量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四.國家政府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五．ＯＤＭ訂單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五.報告收入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六.廣告方案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六.結合產品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七.行銷方案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"/>
          <p:cNvSpPr txBox="1"/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 三年計畫 </a:t>
            </a:r>
            <a:endParaRPr/>
          </a:p>
        </p:txBody>
      </p:sp>
      <p:sp>
        <p:nvSpPr>
          <p:cNvPr id="423" name="Google Shape;423;p10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</a:pPr>
            <a:r>
              <a:rPr lang="zh-TW" sz="3600"/>
              <a:t>第一年,培訓,練兵練功,就像培養一個身心靈老師偶像團體一樣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</a:pPr>
            <a:r>
              <a:rPr lang="zh-TW" sz="3600"/>
              <a:t>第二年,培訓+產品, 賺錢 開說明會 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6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</a:pPr>
            <a:r>
              <a:rPr lang="zh-TW" sz="3600"/>
              <a:t>第三年,培訓+產品+大量開店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11"/>
          <p:cNvGrpSpPr/>
          <p:nvPr/>
        </p:nvGrpSpPr>
        <p:grpSpPr>
          <a:xfrm>
            <a:off x="129160" y="552560"/>
            <a:ext cx="12077453" cy="4022724"/>
            <a:chOff x="129160" y="380031"/>
            <a:chExt cx="12077453" cy="4022724"/>
          </a:xfrm>
        </p:grpSpPr>
        <p:sp>
          <p:nvSpPr>
            <p:cNvPr id="429" name="Google Shape;429;p11"/>
            <p:cNvSpPr/>
            <p:nvPr/>
          </p:nvSpPr>
          <p:spPr>
            <a:xfrm>
              <a:off x="5792923" y="1371147"/>
              <a:ext cx="290057" cy="947601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0" name="Google Shape;430;p11"/>
            <p:cNvSpPr/>
            <p:nvPr/>
          </p:nvSpPr>
          <p:spPr>
            <a:xfrm>
              <a:off x="6082980" y="1371147"/>
              <a:ext cx="5104754" cy="189520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07010"/>
                  </a:lnTo>
                  <a:lnTo>
                    <a:pt x="120000" y="10701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1" name="Google Shape;431;p11"/>
            <p:cNvSpPr/>
            <p:nvPr/>
          </p:nvSpPr>
          <p:spPr>
            <a:xfrm>
              <a:off x="6082980" y="1371147"/>
              <a:ext cx="2212367" cy="189520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07010"/>
                  </a:lnTo>
                  <a:lnTo>
                    <a:pt x="120000" y="10701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2" name="Google Shape;432;p11"/>
            <p:cNvSpPr/>
            <p:nvPr/>
          </p:nvSpPr>
          <p:spPr>
            <a:xfrm>
              <a:off x="5894774" y="1371147"/>
              <a:ext cx="188205" cy="1891333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6984"/>
                  </a:lnTo>
                  <a:lnTo>
                    <a:pt x="0" y="106984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3" name="Google Shape;433;p11"/>
            <p:cNvSpPr/>
            <p:nvPr/>
          </p:nvSpPr>
          <p:spPr>
            <a:xfrm>
              <a:off x="3464341" y="1371147"/>
              <a:ext cx="2618639" cy="189520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4" name="Google Shape;434;p11"/>
            <p:cNvSpPr/>
            <p:nvPr/>
          </p:nvSpPr>
          <p:spPr>
            <a:xfrm>
              <a:off x="1167066" y="1371147"/>
              <a:ext cx="4915913" cy="189520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5" name="Google Shape;435;p11"/>
            <p:cNvSpPr/>
            <p:nvPr/>
          </p:nvSpPr>
          <p:spPr>
            <a:xfrm>
              <a:off x="8113382" y="380031"/>
              <a:ext cx="1698132" cy="879217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1"/>
            <p:cNvSpPr txBox="1"/>
            <p:nvPr/>
          </p:nvSpPr>
          <p:spPr>
            <a:xfrm>
              <a:off x="8113382" y="380031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陳老師</a:t>
              </a: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8433028" y="1025608"/>
              <a:ext cx="2235089" cy="537726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1"/>
            <p:cNvSpPr txBox="1"/>
            <p:nvPr/>
          </p:nvSpPr>
          <p:spPr>
            <a:xfrm>
              <a:off x="8433028" y="1025608"/>
              <a:ext cx="2235089" cy="537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最高隱藏顧問</a:t>
              </a:r>
              <a:endParaRPr/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5233914" y="491929"/>
              <a:ext cx="1698132" cy="879217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1"/>
            <p:cNvSpPr txBox="1"/>
            <p:nvPr/>
          </p:nvSpPr>
          <p:spPr>
            <a:xfrm>
              <a:off x="5233914" y="49192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真XX集團</a:t>
              </a: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5573540" y="117576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1"/>
            <p:cNvSpPr txBox="1"/>
            <p:nvPr/>
          </p:nvSpPr>
          <p:spPr>
            <a:xfrm>
              <a:off x="5573540" y="117576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3" name="Google Shape;443;p11"/>
            <p:cNvSpPr/>
            <p:nvPr/>
          </p:nvSpPr>
          <p:spPr>
            <a:xfrm>
              <a:off x="129160" y="3266349"/>
              <a:ext cx="2075813" cy="1136406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1"/>
            <p:cNvSpPr txBox="1"/>
            <p:nvPr/>
          </p:nvSpPr>
          <p:spPr>
            <a:xfrm>
              <a:off x="129160" y="3266349"/>
              <a:ext cx="2075813" cy="1136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TIKTOK公會ˋ</a:t>
              </a:r>
              <a:endParaRPr/>
            </a:p>
          </p:txBody>
        </p:sp>
        <p:sp>
          <p:nvSpPr>
            <p:cNvPr id="445" name="Google Shape;445;p11"/>
            <p:cNvSpPr/>
            <p:nvPr/>
          </p:nvSpPr>
          <p:spPr>
            <a:xfrm>
              <a:off x="657627" y="4078779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1"/>
            <p:cNvSpPr txBox="1"/>
            <p:nvPr/>
          </p:nvSpPr>
          <p:spPr>
            <a:xfrm>
              <a:off x="657627" y="4078779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流量來源</a:t>
              </a:r>
              <a:endParaRPr/>
            </a:p>
          </p:txBody>
        </p:sp>
        <p:sp>
          <p:nvSpPr>
            <p:cNvPr id="447" name="Google Shape;447;p11"/>
            <p:cNvSpPr/>
            <p:nvPr/>
          </p:nvSpPr>
          <p:spPr>
            <a:xfrm>
              <a:off x="2615275" y="3266349"/>
              <a:ext cx="1698132" cy="879217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1"/>
            <p:cNvSpPr txBox="1"/>
            <p:nvPr/>
          </p:nvSpPr>
          <p:spPr>
            <a:xfrm>
              <a:off x="2615275" y="326634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真XX身心靈平台</a:t>
              </a:r>
              <a:endParaRPr/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2954901" y="395018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1"/>
            <p:cNvSpPr txBox="1"/>
            <p:nvPr/>
          </p:nvSpPr>
          <p:spPr>
            <a:xfrm>
              <a:off x="2954901" y="395018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第一品牌</a:t>
              </a:r>
              <a:endParaRPr/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5045708" y="3262481"/>
              <a:ext cx="1698132" cy="879217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1"/>
            <p:cNvSpPr txBox="1"/>
            <p:nvPr/>
          </p:nvSpPr>
          <p:spPr>
            <a:xfrm>
              <a:off x="5045708" y="3262481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真XX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社群媒體</a:t>
              </a:r>
              <a:endParaRPr/>
            </a:p>
          </p:txBody>
        </p:sp>
        <p:sp>
          <p:nvSpPr>
            <p:cNvPr id="453" name="Google Shape;453;p11"/>
            <p:cNvSpPr/>
            <p:nvPr/>
          </p:nvSpPr>
          <p:spPr>
            <a:xfrm>
              <a:off x="5233148" y="395018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1"/>
            <p:cNvSpPr txBox="1"/>
            <p:nvPr/>
          </p:nvSpPr>
          <p:spPr>
            <a:xfrm>
              <a:off x="5233148" y="395018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真的facebook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7446282" y="3266349"/>
              <a:ext cx="1698132" cy="879217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1"/>
            <p:cNvSpPr txBox="1"/>
            <p:nvPr/>
          </p:nvSpPr>
          <p:spPr>
            <a:xfrm>
              <a:off x="7446282" y="326634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產品製造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7171768" y="3927720"/>
              <a:ext cx="2756598" cy="338003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1"/>
            <p:cNvSpPr txBox="1"/>
            <p:nvPr/>
          </p:nvSpPr>
          <p:spPr>
            <a:xfrm>
              <a:off x="7171768" y="3927720"/>
              <a:ext cx="2756598" cy="338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量子能量&amp;訊息製造廠</a:t>
              </a:r>
              <a:endParaRPr/>
            </a:p>
          </p:txBody>
        </p:sp>
        <p:sp>
          <p:nvSpPr>
            <p:cNvPr id="459" name="Google Shape;459;p11"/>
            <p:cNvSpPr/>
            <p:nvPr/>
          </p:nvSpPr>
          <p:spPr>
            <a:xfrm>
              <a:off x="10338668" y="3266349"/>
              <a:ext cx="1698132" cy="879217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1"/>
            <p:cNvSpPr txBox="1"/>
            <p:nvPr/>
          </p:nvSpPr>
          <p:spPr>
            <a:xfrm>
              <a:off x="10338668" y="326634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健康食品</a:t>
              </a:r>
              <a:endParaRPr/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10678295" y="395018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1"/>
            <p:cNvSpPr txBox="1"/>
            <p:nvPr/>
          </p:nvSpPr>
          <p:spPr>
            <a:xfrm>
              <a:off x="10678295" y="395018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專利</a:t>
              </a:r>
              <a:endParaRPr/>
            </a:p>
          </p:txBody>
        </p:sp>
        <p:sp>
          <p:nvSpPr>
            <p:cNvPr id="463" name="Google Shape;463;p11"/>
            <p:cNvSpPr/>
            <p:nvPr/>
          </p:nvSpPr>
          <p:spPr>
            <a:xfrm>
              <a:off x="4094790" y="1879139"/>
              <a:ext cx="1698132" cy="879217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4094790" y="187913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CEO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4434417" y="256297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1"/>
            <p:cNvSpPr txBox="1"/>
            <p:nvPr/>
          </p:nvSpPr>
          <p:spPr>
            <a:xfrm>
              <a:off x="4434417" y="256297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50800" spcFirstLastPara="1" rIns="50800" wrap="square" tIns="12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67" name="Google Shape;467;p11"/>
          <p:cNvSpPr/>
          <p:nvPr/>
        </p:nvSpPr>
        <p:spPr>
          <a:xfrm>
            <a:off x="2448038" y="3795660"/>
            <a:ext cx="534838" cy="29329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4CC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8" name="Google Shape;468;p11"/>
          <p:cNvSpPr/>
          <p:nvPr/>
        </p:nvSpPr>
        <p:spPr>
          <a:xfrm rot="10800000">
            <a:off x="4633398" y="3735269"/>
            <a:ext cx="621102" cy="35368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4CC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2593210" y="4831582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53800" lIns="19675" spcFirstLastPara="1" rIns="19675" wrap="square" tIns="196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b="0" i="0" lang="zh-TW" sz="3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存量</a:t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342646" y="5457972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53800" lIns="19675" spcFirstLastPara="1" rIns="19675" wrap="square" tIns="196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b="0" i="0" lang="zh-TW" sz="3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流量</a:t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7239510" y="4522175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53800" lIns="19675" spcFirstLastPara="1" rIns="19675" wrap="square" tIns="196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b="0" i="0" lang="zh-TW" sz="3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能量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4843774" y="5540177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53800" lIns="19675" spcFirstLastPara="1" rIns="19675" wrap="square" tIns="196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b="0" i="0" lang="zh-TW" sz="3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大量</a:t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9887076" y="5031768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53800" lIns="19675" spcFirstLastPara="1" rIns="19675" wrap="square" tIns="196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b="0" i="0" lang="zh-TW" sz="3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使用量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企業架構</a:t>
            </a:r>
            <a:endParaRPr/>
          </a:p>
        </p:txBody>
      </p:sp>
      <p:grpSp>
        <p:nvGrpSpPr>
          <p:cNvPr id="479" name="Google Shape;479;p12"/>
          <p:cNvGrpSpPr/>
          <p:nvPr/>
        </p:nvGrpSpPr>
        <p:grpSpPr>
          <a:xfrm>
            <a:off x="271354" y="1444196"/>
            <a:ext cx="11640574" cy="4257365"/>
            <a:chOff x="113293" y="426278"/>
            <a:chExt cx="11640574" cy="4257365"/>
          </a:xfrm>
        </p:grpSpPr>
        <p:sp>
          <p:nvSpPr>
            <p:cNvPr id="480" name="Google Shape;480;p12"/>
            <p:cNvSpPr/>
            <p:nvPr/>
          </p:nvSpPr>
          <p:spPr>
            <a:xfrm>
              <a:off x="5253658" y="1000750"/>
              <a:ext cx="189520" cy="61915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1" name="Google Shape;481;p12"/>
            <p:cNvSpPr/>
            <p:nvPr/>
          </p:nvSpPr>
          <p:spPr>
            <a:xfrm>
              <a:off x="9488605" y="2813527"/>
              <a:ext cx="1599536" cy="34616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3534"/>
                  </a:lnTo>
                  <a:lnTo>
                    <a:pt x="120000" y="73534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2" name="Google Shape;482;p12"/>
            <p:cNvSpPr/>
            <p:nvPr/>
          </p:nvSpPr>
          <p:spPr>
            <a:xfrm>
              <a:off x="9488605" y="2813527"/>
              <a:ext cx="110954" cy="34616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3534"/>
                  </a:lnTo>
                  <a:lnTo>
                    <a:pt x="120000" y="73534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3" name="Google Shape;483;p12"/>
            <p:cNvSpPr/>
            <p:nvPr/>
          </p:nvSpPr>
          <p:spPr>
            <a:xfrm>
              <a:off x="8110977" y="2813527"/>
              <a:ext cx="1377628" cy="34616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73534"/>
                  </a:lnTo>
                  <a:lnTo>
                    <a:pt x="0" y="73534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4" name="Google Shape;484;p12"/>
            <p:cNvSpPr/>
            <p:nvPr/>
          </p:nvSpPr>
          <p:spPr>
            <a:xfrm>
              <a:off x="5443179" y="1000750"/>
              <a:ext cx="4045426" cy="1238305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07010"/>
                  </a:lnTo>
                  <a:lnTo>
                    <a:pt x="120000" y="10701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5" name="Google Shape;485;p12"/>
            <p:cNvSpPr/>
            <p:nvPr/>
          </p:nvSpPr>
          <p:spPr>
            <a:xfrm>
              <a:off x="5022857" y="2813527"/>
              <a:ext cx="1599536" cy="32542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0572"/>
                  </a:lnTo>
                  <a:lnTo>
                    <a:pt x="120000" y="70572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6" name="Google Shape;486;p12"/>
            <p:cNvSpPr/>
            <p:nvPr/>
          </p:nvSpPr>
          <p:spPr>
            <a:xfrm>
              <a:off x="5022857" y="2813527"/>
              <a:ext cx="110954" cy="32542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0572"/>
                  </a:lnTo>
                  <a:lnTo>
                    <a:pt x="120000" y="70572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7" name="Google Shape;487;p12"/>
            <p:cNvSpPr/>
            <p:nvPr/>
          </p:nvSpPr>
          <p:spPr>
            <a:xfrm>
              <a:off x="3645229" y="3713425"/>
              <a:ext cx="744291" cy="331916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1538"/>
                  </a:lnTo>
                  <a:lnTo>
                    <a:pt x="120000" y="71538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8" name="Google Shape;488;p12"/>
            <p:cNvSpPr/>
            <p:nvPr/>
          </p:nvSpPr>
          <p:spPr>
            <a:xfrm>
              <a:off x="2900938" y="3713425"/>
              <a:ext cx="744291" cy="331916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71538"/>
                  </a:lnTo>
                  <a:lnTo>
                    <a:pt x="0" y="71538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9" name="Google Shape;489;p12"/>
            <p:cNvSpPr/>
            <p:nvPr/>
          </p:nvSpPr>
          <p:spPr>
            <a:xfrm>
              <a:off x="3645229" y="2813527"/>
              <a:ext cx="1377628" cy="32542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70572"/>
                  </a:lnTo>
                  <a:lnTo>
                    <a:pt x="0" y="70572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0" name="Google Shape;490;p12"/>
            <p:cNvSpPr/>
            <p:nvPr/>
          </p:nvSpPr>
          <p:spPr>
            <a:xfrm>
              <a:off x="5022857" y="1000750"/>
              <a:ext cx="420321" cy="1238305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1" name="Google Shape;491;p12"/>
            <p:cNvSpPr/>
            <p:nvPr/>
          </p:nvSpPr>
          <p:spPr>
            <a:xfrm>
              <a:off x="1301401" y="2813527"/>
              <a:ext cx="855245" cy="34978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4014"/>
                  </a:lnTo>
                  <a:lnTo>
                    <a:pt x="120000" y="74014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2" name="Google Shape;492;p12"/>
            <p:cNvSpPr/>
            <p:nvPr/>
          </p:nvSpPr>
          <p:spPr>
            <a:xfrm>
              <a:off x="668063" y="2813527"/>
              <a:ext cx="633337" cy="349783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74014"/>
                  </a:lnTo>
                  <a:lnTo>
                    <a:pt x="0" y="74014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91B4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3" name="Google Shape;493;p12"/>
            <p:cNvSpPr/>
            <p:nvPr/>
          </p:nvSpPr>
          <p:spPr>
            <a:xfrm>
              <a:off x="1301401" y="1000750"/>
              <a:ext cx="4141777" cy="1238305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809E1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4" name="Google Shape;494;p12"/>
            <p:cNvSpPr/>
            <p:nvPr/>
          </p:nvSpPr>
          <p:spPr>
            <a:xfrm>
              <a:off x="4888408" y="426278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2"/>
            <p:cNvSpPr txBox="1"/>
            <p:nvPr/>
          </p:nvSpPr>
          <p:spPr>
            <a:xfrm>
              <a:off x="4888408" y="426278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負責人</a:t>
              </a:r>
              <a:endParaRPr/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5110316" y="873089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2"/>
            <p:cNvSpPr txBox="1"/>
            <p:nvPr/>
          </p:nvSpPr>
          <p:spPr>
            <a:xfrm>
              <a:off x="5110316" y="873089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46630" y="2239055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2"/>
            <p:cNvSpPr txBox="1"/>
            <p:nvPr/>
          </p:nvSpPr>
          <p:spPr>
            <a:xfrm>
              <a:off x="746630" y="2239055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教育</a:t>
              </a:r>
              <a:endParaRPr/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573442" y="2667999"/>
              <a:ext cx="1788779" cy="22722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2"/>
            <p:cNvSpPr txBox="1"/>
            <p:nvPr/>
          </p:nvSpPr>
          <p:spPr>
            <a:xfrm>
              <a:off x="573442" y="2667999"/>
              <a:ext cx="1788779" cy="227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培訓總監</a:t>
              </a:r>
              <a:endParaRPr/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113293" y="3163310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2"/>
            <p:cNvSpPr txBox="1"/>
            <p:nvPr/>
          </p:nvSpPr>
          <p:spPr>
            <a:xfrm>
              <a:off x="113293" y="3163310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業務培訓</a:t>
              </a:r>
              <a:endParaRPr/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335201" y="3610122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2"/>
            <p:cNvSpPr txBox="1"/>
            <p:nvPr/>
          </p:nvSpPr>
          <p:spPr>
            <a:xfrm>
              <a:off x="335201" y="3610122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1601875" y="3163310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2"/>
            <p:cNvSpPr txBox="1"/>
            <p:nvPr/>
          </p:nvSpPr>
          <p:spPr>
            <a:xfrm>
              <a:off x="1601875" y="3163310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產品培訓</a:t>
              </a:r>
              <a:endParaRPr/>
            </a:p>
          </p:txBody>
        </p:sp>
        <p:sp>
          <p:nvSpPr>
            <p:cNvPr id="508" name="Google Shape;508;p12"/>
            <p:cNvSpPr/>
            <p:nvPr/>
          </p:nvSpPr>
          <p:spPr>
            <a:xfrm>
              <a:off x="1823784" y="3610122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2"/>
            <p:cNvSpPr txBox="1"/>
            <p:nvPr/>
          </p:nvSpPr>
          <p:spPr>
            <a:xfrm>
              <a:off x="1823784" y="3610122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4468086" y="2239055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2"/>
            <p:cNvSpPr txBox="1"/>
            <p:nvPr/>
          </p:nvSpPr>
          <p:spPr>
            <a:xfrm>
              <a:off x="4468086" y="2239055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行銷</a:t>
              </a:r>
              <a:endParaRPr/>
            </a:p>
          </p:txBody>
        </p:sp>
        <p:sp>
          <p:nvSpPr>
            <p:cNvPr id="512" name="Google Shape;512;p12"/>
            <p:cNvSpPr/>
            <p:nvPr/>
          </p:nvSpPr>
          <p:spPr>
            <a:xfrm>
              <a:off x="4291284" y="2692356"/>
              <a:ext cx="1796009" cy="1785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2"/>
            <p:cNvSpPr txBox="1"/>
            <p:nvPr/>
          </p:nvSpPr>
          <p:spPr>
            <a:xfrm>
              <a:off x="4291284" y="2692356"/>
              <a:ext cx="1796009" cy="1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行銷總監</a:t>
              </a:r>
              <a:endParaRPr/>
            </a:p>
          </p:txBody>
        </p:sp>
        <p:sp>
          <p:nvSpPr>
            <p:cNvPr id="514" name="Google Shape;514;p12"/>
            <p:cNvSpPr/>
            <p:nvPr/>
          </p:nvSpPr>
          <p:spPr>
            <a:xfrm>
              <a:off x="3090458" y="3138954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2"/>
            <p:cNvSpPr txBox="1"/>
            <p:nvPr/>
          </p:nvSpPr>
          <p:spPr>
            <a:xfrm>
              <a:off x="3090458" y="3138954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網路</a:t>
              </a:r>
              <a:endParaRPr/>
            </a:p>
          </p:txBody>
        </p:sp>
        <p:sp>
          <p:nvSpPr>
            <p:cNvPr id="516" name="Google Shape;516;p12"/>
            <p:cNvSpPr/>
            <p:nvPr/>
          </p:nvSpPr>
          <p:spPr>
            <a:xfrm>
              <a:off x="3312366" y="3585765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2"/>
            <p:cNvSpPr txBox="1"/>
            <p:nvPr/>
          </p:nvSpPr>
          <p:spPr>
            <a:xfrm>
              <a:off x="3312366" y="3585765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8" name="Google Shape;518;p12"/>
            <p:cNvSpPr/>
            <p:nvPr/>
          </p:nvSpPr>
          <p:spPr>
            <a:xfrm>
              <a:off x="2346167" y="4045342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2"/>
            <p:cNvSpPr txBox="1"/>
            <p:nvPr/>
          </p:nvSpPr>
          <p:spPr>
            <a:xfrm>
              <a:off x="2346167" y="4045342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2050" spcFirstLastPara="1" rIns="12050" wrap="square" tIns="12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zh-TW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自媒體</a:t>
              </a:r>
              <a:endParaRPr/>
            </a:p>
          </p:txBody>
        </p:sp>
        <p:sp>
          <p:nvSpPr>
            <p:cNvPr id="520" name="Google Shape;520;p12"/>
            <p:cNvSpPr/>
            <p:nvPr/>
          </p:nvSpPr>
          <p:spPr>
            <a:xfrm>
              <a:off x="2568075" y="4492153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2"/>
            <p:cNvSpPr txBox="1"/>
            <p:nvPr/>
          </p:nvSpPr>
          <p:spPr>
            <a:xfrm>
              <a:off x="2568075" y="4492153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30475" spcFirstLastPara="1" rIns="30475" wrap="square" tIns="76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2" name="Google Shape;522;p12"/>
            <p:cNvSpPr/>
            <p:nvPr/>
          </p:nvSpPr>
          <p:spPr>
            <a:xfrm>
              <a:off x="3834749" y="4045342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2"/>
            <p:cNvSpPr txBox="1"/>
            <p:nvPr/>
          </p:nvSpPr>
          <p:spPr>
            <a:xfrm>
              <a:off x="3834749" y="4045342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2050" spcFirstLastPara="1" rIns="12050" wrap="square" tIns="12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zh-TW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官網/媒體</a:t>
              </a:r>
              <a:endParaRPr/>
            </a:p>
          </p:txBody>
        </p:sp>
        <p:sp>
          <p:nvSpPr>
            <p:cNvPr id="524" name="Google Shape;524;p12"/>
            <p:cNvSpPr/>
            <p:nvPr/>
          </p:nvSpPr>
          <p:spPr>
            <a:xfrm>
              <a:off x="4056658" y="4492153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2"/>
            <p:cNvSpPr txBox="1"/>
            <p:nvPr/>
          </p:nvSpPr>
          <p:spPr>
            <a:xfrm>
              <a:off x="4056658" y="4492153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30475" spcFirstLastPara="1" rIns="30475" wrap="square" tIns="76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6" name="Google Shape;526;p12"/>
            <p:cNvSpPr/>
            <p:nvPr/>
          </p:nvSpPr>
          <p:spPr>
            <a:xfrm>
              <a:off x="4579041" y="3138954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2"/>
            <p:cNvSpPr txBox="1"/>
            <p:nvPr/>
          </p:nvSpPr>
          <p:spPr>
            <a:xfrm>
              <a:off x="4579041" y="3138954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店</a:t>
              </a:r>
              <a:endParaRPr/>
            </a:p>
          </p:txBody>
        </p:sp>
        <p:sp>
          <p:nvSpPr>
            <p:cNvPr id="528" name="Google Shape;528;p12"/>
            <p:cNvSpPr/>
            <p:nvPr/>
          </p:nvSpPr>
          <p:spPr>
            <a:xfrm>
              <a:off x="4800949" y="3585765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2"/>
            <p:cNvSpPr txBox="1"/>
            <p:nvPr/>
          </p:nvSpPr>
          <p:spPr>
            <a:xfrm>
              <a:off x="4800949" y="3585765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0" name="Google Shape;530;p12"/>
            <p:cNvSpPr/>
            <p:nvPr/>
          </p:nvSpPr>
          <p:spPr>
            <a:xfrm>
              <a:off x="6067623" y="3138954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2"/>
            <p:cNvSpPr txBox="1"/>
            <p:nvPr/>
          </p:nvSpPr>
          <p:spPr>
            <a:xfrm>
              <a:off x="6067623" y="3138954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業務</a:t>
              </a:r>
              <a:endParaRPr/>
            </a:p>
          </p:txBody>
        </p:sp>
        <p:sp>
          <p:nvSpPr>
            <p:cNvPr id="532" name="Google Shape;532;p12"/>
            <p:cNvSpPr/>
            <p:nvPr/>
          </p:nvSpPr>
          <p:spPr>
            <a:xfrm>
              <a:off x="6289532" y="3585765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2"/>
            <p:cNvSpPr txBox="1"/>
            <p:nvPr/>
          </p:nvSpPr>
          <p:spPr>
            <a:xfrm>
              <a:off x="6289532" y="3585765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p12"/>
            <p:cNvSpPr/>
            <p:nvPr/>
          </p:nvSpPr>
          <p:spPr>
            <a:xfrm>
              <a:off x="8933835" y="2239055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2"/>
            <p:cNvSpPr txBox="1"/>
            <p:nvPr/>
          </p:nvSpPr>
          <p:spPr>
            <a:xfrm>
              <a:off x="8933835" y="2239055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行政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6" name="Google Shape;536;p12"/>
            <p:cNvSpPr/>
            <p:nvPr/>
          </p:nvSpPr>
          <p:spPr>
            <a:xfrm>
              <a:off x="8886204" y="2671614"/>
              <a:ext cx="1537665" cy="219995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2"/>
            <p:cNvSpPr txBox="1"/>
            <p:nvPr/>
          </p:nvSpPr>
          <p:spPr>
            <a:xfrm>
              <a:off x="8886204" y="2671614"/>
              <a:ext cx="1537665" cy="219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行政總監</a:t>
              </a:r>
              <a:endParaRPr/>
            </a:p>
          </p:txBody>
        </p:sp>
        <p:sp>
          <p:nvSpPr>
            <p:cNvPr id="538" name="Google Shape;538;p12"/>
            <p:cNvSpPr/>
            <p:nvPr/>
          </p:nvSpPr>
          <p:spPr>
            <a:xfrm>
              <a:off x="7556206" y="3159696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2"/>
            <p:cNvSpPr txBox="1"/>
            <p:nvPr/>
          </p:nvSpPr>
          <p:spPr>
            <a:xfrm>
              <a:off x="7556206" y="315969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財務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12"/>
            <p:cNvSpPr/>
            <p:nvPr/>
          </p:nvSpPr>
          <p:spPr>
            <a:xfrm>
              <a:off x="7778114" y="3606507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2"/>
            <p:cNvSpPr txBox="1"/>
            <p:nvPr/>
          </p:nvSpPr>
          <p:spPr>
            <a:xfrm>
              <a:off x="7778114" y="3606507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12"/>
            <p:cNvSpPr/>
            <p:nvPr/>
          </p:nvSpPr>
          <p:spPr>
            <a:xfrm>
              <a:off x="9044789" y="3159696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2"/>
            <p:cNvSpPr txBox="1"/>
            <p:nvPr/>
          </p:nvSpPr>
          <p:spPr>
            <a:xfrm>
              <a:off x="9044789" y="315969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b="0" i="0" lang="zh-TW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客服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4" name="Google Shape;544;p12"/>
            <p:cNvSpPr/>
            <p:nvPr/>
          </p:nvSpPr>
          <p:spPr>
            <a:xfrm>
              <a:off x="9266697" y="3606507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2"/>
            <p:cNvSpPr txBox="1"/>
            <p:nvPr/>
          </p:nvSpPr>
          <p:spPr>
            <a:xfrm>
              <a:off x="9266697" y="3606507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30475" spcFirstLastPara="1" rIns="30475" wrap="square" tIns="76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6" name="Google Shape;546;p12"/>
            <p:cNvSpPr/>
            <p:nvPr/>
          </p:nvSpPr>
          <p:spPr>
            <a:xfrm>
              <a:off x="10533371" y="3159696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2"/>
            <p:cNvSpPr txBox="1"/>
            <p:nvPr/>
          </p:nvSpPr>
          <p:spPr>
            <a:xfrm>
              <a:off x="10533371" y="315969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2050" spcFirstLastPara="1" rIns="12050" wrap="square" tIns="12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zh-TW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技術</a:t>
              </a:r>
              <a:endParaRPr/>
            </a:p>
          </p:txBody>
        </p:sp>
        <p:sp>
          <p:nvSpPr>
            <p:cNvPr id="548" name="Google Shape;548;p12"/>
            <p:cNvSpPr/>
            <p:nvPr/>
          </p:nvSpPr>
          <p:spPr>
            <a:xfrm>
              <a:off x="10755280" y="3606507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2"/>
            <p:cNvSpPr txBox="1"/>
            <p:nvPr/>
          </p:nvSpPr>
          <p:spPr>
            <a:xfrm>
              <a:off x="10755280" y="3606507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30475" spcFirstLastPara="1" rIns="30475" wrap="square" tIns="76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>
              <a:off x="4144116" y="1332666"/>
              <a:ext cx="1109541" cy="574471"/>
            </a:xfrm>
            <a:prstGeom prst="rect">
              <a:avLst/>
            </a:prstGeom>
            <a:solidFill>
              <a:srgbClr val="A1C71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2"/>
            <p:cNvSpPr txBox="1"/>
            <p:nvPr/>
          </p:nvSpPr>
          <p:spPr>
            <a:xfrm>
              <a:off x="4144116" y="133266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050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zh-TW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CEO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2" name="Google Shape;552;p12"/>
            <p:cNvSpPr/>
            <p:nvPr/>
          </p:nvSpPr>
          <p:spPr>
            <a:xfrm>
              <a:off x="4366025" y="1779478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A1C7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2"/>
            <p:cNvSpPr txBox="1"/>
            <p:nvPr/>
          </p:nvSpPr>
          <p:spPr>
            <a:xfrm>
              <a:off x="4366025" y="1779478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45700" spcFirstLastPara="1" rIns="45700" wrap="square" tIns="114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3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t/>
            </a:r>
            <a:endParaRPr/>
          </a:p>
        </p:txBody>
      </p:sp>
      <p:graphicFrame>
        <p:nvGraphicFramePr>
          <p:cNvPr id="559" name="Google Shape;559;p13"/>
          <p:cNvGraphicFramePr/>
          <p:nvPr/>
        </p:nvGraphicFramePr>
        <p:xfrm>
          <a:off x="314632" y="45064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{13218573-F3EE-4882-B7E4-E67086CEF204}</a:tableStyleId>
              </a:tblPr>
              <a:tblGrid>
                <a:gridCol w="1976350"/>
                <a:gridCol w="3795625"/>
                <a:gridCol w="5641675"/>
              </a:tblGrid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企業獨特優勢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公司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身心健康優質品牌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創辦人的故事(不為利益) </a:t>
                      </a:r>
                      <a:r>
                        <a:rPr lang="zh-TW" sz="2400">
                          <a:solidFill>
                            <a:srgbClr val="FF0000"/>
                          </a:solidFill>
                        </a:rPr>
                        <a:t>實體點</a:t>
                      </a:r>
                      <a:r>
                        <a:rPr lang="zh-TW" sz="2400"/>
                        <a:t>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產品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量子能量與其他結合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專利   特別產品 高利潤  日常用品取代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制度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解決所有直銷無法解決的問題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傳統制度  不會被傳直銷三個字影響 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系統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免費引流 完整系統 趨勢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 身心靈老師培訓 業務系統培訓 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行銷模式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多通路布局  天地人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只要分享APP  後面收入就有關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品牌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培養很多身心靈老師推薦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最多身心靈老師推薦的品牌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團隊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專業團隊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技術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靈性技術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</a:rPr>
                        <a:t>免費教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我們在徵的人才</a:t>
            </a:r>
            <a:endParaRPr/>
          </a:p>
        </p:txBody>
      </p:sp>
      <p:sp>
        <p:nvSpPr>
          <p:cNvPr id="565" name="Google Shape;565;p14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1、身心靈老師或想學習的人(透過座談會)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2、特助(細心 )</a:t>
            </a:r>
            <a:endParaRPr sz="3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3、財稅相關專業(會計師)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4、醫療相關專業(醫師/護理師/營養師/醫檢師/藥師 心理師)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5、行銷相關專業(小編/拍攝/剪片/經紀人)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6、法律相關專業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實體</a:t>
            </a:r>
            <a:endParaRPr/>
          </a:p>
        </p:txBody>
      </p:sp>
      <p:sp>
        <p:nvSpPr>
          <p:cNvPr id="571" name="Google Shape;571;p15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一樓：咖啡廳+茶飲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二樓：運動教室 身心靈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三樓：諮詢室/整脊/調理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四樓：診所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或者一層有兩個功能也可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6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咖啡廳外觀示意圖</a:t>
            </a:r>
            <a:endParaRPr/>
          </a:p>
        </p:txBody>
      </p:sp>
      <p:pic>
        <p:nvPicPr>
          <p:cNvPr id="577" name="Google Shape;57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1247050"/>
            <a:ext cx="4652700" cy="26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1190" y="2228129"/>
            <a:ext cx="4727276" cy="47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16" title="Gemini_Generated_Image_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7150" y="855575"/>
            <a:ext cx="4925892" cy="26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16" title="cafe_yoga_stud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7331" y="3866350"/>
            <a:ext cx="2986749" cy="298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524" y="2362475"/>
            <a:ext cx="5369250" cy="35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7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運動教室示意圖</a:t>
            </a:r>
            <a:endParaRPr/>
          </a:p>
        </p:txBody>
      </p:sp>
      <p:pic>
        <p:nvPicPr>
          <p:cNvPr id="587" name="Google Shape;587;p17" title="Gemini_Generated_Image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501" y="2756800"/>
            <a:ext cx="4781551" cy="31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8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美容/身心靈教室外觀示意圖</a:t>
            </a:r>
            <a:endParaRPr/>
          </a:p>
        </p:txBody>
      </p:sp>
      <p:pic>
        <p:nvPicPr>
          <p:cNvPr id="593" name="Google Shape;593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01" y="1745201"/>
            <a:ext cx="5376600" cy="3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18" title="healing_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6751" y="1399456"/>
            <a:ext cx="5262848" cy="526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9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辦公室示意圖</a:t>
            </a:r>
            <a:endParaRPr/>
          </a:p>
        </p:txBody>
      </p:sp>
      <p:pic>
        <p:nvPicPr>
          <p:cNvPr id="600" name="Google Shape;60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225" y="1405975"/>
            <a:ext cx="8918400" cy="48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0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分租模式的行銷優勢</a:t>
            </a:r>
            <a:endParaRPr/>
          </a:p>
        </p:txBody>
      </p:sp>
      <p:sp>
        <p:nvSpPr>
          <p:cNvPr id="606" name="Google Shape;606;p20"/>
          <p:cNvSpPr txBox="1"/>
          <p:nvPr>
            <p:ph idx="1" type="body"/>
          </p:nvPr>
        </p:nvSpPr>
        <p:spPr>
          <a:xfrm>
            <a:off x="437648" y="149593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交叉引流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櫃台協助檢測 服務與成交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讓老師做本來在做的事情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吧檯飲品與點心可增加公司收益</a:t>
            </a:r>
            <a:endParaRPr/>
          </a:p>
        </p:txBody>
      </p:sp>
      <p:pic>
        <p:nvPicPr>
          <p:cNvPr id="607" name="Google Shape;6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7901" y="1996898"/>
            <a:ext cx="3554083" cy="3554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4792" y="1939470"/>
            <a:ext cx="4760302" cy="412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3" name="Google Shape;613;p2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{8B1D82ED-64FE-44D7-B84F-EB1007612573}</a:tableStyleId>
              </a:tblPr>
              <a:tblGrid>
                <a:gridCol w="635625"/>
                <a:gridCol w="1338150"/>
                <a:gridCol w="1282400"/>
                <a:gridCol w="3947575"/>
                <a:gridCol w="2548850"/>
                <a:gridCol w="2439425"/>
              </a:tblGrid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層次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定位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時間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條件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收入模式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成長方向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靈性老師 / 個人顧問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2024、7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以自身能力開課或做個案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課程費、諮詢費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打造個人品牌、累積口碑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專業個體戶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2025、1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有穩定學員與回頭客，開始有小影響力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一對多課程、套裝服務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介紹個案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微型工作室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2025、9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大量尋找老師與業務團隊與工作人員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課程＋產品銷售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培養老師與業務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公司化經營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2026、5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租下辦公室或店面做初期培訓與內部測試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B2C課程＋B2B合作（企業方案）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建立培訓系統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小型品牌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2026、12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建立規模組織與大量曝光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一棟正式營業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會員制、訂閱制、品牌產品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打造真靈光店面營收樣板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連鎖 / 擴張中心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2027、10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擁有多個實體據點，可能採加盟模式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加盟金、授權費、分店營收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建立標準化課程＋加盟SOP(內部創業)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全國品牌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2028 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在全台灣多地區佈局，成為知名身心靈品牌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大型活動、出版、品牌合作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與政府、企業、學校合作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平台型企業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2029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建立「真靈光平台」，整合老師、學員、產品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平台抽成、廣告、流量變現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打造身心靈版的「蝦皮＋全聯」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生態系統企業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2030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建立完整「身心靈生態圈」：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課程、產品、療癒中心、學校、診所、金融 養生村 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多元收入（平台＋實體＋科技＋投資）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cap="none" strike="noStrik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成為全球第一的身心靈生態系，連結百萬導師與用戶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ostyVTI">
  <a:themeElements>
    <a:clrScheme name="FrostyVTI">
      <a:dk1>
        <a:srgbClr val="000000"/>
      </a:dk1>
      <a:lt1>
        <a:srgbClr val="DAE3E3"/>
      </a:lt1>
      <a:dk2>
        <a:srgbClr val="A7A7A7"/>
      </a:dk2>
      <a:lt2>
        <a:srgbClr val="53535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Perception">
  <a:themeElements>
    <a:clrScheme name="Perception">
      <a:dk1>
        <a:srgbClr val="000000"/>
      </a:dk1>
      <a:lt1>
        <a:srgbClr val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erception">
  <a:themeElements>
    <a:clrScheme name="Perception">
      <a:dk1>
        <a:srgbClr val="000000"/>
      </a:dk1>
      <a:lt1>
        <a:srgbClr val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2025-10-08T11:36:25Z</dcterms:created>
  <dc:creator>Chen Ray</dc:creator>
</cp:coreProperties>
</file>