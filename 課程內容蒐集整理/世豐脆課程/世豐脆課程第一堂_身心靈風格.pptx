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3420000">
            <a:off x="684868" y="300302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8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4" name="TextBox 3"/>
          <p:cNvSpPr txBox="1"/>
          <p:nvPr/>
        </p:nvSpPr>
        <p:spPr>
          <a:xfrm rot="16920000">
            <a:off x="8460086" y="600889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4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5" name="TextBox 4"/>
          <p:cNvSpPr txBox="1"/>
          <p:nvPr/>
        </p:nvSpPr>
        <p:spPr>
          <a:xfrm rot="12900000">
            <a:off x="11297174" y="66752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1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6" name="TextBox 5"/>
          <p:cNvSpPr txBox="1"/>
          <p:nvPr/>
        </p:nvSpPr>
        <p:spPr>
          <a:xfrm rot="120000">
            <a:off x="2649981" y="641077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8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7" name="TextBox 6"/>
          <p:cNvSpPr txBox="1"/>
          <p:nvPr/>
        </p:nvSpPr>
        <p:spPr>
          <a:xfrm rot="9840000">
            <a:off x="11806113" y="6524689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8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 rot="3600000">
            <a:off x="193152" y="403212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5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 rot="7140000">
            <a:off x="10904551" y="5621898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6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 rot="9780000">
            <a:off x="5145038" y="828798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7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>
                <a:solidFill>
                  <a:srgbClr val="B8975A"/>
                </a:solidFill>
                <a:latin typeface="M PLUS Rounded 1c"/>
              </a:rPr>
              <a:t>脆第一堂課程：理論基礎與實戰 1 — 課程大綱</a:t>
            </a:r>
          </a:p>
          <a:p>
            <a:pPr algn="ctr"/>
            <a:r>
              <a:rPr sz="2400">
                <a:solidFill>
                  <a:srgbClr val="0EA5E9"/>
                </a:solidFill>
                <a:latin typeface="M PLUS Rounded 1c"/>
              </a:rPr>
              <a:t>一、 自媒體經營心態與平台趨勢
**個人品牌實戰經驗**
講師（世豐）分享：經營 Threads（脆）約半年，粉絲數從 300 成長至 1.4 萬。
Threads 目前具備極大的流量紅利，類似早期「短影音平台」剛崛起的商機。
**自媒體經營的四大核心心態**
**觀察力**：學會觀察熱門文章的爆紅軌跡，理解其運作邏輯。
**利他**：分享有價值的內容，主動協助與回饋他人（如幫忙轉貼好文章、用心回覆留言）。
**真實**：展現最真實的自我，敢於分享生命中深刻的挫折與真實感悟。
**輕鬆心態**：不要把經營當成沈重的日更功課，以「交朋友」的放鬆心態出發。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6780000">
            <a:off x="11221672" y="18413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4" name="TextBox 3"/>
          <p:cNvSpPr txBox="1"/>
          <p:nvPr/>
        </p:nvSpPr>
        <p:spPr>
          <a:xfrm rot="60000">
            <a:off x="603086" y="4200514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5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 rot="17580000">
            <a:off x="7439100" y="594404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6" name="TextBox 5"/>
          <p:cNvSpPr txBox="1"/>
          <p:nvPr/>
        </p:nvSpPr>
        <p:spPr>
          <a:xfrm rot="9420000">
            <a:off x="7230974" y="646300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7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 rot="18960000">
            <a:off x="10950706" y="111329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8" name="TextBox 7"/>
          <p:cNvSpPr txBox="1"/>
          <p:nvPr/>
        </p:nvSpPr>
        <p:spPr>
          <a:xfrm rot="15540000">
            <a:off x="5610151" y="625427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3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 rot="19140000">
            <a:off x="511433" y="141759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 rot="19440000">
            <a:off x="11226671" y="5194758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11" name="TextBox 10"/>
          <p:cNvSpPr txBox="1"/>
          <p:nvPr/>
        </p:nvSpPr>
        <p:spPr>
          <a:xfrm rot="20880000">
            <a:off x="11927289" y="1221087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7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8975A"/>
                </a:solidFill>
                <a:latin typeface="M PLUS Rounded 1c"/>
              </a:rPr>
              <a:t>二、 Threads 底層邏輯與開場白技巧 (1/2)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講人話的原則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使用白話文與容易聽懂的語言，避免使用艱深的專業名詞。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爆紅開場白的三大技巧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1. </a:t>
            </a:r>
            <a:r>
              <a:rPr b="1" sz="1800">
                <a:solidFill>
                  <a:srgbClr val="0369A1"/>
                </a:solidFill>
                <a:latin typeface="M PLUS Rounded 1c"/>
              </a:rPr>
              <a:t>情緒張力（第一句話決定勝負）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600">
                <a:solidFill>
                  <a:srgbClr val="0369A1"/>
                </a:solidFill>
                <a:latin typeface="M PLUS Rounded 1c"/>
              </a:rPr>
              <a:t>負面張力</a:t>
            </a:r>
            <a:r>
              <a:rPr sz="1600">
                <a:solidFill>
                  <a:srgbClr val="3C3C3C"/>
                </a:solidFill>
                <a:latin typeface="M PLUS Rounded 1c"/>
              </a:rPr>
              <a:t>：利用「貪、嗔、癡、慢、疑」等痛點引發強烈共鳴（如：「為什麼你到現在存不到錢」）。*註：吸引注意後必須回歸正面價值輸出，避免淪為引戰帳號。*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600">
                <a:solidFill>
                  <a:srgbClr val="0369A1"/>
                </a:solidFill>
                <a:latin typeface="M PLUS Rounded 1c"/>
              </a:rPr>
              <a:t>正面張力</a:t>
            </a:r>
            <a:r>
              <a:rPr sz="1600">
                <a:solidFill>
                  <a:srgbClr val="3C3C3C"/>
                </a:solidFill>
                <a:latin typeface="M PLUS Rounded 1c"/>
              </a:rPr>
              <a:t>：分享溫暖、感動或有趣的故事（如：與計程車司機的對話）。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2. </a:t>
            </a:r>
            <a:r>
              <a:rPr b="1" sz="1800">
                <a:solidFill>
                  <a:srgbClr val="0369A1"/>
                </a:solidFill>
                <a:latin typeface="M PLUS Rounded 1c"/>
              </a:rPr>
              <a:t>含金量與實用性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600">
                <a:solidFill>
                  <a:srgbClr val="0369A1"/>
                </a:solidFill>
                <a:latin typeface="M PLUS Rounded 1c"/>
              </a:rPr>
              <a:t>具體數字</a:t>
            </a:r>
            <a:r>
              <a:rPr sz="1600">
                <a:solidFill>
                  <a:srgbClr val="3C3C3C"/>
                </a:solidFill>
                <a:latin typeface="M PLUS Rounded 1c"/>
              </a:rPr>
              <a:t>：使用量化指標展現投入時間與價值（如：「看了一百本書學到的七件事」）。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600">
                <a:solidFill>
                  <a:srgbClr val="0369A1"/>
                </a:solidFill>
                <a:latin typeface="M PLUS Rounded 1c"/>
              </a:rPr>
              <a:t>名人背書</a:t>
            </a:r>
            <a:r>
              <a:rPr sz="1600">
                <a:solidFill>
                  <a:srgbClr val="3C3C3C"/>
                </a:solidFill>
                <a:latin typeface="M PLUS Rounded 1c"/>
              </a:rPr>
              <a:t>：分析知名人物的做法（如：「分析某某人經營帳號的21個方法」）。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3300000">
            <a:off x="11418521" y="152160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4" name="TextBox 3"/>
          <p:cNvSpPr txBox="1"/>
          <p:nvPr/>
        </p:nvSpPr>
        <p:spPr>
          <a:xfrm rot="18120000">
            <a:off x="2670501" y="5978661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8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 rot="16380000">
            <a:off x="253285" y="91045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8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 rot="8280000">
            <a:off x="11289248" y="4545067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5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 rot="15360000">
            <a:off x="10585475" y="766445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7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8" name="TextBox 7"/>
          <p:cNvSpPr txBox="1"/>
          <p:nvPr/>
        </p:nvSpPr>
        <p:spPr>
          <a:xfrm rot="1920000">
            <a:off x="5069758" y="618498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5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9" name="TextBox 8"/>
          <p:cNvSpPr txBox="1"/>
          <p:nvPr/>
        </p:nvSpPr>
        <p:spPr>
          <a:xfrm rot="13080000">
            <a:off x="11427706" y="3504757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1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10" name="TextBox 9"/>
          <p:cNvSpPr txBox="1"/>
          <p:nvPr/>
        </p:nvSpPr>
        <p:spPr>
          <a:xfrm rot="10380000">
            <a:off x="4713392" y="619077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2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11" name="TextBox 10"/>
          <p:cNvSpPr txBox="1"/>
          <p:nvPr/>
        </p:nvSpPr>
        <p:spPr>
          <a:xfrm rot="8520000">
            <a:off x="934968" y="561715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6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8975A"/>
                </a:solidFill>
                <a:latin typeface="M PLUS Rounded 1c"/>
              </a:rPr>
              <a:t>二、 Threads 底層邏輯與開場白技巧 (2/2)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600">
                <a:solidFill>
                  <a:srgbClr val="0369A1"/>
                </a:solidFill>
                <a:latin typeface="M PLUS Rounded 1c"/>
              </a:rPr>
              <a:t>實戰心得</a:t>
            </a:r>
            <a:r>
              <a:rPr sz="1600">
                <a:solidFill>
                  <a:srgbClr val="3C3C3C"/>
                </a:solidFill>
                <a:latin typeface="M PLUS Rounded 1c"/>
              </a:rPr>
              <a:t>：分享個人真實的產業或生活攻略（如：「幫300人算塔羅牌後學到的五件事」）。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3. </a:t>
            </a:r>
            <a:r>
              <a:rPr b="1" sz="1800">
                <a:solidFill>
                  <a:srgbClr val="0369A1"/>
                </a:solidFill>
                <a:latin typeface="M PLUS Rounded 1c"/>
              </a:rPr>
              <a:t>重點與懸念並存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600">
                <a:solidFill>
                  <a:srgbClr val="3C3C3C"/>
                </a:solidFill>
                <a:latin typeface="M PLUS Rounded 1c"/>
              </a:rPr>
              <a:t>開場白第一句話應同時具備「一個重點」與「一個好奇點」，不要只有無意義的懸念。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排版優化</a:t>
            </a:r>
            <a:r>
              <a:rPr sz="2000">
                <a:solidFill>
                  <a:srgbClr val="3C3C3C"/>
                </a:solidFill>
                <a:latin typeface="M PLUS Rounded 1c"/>
              </a:rPr>
              <a:t>：善用斷行與舒適的視覺版面來提升閱讀率。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3860000">
            <a:off x="1162217" y="2754795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 rot="17340000">
            <a:off x="11245061" y="590843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8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2700000">
            <a:off x="923652" y="2028218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2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 rot="240000">
            <a:off x="4796884" y="6524975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4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7" name="TextBox 6"/>
          <p:cNvSpPr txBox="1"/>
          <p:nvPr/>
        </p:nvSpPr>
        <p:spPr>
          <a:xfrm rot="13620000">
            <a:off x="803805" y="57557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8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8" name="TextBox 7"/>
          <p:cNvSpPr txBox="1"/>
          <p:nvPr/>
        </p:nvSpPr>
        <p:spPr>
          <a:xfrm rot="10380000">
            <a:off x="859491" y="184425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3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9" name="TextBox 8"/>
          <p:cNvSpPr txBox="1"/>
          <p:nvPr/>
        </p:nvSpPr>
        <p:spPr>
          <a:xfrm rot="15480000">
            <a:off x="8849776" y="6382007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9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8975A"/>
                </a:solidFill>
                <a:latin typeface="M PLUS Rounded 1c"/>
              </a:rPr>
              <a:t>三、 個人品牌定位與變現策略 (1/2)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IKIGAI（生存價值）定位法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透過思考四個圓圈的交集來確立定位：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1. </a:t>
            </a:r>
            <a:r>
              <a:rPr sz="1600">
                <a:solidFill>
                  <a:srgbClr val="3C3C3C"/>
                </a:solidFill>
                <a:latin typeface="M PLUS Rounded 1c"/>
              </a:rPr>
              <a:t>你享受/熱愛的事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2. </a:t>
            </a:r>
            <a:r>
              <a:rPr sz="1600">
                <a:solidFill>
                  <a:srgbClr val="3C3C3C"/>
                </a:solidFill>
                <a:latin typeface="M PLUS Rounded 1c"/>
              </a:rPr>
              <a:t>你擅長的事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3. </a:t>
            </a:r>
            <a:r>
              <a:rPr sz="1600">
                <a:solidFill>
                  <a:srgbClr val="3C3C3C"/>
                </a:solidFill>
                <a:latin typeface="M PLUS Rounded 1c"/>
              </a:rPr>
              <a:t>世界需要的事</a:t>
            </a:r>
          </a:p>
          <a:p>
            <a:pPr lvl="2">
              <a:spcBef>
                <a:spcPts val="400"/>
              </a:spcBef>
              <a:spcAft>
                <a:spcPts val="800"/>
              </a:spcAft>
            </a:pPr>
            <a:r>
              <a:rPr b="1" sz="1600">
                <a:solidFill>
                  <a:srgbClr val="0EA5E9"/>
                </a:solidFill>
                <a:latin typeface="M PLUS Rounded 1c"/>
              </a:rPr>
              <a:t>4. </a:t>
            </a:r>
            <a:r>
              <a:rPr sz="1600">
                <a:solidFill>
                  <a:srgbClr val="3C3C3C"/>
                </a:solidFill>
                <a:latin typeface="M PLUS Rounded 1c"/>
              </a:rPr>
              <a:t>別人願意付錢請你做的事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案例：定位為「最懂美業的身心靈塔羅老師」。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選物店概念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分享符合自己品牌風格與形象的素材，而非盲目跟風。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點線面思維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9120000">
            <a:off x="10919637" y="6183689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 rot="3120000">
            <a:off x="10856781" y="605839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2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5" name="TextBox 4"/>
          <p:cNvSpPr txBox="1"/>
          <p:nvPr/>
        </p:nvSpPr>
        <p:spPr>
          <a:xfrm rot="17220000">
            <a:off x="8009487" y="90081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9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6" name="TextBox 5"/>
          <p:cNvSpPr txBox="1"/>
          <p:nvPr/>
        </p:nvSpPr>
        <p:spPr>
          <a:xfrm rot="20580000">
            <a:off x="1247666" y="1160347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5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7" name="TextBox 6"/>
          <p:cNvSpPr txBox="1"/>
          <p:nvPr/>
        </p:nvSpPr>
        <p:spPr>
          <a:xfrm rot="15180000">
            <a:off x="11061024" y="485275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5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8" name="TextBox 7"/>
          <p:cNvSpPr txBox="1"/>
          <p:nvPr/>
        </p:nvSpPr>
        <p:spPr>
          <a:xfrm rot="180000">
            <a:off x="810722" y="639296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8975A"/>
                </a:solidFill>
                <a:latin typeface="M PLUS Rounded 1c"/>
              </a:rPr>
              <a:t>三、 個人品牌定位與變現策略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從狹窄的「點」逐步擴大到「線」與「面」，以擴大受眾池（例如：從「SEO顧問」-&gt;「網路行銷」-&gt;「如何在網路上賺錢」）。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蜜蜂與花粉效應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廣大群眾（蜜蜂）會被優質貼文吸引並協助轉播，進而讓你的花粉（定位/價值）觸及並成交到精準的潛在客戶（其他的花）。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以終為始的產品設計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盡早規劃最終的變現服務或產品（如：諮詢、免費/付費電子書、小額服務）。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8340000">
            <a:off x="1274734" y="23786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9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4" name="TextBox 3"/>
          <p:cNvSpPr txBox="1"/>
          <p:nvPr/>
        </p:nvSpPr>
        <p:spPr>
          <a:xfrm rot="14580000">
            <a:off x="10866973" y="177735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5" name="TextBox 4"/>
          <p:cNvSpPr txBox="1"/>
          <p:nvPr/>
        </p:nvSpPr>
        <p:spPr>
          <a:xfrm rot="8640000">
            <a:off x="3695053" y="6237125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1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6" name="TextBox 5"/>
          <p:cNvSpPr txBox="1"/>
          <p:nvPr/>
        </p:nvSpPr>
        <p:spPr>
          <a:xfrm rot="8940000">
            <a:off x="11670052" y="2758219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7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7" name="TextBox 6"/>
          <p:cNvSpPr txBox="1"/>
          <p:nvPr/>
        </p:nvSpPr>
        <p:spPr>
          <a:xfrm rot="15480000">
            <a:off x="11335140" y="6673245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6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8" name="TextBox 7"/>
          <p:cNvSpPr txBox="1"/>
          <p:nvPr/>
        </p:nvSpPr>
        <p:spPr>
          <a:xfrm rot="2940000">
            <a:off x="11534193" y="3892222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8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8975A"/>
                </a:solidFill>
                <a:latin typeface="M PLUS Rounded 1c"/>
              </a:rPr>
              <a:t>四、 帳號優化與跨平台營運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個人檔案（Bio）與大頭貼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這是將流量轉化為追蹤者的關鍵。Bio 需聚焦於有趣度、故事度、權威度、聚焦度與特色度。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平台連動的陷阱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建議</a:t>
            </a:r>
            <a:r>
              <a:rPr b="1" sz="1800">
                <a:solidFill>
                  <a:srgbClr val="0369A1"/>
                </a:solidFill>
                <a:latin typeface="M PLUS Rounded 1c"/>
              </a:rPr>
              <a:t>關閉</a:t>
            </a:r>
            <a:r>
              <a:rPr sz="1800">
                <a:solidFill>
                  <a:srgbClr val="3C3C3C"/>
                </a:solidFill>
                <a:latin typeface="M PLUS Rounded 1c"/>
              </a:rPr>
              <a:t> IG 自動連動至 Threads 的功能（自動連動的圖片/產品照觸及率通常極低）。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建議在 Threads 上爆紅的文章，手動轉貼至 Twitter/X 或 Facebook 等其他平台。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" y="91440"/>
            <a:ext cx="12008815" cy="6675120"/>
          </a:xfrm>
          <a:prstGeom prst="roundRect">
            <a:avLst>
              <a:gd name="adj" fmla="val 2000"/>
            </a:avLst>
          </a:prstGeom>
          <a:noFill/>
          <a:ln w="63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 rot="18360000">
            <a:off x="10985479" y="1772345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4" name="TextBox 3"/>
          <p:cNvSpPr txBox="1"/>
          <p:nvPr/>
        </p:nvSpPr>
        <p:spPr>
          <a:xfrm rot="19500000">
            <a:off x="11226740" y="6653011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9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5" name="TextBox 4"/>
          <p:cNvSpPr txBox="1"/>
          <p:nvPr/>
        </p:nvSpPr>
        <p:spPr>
          <a:xfrm rot="7380000">
            <a:off x="9523459" y="6602780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 rot="2640000">
            <a:off x="11968843" y="233092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>
                <a:solidFill>
                  <a:srgbClr val="F4F0E6"/>
                </a:solidFill>
                <a:latin typeface="M PLUS Rounded 1c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 rot="13320000">
            <a:off x="11115061" y="4543466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7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8" name="TextBox 7"/>
          <p:cNvSpPr txBox="1"/>
          <p:nvPr/>
        </p:nvSpPr>
        <p:spPr>
          <a:xfrm rot="6360000">
            <a:off x="11905934" y="2799171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4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9" name="TextBox 8"/>
          <p:cNvSpPr txBox="1"/>
          <p:nvPr/>
        </p:nvSpPr>
        <p:spPr>
          <a:xfrm rot="11940000">
            <a:off x="724580" y="6021201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200">
                <a:solidFill>
                  <a:srgbClr val="F4F0E6"/>
                </a:solidFill>
                <a:latin typeface="M PLUS Rounded 1c"/>
              </a:rPr>
              <a:t>☥</a:t>
            </a:r>
          </a:p>
        </p:txBody>
      </p:sp>
      <p:sp>
        <p:nvSpPr>
          <p:cNvPr id="10" name="TextBox 9"/>
          <p:cNvSpPr txBox="1"/>
          <p:nvPr/>
        </p:nvSpPr>
        <p:spPr>
          <a:xfrm rot="10500000">
            <a:off x="8186366" y="218643"/>
            <a:ext cx="914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4100">
                <a:solidFill>
                  <a:srgbClr val="F4F0E6"/>
                </a:solidFill>
                <a:latin typeface="M PLUS Rounded 1c"/>
              </a:rPr>
              <a:t>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200" b="1">
                <a:solidFill>
                  <a:srgbClr val="B8975A"/>
                </a:solidFill>
                <a:latin typeface="M PLUS Rounded 1c"/>
              </a:rPr>
              <a:t>五、 學員互動問答 (QA)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學員（宥富）心得分享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sz="1800">
                <a:solidFill>
                  <a:srgbClr val="3C3C3C"/>
                </a:solidFill>
                <a:latin typeface="M PLUS Rounded 1c"/>
              </a:rPr>
              <a:t>對於使用「貪嗔癡慢疑」的情緒開場白很有共鳴，未來打算嘗試不同角度的開場。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b="1" sz="2000">
                <a:solidFill>
                  <a:srgbClr val="0EA5E9"/>
                </a:solidFill>
                <a:latin typeface="M PLUS Rounded 1c"/>
              </a:rPr>
              <a:t>✦ </a:t>
            </a:r>
            <a:r>
              <a:rPr b="1" sz="2000">
                <a:solidFill>
                  <a:srgbClr val="0369A1"/>
                </a:solidFill>
                <a:latin typeface="M PLUS Rounded 1c"/>
              </a:rPr>
              <a:t>關於 Threads 演算法的提問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800">
                <a:solidFill>
                  <a:srgbClr val="0369A1"/>
                </a:solidFill>
                <a:latin typeface="M PLUS Rounded 1c"/>
              </a:rPr>
              <a:t>問</a:t>
            </a:r>
            <a:r>
              <a:rPr sz="1800">
                <a:solidFill>
                  <a:srgbClr val="3C3C3C"/>
                </a:solidFill>
                <a:latin typeface="M PLUS Rounded 1c"/>
              </a:rPr>
              <a:t>：為什麼有些留言會跟著本文一起在牆上顯示，有些不會？要如何手動設定？</a:t>
            </a:r>
          </a:p>
          <a:p>
            <a:pPr lvl="1">
              <a:spcBef>
                <a:spcPts val="400"/>
              </a:spcBef>
              <a:spcAft>
                <a:spcPts val="800"/>
              </a:spcAft>
            </a:pPr>
            <a:r>
              <a:rPr b="1" sz="1800">
                <a:solidFill>
                  <a:srgbClr val="0EA5E9"/>
                </a:solidFill>
                <a:latin typeface="M PLUS Rounded 1c"/>
              </a:rPr>
              <a:t>• </a:t>
            </a:r>
            <a:r>
              <a:rPr b="1" sz="1800">
                <a:solidFill>
                  <a:srgbClr val="0369A1"/>
                </a:solidFill>
                <a:latin typeface="M PLUS Rounded 1c"/>
              </a:rPr>
              <a:t>答</a:t>
            </a:r>
            <a:r>
              <a:rPr sz="1800">
                <a:solidFill>
                  <a:srgbClr val="3C3C3C"/>
                </a:solidFill>
                <a:latin typeface="M PLUS Rounded 1c"/>
              </a:rPr>
              <a:t>：這是由演算法自動決定的，通常留言的點讚數或權重較高時會一起顯示，目前無法由使用者手動設定。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