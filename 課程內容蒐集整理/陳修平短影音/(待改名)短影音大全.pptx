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9" r:id="rId3"/>
    <p:sldId id="260" r:id="rId4"/>
    <p:sldId id="261" r:id="rId5"/>
    <p:sldId id="262" r:id="rId6"/>
    <p:sldId id="321" r:id="rId7"/>
    <p:sldId id="263" r:id="rId8"/>
    <p:sldId id="264" r:id="rId9"/>
    <p:sldId id="265" r:id="rId10"/>
    <p:sldId id="266" r:id="rId11"/>
    <p:sldId id="267" r:id="rId12"/>
    <p:sldId id="268" r:id="rId13"/>
    <p:sldId id="322" r:id="rId14"/>
    <p:sldId id="269" r:id="rId15"/>
    <p:sldId id="270" r:id="rId16"/>
    <p:sldId id="323" r:id="rId17"/>
    <p:sldId id="271" r:id="rId18"/>
    <p:sldId id="272" r:id="rId19"/>
    <p:sldId id="273" r:id="rId20"/>
    <p:sldId id="275" r:id="rId21"/>
    <p:sldId id="278" r:id="rId22"/>
    <p:sldId id="279" r:id="rId23"/>
    <p:sldId id="280" r:id="rId24"/>
    <p:sldId id="281" r:id="rId25"/>
    <p:sldId id="282" r:id="rId26"/>
    <p:sldId id="324" r:id="rId27"/>
    <p:sldId id="283" r:id="rId28"/>
    <p:sldId id="284" r:id="rId29"/>
    <p:sldId id="286" r:id="rId30"/>
    <p:sldId id="287" r:id="rId31"/>
    <p:sldId id="288" r:id="rId32"/>
    <p:sldId id="325" r:id="rId33"/>
    <p:sldId id="289" r:id="rId34"/>
    <p:sldId id="290" r:id="rId35"/>
    <p:sldId id="326" r:id="rId36"/>
    <p:sldId id="291" r:id="rId37"/>
    <p:sldId id="292" r:id="rId38"/>
    <p:sldId id="294" r:id="rId39"/>
    <p:sldId id="296" r:id="rId40"/>
    <p:sldId id="297" r:id="rId41"/>
    <p:sldId id="298" r:id="rId42"/>
    <p:sldId id="299" r:id="rId43"/>
    <p:sldId id="300" r:id="rId44"/>
    <p:sldId id="301" r:id="rId45"/>
    <p:sldId id="320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P1-短影音怎麼賺錢" id="{FDCB225C-1DE4-43C0-8FEC-B973A1C8C16C}">
          <p14:sldIdLst>
            <p14:sldId id="256"/>
            <p14:sldId id="259"/>
            <p14:sldId id="260"/>
            <p14:sldId id="261"/>
            <p14:sldId id="262"/>
            <p14:sldId id="321"/>
            <p14:sldId id="263"/>
            <p14:sldId id="264"/>
            <p14:sldId id="265"/>
            <p14:sldId id="266"/>
            <p14:sldId id="267"/>
            <p14:sldId id="268"/>
            <p14:sldId id="322"/>
            <p14:sldId id="269"/>
            <p14:sldId id="270"/>
            <p14:sldId id="323"/>
            <p14:sldId id="271"/>
            <p14:sldId id="272"/>
            <p14:sldId id="273"/>
          </p14:sldIdLst>
        </p14:section>
        <p14:section name="EP2-短影音最常犯的錯" id="{9452AF71-A64E-4878-911E-888729EA2AE2}">
          <p14:sldIdLst>
            <p14:sldId id="275"/>
            <p14:sldId id="278"/>
            <p14:sldId id="279"/>
            <p14:sldId id="280"/>
            <p14:sldId id="281"/>
            <p14:sldId id="282"/>
            <p14:sldId id="324"/>
            <p14:sldId id="283"/>
            <p14:sldId id="284"/>
            <p14:sldId id="286"/>
            <p14:sldId id="287"/>
            <p14:sldId id="288"/>
            <p14:sldId id="325"/>
            <p14:sldId id="289"/>
            <p14:sldId id="290"/>
            <p14:sldId id="326"/>
            <p14:sldId id="291"/>
            <p14:sldId id="292"/>
          </p14:sldIdLst>
        </p14:section>
        <p14:section name="三、短影音新手保母級教學" id="{B3DB44FF-3F1E-4DEE-81A9-A2EB2BDFA9D4}">
          <p14:sldIdLst>
            <p14:sldId id="294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四、內容矩陣 7x11" id="{564300EC-8C47-4B3E-A2B6-776B1F769B7F}">
          <p14:sldIdLst>
            <p14:sldId id="3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26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348EF-092D-4A5D-B1F5-DD8F1F1B0720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421FF-DD4D-4439-8468-B4C88A8DC5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013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7" name="Google Shape;837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838" name="Google Shape;838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492188"/>
            <a:ext cx="1036289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全網最齊全的新手短影音入門攻略</a:t>
            </a:r>
            <a:endParaRPr lang="en-US"/>
          </a:p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《短影音教學系列 EP1》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255546"/>
            <a:ext cx="39620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流量與時代背景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流量是生意的關鍵</a:t>
            </a:r>
            <a:r>
              <a:rPr b="0">
                <a:solidFill>
                  <a:srgbClr val="334155"/>
                </a:solidFill>
              </a:rPr>
              <a:t>：業績 = 流量 × 轉換率 × 客單價 × 回購率。若流量為 0，後面的表現再好，最終的業績也依然是 0。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時代的流量紅利</a:t>
            </a:r>
            <a:r>
              <a:rPr b="0">
                <a:solidFill>
                  <a:srgbClr val="334155"/>
                </a:solidFill>
              </a:rPr>
              <a:t>：每個時代都有其流量紅利，如 2010 年的部落格、2014 年的 Facebook、2017 年的直播、2019 年的蝦皮。我們這個時代的流量紅利就是「短影音」。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流量與時代背景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944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8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sz="24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短影音的優勢</a:t>
            </a:r>
            <a:r>
              <a:rPr lang="zh-TW" altLang="en-US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lang="en-US" altLang="zh-TW" sz="2500" b="1">
                <a:solidFill>
                  <a:srgbClr val="7DD3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lang="zh-TW" altLang="en-US" sz="24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視覺張力強</a:t>
            </a:r>
            <a:r>
              <a:rPr lang="zh-TW" altLang="en-US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：直式滿版螢幕，視覺感受更具張力。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lang="en-US" altLang="zh-TW" sz="2500" b="1">
                <a:solidFill>
                  <a:srgbClr val="7DD3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lang="zh-TW" altLang="en-US" sz="24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高效吸收與多巴胺刺激</a:t>
            </a:r>
            <a:r>
              <a:rPr lang="zh-TW" altLang="en-US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：短時間內提供高密度資訊，持續刺激受眾多巴胺，讓人一直想看下去。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演算法紅利</a:t>
            </a:r>
            <a:r>
              <a:rPr b="0">
                <a:solidFill>
                  <a:srgbClr val="334155"/>
                </a:solidFill>
              </a:rPr>
              <a:t>：各大平台（Meta 的 Reels、YouTube 的 Shorts）為與 TikTok（抖音）競爭，提供極高演算法流量支持。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賺錢篇：短影音的四種變現方法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1. </a:t>
            </a:r>
            <a:r>
              <a:rPr b="1">
                <a:solidFill>
                  <a:srgbClr val="0369A1"/>
                </a:solidFill>
              </a:rPr>
              <a:t>平台分潤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YouTube Shorts 雖有分潤，但門檻極高。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Facebook 目前提供創作者流量分潤，門檻相對親民（例如講師分享一篇高互動貼文獲得 18.37 美元，住院影片獲得 34.56 美元，每月可帶來約 6,000 元 NTD 的額外收入）。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賺錢篇：短影音的四種變現方法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80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業配收入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500">
                <a:latin typeface="Microsoft JhengHei"/>
              </a:defRPr>
            </a:pPr>
            <a:r>
              <a:rPr kumimoji="0" lang="en-US" altLang="zh-TW" sz="2500" b="1" i="0" u="none" strike="noStrike" kern="1200" cap="none" spc="0" normalizeH="0" baseline="0" noProof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流量做起來後，廠商會主動洽談合作。例如學員「彩妝師米妮」拍美妝開箱吸引保養品廠商；禮儀師學員「凱浩」因穿搭有型接到西裝業配。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講師在 ShiFu 平台業配手機攝影世界冠軍 Paddy（趙培均）的課程帶來 39.8 萬元 NTD 業績，業配超級個體工作坊帶來 123 萬元 NTD 業績。若來者不拒，單靠業配月收入可達 12 萬元 NTD 以上。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B129A-0BC2-F3E3-0116-023713EA5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1922BC-DF81-4EDC-CB62-9C63E55CF7EB}"/>
              </a:ext>
            </a:extLst>
          </p:cNvPr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0C0555-D5E3-0D61-4FBA-FCFD00129B85}"/>
              </a:ext>
            </a:extLst>
          </p:cNvPr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BB5B29-358E-EE1A-6115-33151F5FB998}"/>
              </a:ext>
            </a:extLst>
          </p:cNvPr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賺錢篇：短影音的四種變現方法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E07B3-E4FF-1AEF-C44D-D5D765A4F36F}"/>
              </a:ext>
            </a:extLst>
          </p:cNvPr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CB7A9E-E9E2-62AB-2A5A-F81FDB9009D8}"/>
              </a:ext>
            </a:extLst>
          </p:cNvPr>
          <p:cNvSpPr txBox="1"/>
          <p:nvPr/>
        </p:nvSpPr>
        <p:spPr>
          <a:xfrm>
            <a:off x="731520" y="1691640"/>
            <a:ext cx="10725912" cy="188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3. </a:t>
            </a:r>
            <a:r>
              <a:rPr b="1">
                <a:solidFill>
                  <a:srgbClr val="0369A1"/>
                </a:solidFill>
              </a:rPr>
              <a:t>代操服務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不為自己拍，而是用短影音技能協助業主/廠商代操。市場上代操一支影片費用在 3,000 至 20,000 元 NTD 不等。若月產 30 支，可帶來數十萬元收入。有學員靠短影音代操年營收突破 500 萬元 NTD。</a:t>
            </a:r>
          </a:p>
        </p:txBody>
      </p:sp>
    </p:spTree>
    <p:extLst>
      <p:ext uri="{BB962C8B-B14F-4D97-AF65-F5344CB8AC3E}">
        <p14:creationId xmlns:p14="http://schemas.microsoft.com/office/powerpoint/2010/main" val="165304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賺錢篇：短影音的四種變現方法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4. </a:t>
            </a: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本業變現（最大利潤來源）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kumimoji="0" lang="en-US" altLang="zh-TW" sz="2800" b="0" i="0" u="none" strike="noStrike" kern="1200" cap="none" spc="0" normalizeH="0" baseline="0" noProof="0">
              <a:ln>
                <a:noFill/>
              </a:ln>
              <a:solidFill>
                <a:srgbClr val="334155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利用短影音引流到本業的課程或服務。例如「彩妝師米妮」的實體彩妝課一位難求；講師團隊操作「陳信安的籃球課」短影音，獲得 1,000 多萬次自然觀看，以及愛紗的線上課、Melody 的課程等，創造數千萬元台幣的本業產值。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核心邏輯：先賣「人」，再賣「商品」。觀眾因為喜歡你這個人，進而支持你的商品或服務。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企劃篇：帳號定位、選題與人設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691640"/>
            <a:ext cx="10940527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帳號取名公式（C6 選 2）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從地區、行業、身分、暱稱等六個元素中，挑選兩個進行排列組合。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實例：「來莿桐找 Sandy」（地區 + 暱稱）、「來大稻埕找尼克」（地區 + 暱稱）、「民生社區老郭」（地區 + 暱稱）、「藍太太好生活」（暱稱 + 理念）。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萬用敘事欄公式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核心架構：你是誰 + 有什麼值得炫耀的成就/特點 + 能帶給用戶什麼價值。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實例：「我是平哥，深耕台中房產 10 年，人稱台中活地圖。我會給你最新的台中買房乾貨。」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企劃篇：帳號定位、選題與人設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691640"/>
            <a:ext cx="10994315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服化道精心設計（重複形象）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透過鮮明形象重複出現，加深觀眾記憶。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*實例*：Sandy 穿白襯衫、戴草帽與黑手套（農田間的 CEO 反差感）；尼克在脖子上掛大蒜；邱老闆穿經典藍色牛津襯衫，手上拿大院子飲料。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人設類型選擇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專家型人設</a:t>
            </a:r>
            <a:r>
              <a:rPr b="0">
                <a:solidFill>
                  <a:srgbClr val="334155"/>
                </a:solidFill>
              </a:rPr>
              <a:t>：強調專業與權威，漲粉快但容錯率低，容易招致酸民挑刺，一旦講錯容易人設崩塌。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成長型人設（推薦）</a:t>
            </a:r>
            <a:r>
              <a:rPr b="0">
                <a:solidFill>
                  <a:srgbClr val="334155"/>
                </a:solidFill>
              </a:rPr>
              <a:t>：定位為「正在學習並稍微領先的小白」，態度謙虛，錯了就改，粉絲黏著度極高且不易翻車。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企劃篇：帳號定位、選題與人設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113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三個選題靈感來源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YouTube 觀看數排行</a:t>
            </a:r>
            <a:r>
              <a:rPr b="0">
                <a:solidFill>
                  <a:srgbClr val="334155"/>
                </a:solidFill>
              </a:rPr>
              <a:t>：搜尋同領域關鍵字，依觀看次數由高到低排序，直接找出具有流量基本盤的話題（例如 Costo 開箱天花板可達 300 萬觀看，微風超市開箱僅 10 萬觀看）。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Google 關鍵字規劃工具 (Keyword Planner)</a:t>
            </a:r>
            <a:r>
              <a:rPr b="0">
                <a:solidFill>
                  <a:srgbClr val="334155"/>
                </a:solidFill>
              </a:rPr>
              <a:t>：用搜尋數據決定選題。例如決定八字、風水、相面課程比重（八字月搜尋 10 幾萬，風水 5 萬，相面 5,000，最後決定三者都教以取得最大流量）。</a:t>
            </a:r>
            <a:endParaRPr lang="en-US" b="0">
              <a:solidFill>
                <a:srgbClr val="334155"/>
              </a:solidFill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500">
                <a:latin typeface="Microsoft JhengHei"/>
              </a:defRPr>
            </a:pPr>
            <a:r>
              <a:rPr kumimoji="0" lang="en-US" altLang="zh-TW" sz="2500" b="1" i="0" u="none" strike="noStrike" kern="1200" cap="none" spc="0" normalizeH="0" baseline="0" noProof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kumimoji="0" lang="zh-TW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抖音熱門影片分析</a:t>
            </a: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：在中國抖音的熱門類別中，擷取流量前 </a:t>
            </a:r>
            <a:r>
              <a:rPr kumimoji="0" lang="en-US" altLang="zh-TW" sz="25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10 </a:t>
            </a: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名的影片，用自己的理解與語言重新拍攝。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企劃篇：帳號定位、選題與人設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80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用故事包裝專業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觀眾滑短影音多處於放鬆或娛樂場景，生硬的專業知識不易被接受，應改用故事包裝。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實例：講師不生硬推銷 ShiFu 平台，而是拍自己的創業故事（電商失敗到創辦線上課程平台），獲得 40 萬觀看，成功建立信任。二手車行學員拍放棄工作回家幫忙爸爸的創業故事，在臉書獲得 80 萬觀看。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企劃篇：帳號定位、選題與人設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80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黃金企劃與系列感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建立固定腳本架構（如 Sandy 的：開頭 ➔ 介紹 ➔ 體驗 ➔ 收尾），每次寫腳本只需套入新元素（如開箱不同農田、吃不同小吃）。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製作系列型挑戰（如「挑戰跟 100 個陌生人單挑籃球」、「挑戰跟 100 個創業成功的企業家探討賺錢方式」），利用「連載」建立期待感，引導用戶訂閱並回看先前影片。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0FFE8-B6EB-7F3A-6A44-B613F265F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D3DC51-5B5E-5534-1E63-7BF971295DAA}"/>
              </a:ext>
            </a:extLst>
          </p:cNvPr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2D24A6-E6A2-FC9F-9BD8-C757BC25D1C8}"/>
              </a:ext>
            </a:extLst>
          </p:cNvPr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CD4C3-E49C-8101-90F2-D26C7D9D7FD9}"/>
              </a:ext>
            </a:extLst>
          </p:cNvPr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企劃篇：帳號定位、選題與人設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B5BEDB-F90E-70D9-7C25-71DAE0332287}"/>
              </a:ext>
            </a:extLst>
          </p:cNvPr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9E0591-0727-DE9A-A7FE-19395A6BEF7C}"/>
              </a:ext>
            </a:extLst>
          </p:cNvPr>
          <p:cNvSpPr txBox="1"/>
          <p:nvPr/>
        </p:nvSpPr>
        <p:spPr>
          <a:xfrm>
            <a:off x="731520" y="1691640"/>
            <a:ext cx="10725912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上一層思維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避免將話題鎖死在單一窄領域。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實例：賣食材的教做菜；教英文的講美日文化差異；教短影音的延伸到創業、財商、自我成長等，上一層話題往往流量更大，能有效吸引中小企業主、業務、個人創業者等目標客群。</a:t>
            </a:r>
          </a:p>
        </p:txBody>
      </p:sp>
    </p:spTree>
    <p:extLst>
      <p:ext uri="{BB962C8B-B14F-4D97-AF65-F5344CB8AC3E}">
        <p14:creationId xmlns:p14="http://schemas.microsoft.com/office/powerpoint/2010/main" val="1814392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製作篇：器材、影片類型與剪輯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339892" cy="280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拍攝器材選擇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手機為主</a:t>
            </a:r>
            <a:r>
              <a:rPr b="0">
                <a:solidFill>
                  <a:srgbClr val="334155"/>
                </a:solidFill>
              </a:rPr>
              <a:t>：降低開始的門檻與心理壓力，不建議一開始投入高昂相機、燈光與團隊成本，避免流量不如預期時心態崩潰。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收音與燈光</a:t>
            </a:r>
            <a:r>
              <a:rPr b="0">
                <a:solidFill>
                  <a:srgbClr val="334155"/>
                </a:solidFill>
              </a:rPr>
              <a:t>：除非風切聲過大才使用外接麥克風（如 RODE、Saramonic），否則手機內建收音已足夠自然。光源以自然陽光最佳，夜間拍攝可站在兩個路燈中間。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製作篇：器材、影片類型與剪輯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083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32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sz="28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五種影片呈現形式</a:t>
            </a:r>
            <a:r>
              <a:rPr lang="zh-TW" altLang="en-US" sz="28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lang="en-US" altLang="zh-TW" sz="2500" b="1">
                <a:solidFill>
                  <a:srgbClr val="7DD3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lang="zh-TW" altLang="en-US" sz="24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口播（對鏡頭說話）</a:t>
            </a:r>
            <a:r>
              <a:rPr lang="zh-TW" altLang="en-US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：最基礎的呈現形式。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lang="en-US" altLang="zh-TW" sz="2500" b="1">
                <a:solidFill>
                  <a:srgbClr val="7DD3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lang="zh-TW" altLang="en-US" sz="24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圖片 </a:t>
            </a:r>
            <a:r>
              <a:rPr lang="en-US" altLang="zh-TW" sz="24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 </a:t>
            </a:r>
            <a:r>
              <a:rPr lang="zh-TW" altLang="en-US" sz="24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口播</a:t>
            </a:r>
            <a:r>
              <a:rPr lang="zh-TW" altLang="en-US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：穿插圖片以豐富畫面（如分享過去辛苦經歷時放入銀行存款截圖）。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影片 + 口播</a:t>
            </a:r>
            <a:r>
              <a:rPr b="0">
                <a:solidFill>
                  <a:srgbClr val="334155"/>
                </a:solidFill>
              </a:rPr>
              <a:t>：穿插 Vlog 等影片素材。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切片</a:t>
            </a:r>
            <a:r>
              <a:rPr b="0">
                <a:solidFill>
                  <a:srgbClr val="334155"/>
                </a:solidFill>
              </a:rPr>
              <a:t>：將長視頻（如 Podcast、直播、長片）的精華片段剪輯成多個短影音發布。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劇情片</a:t>
            </a:r>
            <a:r>
              <a:rPr b="0">
                <a:solidFill>
                  <a:srgbClr val="334155"/>
                </a:solidFill>
              </a:rPr>
              <a:t>：需要寫劇本、分鏡、找演員，門檻較高，不建議新手初期嘗試。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532C1-71EC-9BF9-027E-934094681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70171D-88BD-0F5B-5213-6D1FE978963E}"/>
              </a:ext>
            </a:extLst>
          </p:cNvPr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27C7D6-1C4C-7CEA-5192-757EDD76570D}"/>
              </a:ext>
            </a:extLst>
          </p:cNvPr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608F25-166D-96B3-91AE-E24F2F3BEBB6}"/>
              </a:ext>
            </a:extLst>
          </p:cNvPr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製作篇：器材、影片類型與剪輯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3E57C6-B44D-DE56-5FFD-72EB2BE0B2DC}"/>
              </a:ext>
            </a:extLst>
          </p:cNvPr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3FF781-D4F5-D765-6913-09C90A34A96C}"/>
              </a:ext>
            </a:extLst>
          </p:cNvPr>
          <p:cNvSpPr txBox="1"/>
          <p:nvPr/>
        </p:nvSpPr>
        <p:spPr>
          <a:xfrm>
            <a:off x="731520" y="1691640"/>
            <a:ext cx="10725912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32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sz="2800" b="1">
                <a:solidFill>
                  <a:srgbClr val="0369A1"/>
                </a:solidFill>
              </a:rPr>
              <a:t>剪輯軟體推薦</a:t>
            </a:r>
            <a:r>
              <a:rPr sz="2800"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推薦使用</a:t>
            </a:r>
            <a:r>
              <a:rPr b="1">
                <a:solidFill>
                  <a:srgbClr val="0369A1"/>
                </a:solidFill>
              </a:rPr>
              <a:t>剪映（國際版為 CapCut）</a:t>
            </a:r>
            <a:r>
              <a:rPr b="0">
                <a:solidFill>
                  <a:srgbClr val="334155"/>
                </a:solidFill>
              </a:rPr>
              <a:t>，功能傻瓜且學習曲線平緩，適合新手快速產出。不建議新手將過多資源花在學習 Final Cut 或 Premiere 的複雜技術上。</a:t>
            </a:r>
          </a:p>
        </p:txBody>
      </p:sp>
    </p:spTree>
    <p:extLst>
      <p:ext uri="{BB962C8B-B14F-4D97-AF65-F5344CB8AC3E}">
        <p14:creationId xmlns:p14="http://schemas.microsoft.com/office/powerpoint/2010/main" val="2930119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五、 運營與心態篇：分發、頻率與心態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多平台全網分發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「賽馬不猜馬」，將影片同時發布至 Facebook、Instagram Reels、YouTube Shorts、Threads、小紅書等。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根據數據反饋調整後續加碼策略（如 YouTube 表現好就加做長片，IG 表現好就多發限動，FB 表現好就開直播）。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發片頻率與持續性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最好的方式是「日更」以加深觀眾記憶。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若壓力過大，可降至一週兩更或至少一更。重點在於持續不中斷，「停止拍片才是真正的失敗」。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五、 運營與心態篇：分發、頻率與心態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不露臉的替代方案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露臉最能建立信任。若真的抗拒，可採取戴口罩，或以 Vlog 形式（影片 + 口播配音）呈現。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先行動再修正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「成功不是給準備好的人，是給開始的人。」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拍片前 80% 的煩惱往往不會發生，而拍片後 80% 的問題通常是預想不到的。先行動、再複盤，逐步修正優化即可。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關鍵行動清單 (Action Items)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42729"/>
            <a:ext cx="10725912" cy="481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sz="2400" b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sz="24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立即開拍</a:t>
            </a:r>
            <a:r>
              <a:rPr sz="2400" b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：不找藉口，拿起手機，使用前鏡頭錄製第一支口播影片（如以自我介紹或創業故事開始）。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sz="2400" b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sz="24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規劃 C6 取 2 帳號名稱</a:t>
            </a:r>
            <a:r>
              <a:rPr sz="2400" b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：挑選地區、行業、身分或暱稱中的兩個元素，為自己的短影音帳號命名。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sz="2400" b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sz="24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撰寫萬用敘事欄</a:t>
            </a:r>
            <a:r>
              <a:rPr sz="2400" b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：用「我是誰 + 成就/特質 + 用戶價值」公式完成帳號簡介。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sz="2400" b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 </a:t>
            </a:r>
            <a:r>
              <a:rPr sz="24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尋找熱門選題</a:t>
            </a:r>
            <a:r>
              <a:rPr sz="2400" b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：透過 YouTube 依觀看數排序或 Google 關鍵字工具，找出自身領域的流量基本盤話題。</a:t>
            </a:r>
            <a:endParaRPr lang="en-US" sz="2400" b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en-US" altLang="zh-TW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5. </a:t>
            </a:r>
            <a:r>
              <a:rPr lang="zh-TW" altLang="en-US" sz="24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建立全網分發工作流</a:t>
            </a:r>
            <a:r>
              <a:rPr lang="zh-TW" altLang="en-US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：使用剪映完成快速剪輯後，同時上傳至 </a:t>
            </a:r>
            <a:r>
              <a:rPr lang="en-US" altLang="zh-TW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FB</a:t>
            </a:r>
            <a:r>
              <a:rPr lang="zh-TW" altLang="en-US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IG</a:t>
            </a:r>
            <a:r>
              <a:rPr lang="zh-TW" altLang="en-US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YouTube</a:t>
            </a:r>
            <a:r>
              <a:rPr lang="zh-TW" altLang="en-US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，不猜測平台，讓數據說話。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552" y="2393576"/>
            <a:ext cx="1036289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短影音的 16 條關鍵心法</a:t>
            </a:r>
            <a:endParaRPr lang="en-US"/>
          </a:p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《短影音教學系列 EP2》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952" y="4161416"/>
            <a:ext cx="39620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流量與定位篇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691640"/>
            <a:ext cx="11094415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1. 流量秘密：話題的基本盤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流量的本質</a:t>
            </a:r>
            <a:r>
              <a:rPr b="0">
                <a:solidFill>
                  <a:srgbClr val="334155"/>
                </a:solidFill>
              </a:rPr>
              <a:t>：流量是由話題的「基本盤」決定，而非純粹的技術。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擴大基本盤的方法</a:t>
            </a:r>
            <a:r>
              <a:rPr b="0">
                <a:solidFill>
                  <a:srgbClr val="334155"/>
                </a:solidFill>
              </a:rPr>
              <a:t>：一個字「</a:t>
            </a:r>
            <a:r>
              <a:rPr b="1">
                <a:solidFill>
                  <a:srgbClr val="0369A1"/>
                </a:solidFill>
              </a:rPr>
              <a:t>蹭</a:t>
            </a:r>
            <a:r>
              <a:rPr b="0">
                <a:solidFill>
                  <a:srgbClr val="334155"/>
                </a:solidFill>
              </a:rPr>
              <a:t>」——蹭名人、蹭熱門話題、蹭時事（例如：黑白大廚、單身即地獄、ChatGPT 等）。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轉化技巧</a:t>
            </a:r>
            <a:r>
              <a:rPr b="0">
                <a:solidFill>
                  <a:srgbClr val="334155"/>
                </a:solidFill>
              </a:rPr>
              <a:t>：不要講枯燥的純專業理論（如公司考核、廣告理論），要與大眾感興趣的話題或知名案例結合（如 Netflix 如何激勵員工、星巴克買大杯為何刮算）。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流量與定位篇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922598" cy="3842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專業錯位：降維打擊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專家的盲點</a:t>
            </a:r>
            <a:r>
              <a:rPr b="0">
                <a:solidFill>
                  <a:srgbClr val="334155"/>
                </a:solidFill>
              </a:rPr>
              <a:t>：只想講自己想講的，且容易把簡單的知識講得太複雜，甚至在意同行看法。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解法</a:t>
            </a:r>
            <a:r>
              <a:rPr b="0">
                <a:solidFill>
                  <a:srgbClr val="334155"/>
                </a:solidFill>
              </a:rPr>
              <a:t>：運用自己的專業知識去解讀其他生活領域的事情。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實例：中醫師不講本草綱目，而是用中醫理論去解釋「找對象要找好色的（因為腎氣足）」，短時間內收穫高流量。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實例：將商學/經濟學知識套用在生活情境（如「辦婚禮是沉默成本」）。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流量與定位篇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不要思考：</a:t>
            </a: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Open Book 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考試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不要憑空猜測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99% 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你想拍的企劃在網路上早就有人拍過且驗證過了。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操作方式</a:t>
            </a:r>
            <a:r>
              <a:rPr b="0">
                <a:solidFill>
                  <a:srgbClr val="334155"/>
                </a:solidFill>
              </a:rPr>
              <a:t>：在 YouTube 搜尋關鍵字，將篩選條件設為「觀看次數從高到低」排列，即可知道大眾真正感興趣的話題是什麼（例：新手健身最常用的 10 個器材、如何開戶等基礎內容）。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流量與定位篇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842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4. 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不講乾貨：以娛樂包裝專業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滑短影音的場景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：觀眾通常是在放鬆、通勤、睡前或上廁所時觀看，這是一個娛樂場景（如同逛夜市）。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操作方式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：降低維度，用娛樂與故事包裝專業知識。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500">
                <a:latin typeface="Microsoft JhengHei"/>
              </a:defRPr>
            </a:pPr>
            <a:r>
              <a:rPr kumimoji="0" lang="en-US" altLang="zh-TW" sz="2500" b="1" i="0" u="none" strike="noStrike" kern="1200" cap="none" spc="0" normalizeH="0" baseline="0" noProof="0">
                <a:ln>
                  <a:noFill/>
                </a:ln>
                <a:solidFill>
                  <a:srgbClr val="7DD3FC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實例：不乾講古文，而是講「唐代詩人元稹如何是個大渣男」。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b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實例：英文教學不背單字，而是教大家名牌精品（如 Hermes, LV）如何發音。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製作與剪輯篇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5. 最低成本：減少開始的阻力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流量與成本無關</a:t>
            </a:r>
            <a:r>
              <a:rPr b="0">
                <a:solidFill>
                  <a:srgbClr val="334155"/>
                </a:solidFill>
              </a:rPr>
              <a:t>：高成本製作不等於高流量，低成本影片（如 AI 工具教學、飛機上隨手拍淹水）反而容易爆紅。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操作建議</a:t>
            </a:r>
            <a:r>
              <a:rPr b="0">
                <a:solidFill>
                  <a:srgbClr val="334155"/>
                </a:solidFill>
              </a:rPr>
              <a:t>：拿起隨身手機直接拍，甚至不用外接麥克風。器材越少、阻力越小，越容易開始與堅持。不要一開始就投入大量資金購買相機、燈光，否則一旦流量不如預期，心態極易崩潰。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C3319-4690-D65E-966F-6F15EFB1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2AB430-D71F-2205-6784-566501AF7842}"/>
              </a:ext>
            </a:extLst>
          </p:cNvPr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35E5C2-E00D-7175-38C8-250F2F458689}"/>
              </a:ext>
            </a:extLst>
          </p:cNvPr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F3922-3398-2146-BA23-9BE066256481}"/>
              </a:ext>
            </a:extLst>
          </p:cNvPr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製作與剪輯篇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3FDBF1-1070-8E02-3F6B-24C75527BD70}"/>
              </a:ext>
            </a:extLst>
          </p:cNvPr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227AFC-5EC8-1D05-4771-3270A62F03BE}"/>
              </a:ext>
            </a:extLst>
          </p:cNvPr>
          <p:cNvSpPr txBox="1"/>
          <p:nvPr/>
        </p:nvSpPr>
        <p:spPr>
          <a:xfrm>
            <a:off x="731520" y="1543361"/>
            <a:ext cx="10725912" cy="4919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6. 口播為王：最完美的創作方式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口播定義</a:t>
            </a:r>
            <a:r>
              <a:rPr b="0">
                <a:solidFill>
                  <a:srgbClr val="334155"/>
                </a:solidFill>
              </a:rPr>
              <a:t>：拿起相機直接對著鏡頭說話。</a:t>
            </a:r>
            <a:endParaRPr lang="en-US" b="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32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口播三大技巧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lang="en-US" altLang="zh-TW" sz="2800" b="1">
                <a:solidFill>
                  <a:srgbClr val="7DD3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堅決用前鏡頭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：雖然會犧牲一點畫質，但能隨時掌握畫面與錄製狀態，心理更安定，減少沒錄到或切到臉的失誤。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lang="en-US" altLang="zh-TW" sz="2800" b="1">
                <a:solidFill>
                  <a:srgbClr val="7DD3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初期先看稿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：不需要刻意背稿。可以先寫下列點，看一段、消化完、講一段，比呆滯地看著提詞機更自然。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lang="en-US" altLang="zh-TW" sz="2800" b="1">
                <a:solidFill>
                  <a:srgbClr val="7DD3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尋找對象模仿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：新手最快的學習方式就是一句一句模仿喜歡的創作者（如股癌的厭世感、游庭皓的一本正經），久了自然會長出自己的風格。</a:t>
            </a:r>
          </a:p>
        </p:txBody>
      </p:sp>
    </p:spTree>
    <p:extLst>
      <p:ext uri="{BB962C8B-B14F-4D97-AF65-F5344CB8AC3E}">
        <p14:creationId xmlns:p14="http://schemas.microsoft.com/office/powerpoint/2010/main" val="2206823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製作與剪輯篇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7. 光速剪輯：善用 AI 工具</a:t>
            </a:r>
            <a:endParaRPr lang="en-US" b="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8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剪輯門檻極低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：利用現成剪輯軟體（</a:t>
            </a:r>
            <a:r>
              <a:rPr lang="en-US" altLang="zh-TW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IG Edit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、剪映</a:t>
            </a:r>
            <a:r>
              <a:rPr lang="en-US" altLang="zh-TW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/CapCut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），導入影片後使用 </a:t>
            </a:r>
            <a:r>
              <a:rPr lang="en-US" altLang="zh-TW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自動上字幕。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8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工作流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：自動生成字幕（準確度約 </a:t>
            </a:r>
            <a:r>
              <a:rPr lang="en-US" altLang="zh-TW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95%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 進行修剪與錯字微調，一分鐘即可完成一支影片。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製作與剪輯篇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41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8. 刻意自然：六字口訣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自然需要練習</a:t>
            </a:r>
            <a:r>
              <a:rPr b="0">
                <a:solidFill>
                  <a:srgbClr val="334155"/>
                </a:solidFill>
              </a:rPr>
              <a:t>：做自己是最困難的。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口播六字口訣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不高音</a:t>
            </a:r>
            <a:r>
              <a:rPr b="0">
                <a:solidFill>
                  <a:srgbClr val="334155"/>
                </a:solidFill>
              </a:rPr>
              <a:t>：說話尾音不要刻意上揚，避免聽起來像演講比賽或廣告台詞。</a:t>
            </a:r>
            <a:endParaRPr lang="en-US" b="0">
              <a:solidFill>
                <a:srgbClr val="334155"/>
              </a:solidFill>
            </a:endParaRP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lang="en-US" altLang="zh-TW" sz="2500" b="1">
                <a:solidFill>
                  <a:srgbClr val="7DD3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不卡頓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：不要在句子中做過多的停頓，保持語速流暢，避免觀眾失去耐心滑走。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平台分發與變現篇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9. 全網分發：賽馬不猜馬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多平台同時上傳</a:t>
            </a:r>
            <a:r>
              <a:rPr b="0">
                <a:solidFill>
                  <a:srgbClr val="334155"/>
                </a:solidFill>
              </a:rPr>
              <a:t>：Facebook、IG、YouTube、TikTok、Threads 等，反正開帳號和上傳影片都免費。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平台差異</a:t>
            </a:r>
            <a:r>
              <a:rPr b="0">
                <a:solidFill>
                  <a:srgbClr val="334155"/>
                </a:solidFill>
              </a:rPr>
              <a:t>：不同平台吸引的受眾不同，只要在一個平台上取得成功就足夠。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實例：客戶 Sandy 的農會貸款影片在 Facebook 獲得 70 萬觀看並帶來 2 億營收，但在 IG 上卻只有幾千觀看。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迭代策略</a:t>
            </a:r>
            <a:r>
              <a:rPr b="0">
                <a:solidFill>
                  <a:srgbClr val="334155"/>
                </a:solidFill>
              </a:rPr>
              <a:t>：根據數據結果加碼（如 FB 表現好就做直播，IG 好就發限動，YouTube Shorts 好就考慮拍長片）。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平台分發與變現篇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221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10. 變現秘密：公域流量轉私域流量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流量分類</a:t>
            </a:r>
            <a:r>
              <a:rPr b="0">
                <a:solidFill>
                  <a:srgbClr val="334155"/>
                </a:solidFill>
              </a:rPr>
              <a:t>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公域流量</a:t>
            </a:r>
            <a:r>
              <a:rPr b="0">
                <a:solidFill>
                  <a:srgbClr val="334155"/>
                </a:solidFill>
              </a:rPr>
              <a:t>（平台演算法控制）：如 FB, IG, YouTube。無法自主掌控，帳號隨時有被封鎖的風險。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私域流量</a:t>
            </a:r>
            <a:r>
              <a:rPr b="0">
                <a:solidFill>
                  <a:srgbClr val="334155"/>
                </a:solidFill>
              </a:rPr>
              <a:t>（自己掌控的名單）：如 LINE 官方帳號、EDM。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核心邏輯</a:t>
            </a:r>
            <a:r>
              <a:rPr b="0">
                <a:solidFill>
                  <a:srgbClr val="334155"/>
                </a:solidFill>
              </a:rPr>
              <a:t>：利用短影音的公域流量，將人引導並留存到私域流量（如 LINE），當需要溝通或銷售時，可以直接發送訊息，不需再依賴演算法。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平台分發與變現篇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11. 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不要省錢：投資效率與能力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時間與金錢的對價</a:t>
            </a:r>
            <a:r>
              <a:rPr b="0">
                <a:solidFill>
                  <a:srgbClr val="334155"/>
                </a:solidFill>
              </a:rPr>
              <a:t>：省錢心態（如不捨得花錢買自動字幕軟體、ChatGPT 訂閱費）會浪費大量時間，損害效率。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核心觀念</a:t>
            </a:r>
            <a:r>
              <a:rPr b="0">
                <a:solidFill>
                  <a:srgbClr val="334155"/>
                </a:solidFill>
              </a:rPr>
              <a:t>：省錢是傷害效率，投資是在增加能力。短期省錢</a:t>
            </a:r>
            <a:r>
              <a:rPr lang="zh-TW" altLang="en-US" b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b="0">
                <a:solidFill>
                  <a:srgbClr val="334155"/>
                </a:solidFill>
              </a:rPr>
              <a:t>代價，是由未來的自己買單。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EF92A-82DF-4080-3BD1-EAD15845E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A562D5-9502-89C2-22FF-FFDE13D97061}"/>
              </a:ext>
            </a:extLst>
          </p:cNvPr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552095-C62B-BA94-BFF4-EEE0C88AEBA2}"/>
              </a:ext>
            </a:extLst>
          </p:cNvPr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F9CEC4-EF71-B9C1-F646-9B3751100D94}"/>
              </a:ext>
            </a:extLst>
          </p:cNvPr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平台分發與變現篇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C97ECB-9363-C56D-BFB9-13A9A4C072DB}"/>
              </a:ext>
            </a:extLst>
          </p:cNvPr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A8DFE9-78F7-AFE9-4260-EAF4FE2F50D9}"/>
              </a:ext>
            </a:extLst>
          </p:cNvPr>
          <p:cNvSpPr txBox="1"/>
          <p:nvPr/>
        </p:nvSpPr>
        <p:spPr>
          <a:xfrm>
            <a:off x="731520" y="1691640"/>
            <a:ext cx="10725912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8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en-US" altLang="zh-TW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12. 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不要投廣：以內容為本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8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平台的廣告機制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：平台用高廣告費懲罰差的內容，用便宜的廣告費獎勵好的內容。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8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正確順序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：先將內容做到「不投廣告也能獲得流量」，再透過廣告的槓桿效應去放大成果。</a:t>
            </a:r>
          </a:p>
        </p:txBody>
      </p:sp>
    </p:spTree>
    <p:extLst>
      <p:ext uri="{BB962C8B-B14F-4D97-AF65-F5344CB8AC3E}">
        <p14:creationId xmlns:p14="http://schemas.microsoft.com/office/powerpoint/2010/main" val="1011675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創作者心態篇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13. 會說故事：建立認同與信任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自我介紹故事</a:t>
            </a:r>
            <a:r>
              <a:rPr b="0">
                <a:solidFill>
                  <a:srgbClr val="334155"/>
                </a:solidFill>
              </a:rPr>
              <a:t>（陌生人</a:t>
            </a:r>
            <a:r>
              <a:rPr lang="zh-TW" altLang="en-US" b="0">
                <a:solidFill>
                  <a:srgbClr val="334155"/>
                </a:solidFill>
              </a:rPr>
              <a:t> → </a:t>
            </a:r>
            <a:r>
              <a:rPr b="0">
                <a:solidFill>
                  <a:srgbClr val="334155"/>
                </a:solidFill>
              </a:rPr>
              <a:t>認識/認同）：預設觀眾不認識你，第一支影片應以自我介紹故事開始。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案例故事</a:t>
            </a:r>
            <a:r>
              <a:rPr b="0">
                <a:solidFill>
                  <a:srgbClr val="334155"/>
                </a:solidFill>
              </a:rPr>
              <a:t>（相信</a:t>
            </a:r>
            <a:r>
              <a:rPr lang="zh-TW" altLang="en-US" b="0">
                <a:solidFill>
                  <a:srgbClr val="334155"/>
                </a:solidFill>
              </a:rPr>
              <a:t> </a:t>
            </a:r>
            <a:r>
              <a:rPr lang="zh-TW" altLang="en-US">
                <a:solidFill>
                  <a:srgbClr val="334155"/>
                </a:solidFill>
              </a:rPr>
              <a:t>→ </a:t>
            </a:r>
            <a:r>
              <a:rPr b="0">
                <a:solidFill>
                  <a:srgbClr val="334155"/>
                </a:solidFill>
              </a:rPr>
              <a:t>客戶）：講述如何協助客戶成功的案例，證明自己的實力（如講師分享代操 Sandy 農會的案例，帶來大量客戶諮詢）。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核心理念</a:t>
            </a:r>
            <a:r>
              <a:rPr b="0">
                <a:solidFill>
                  <a:srgbClr val="334155"/>
                </a:solidFill>
              </a:rPr>
              <a:t>：先賣人，再賣商品。大家認同你這個人後，賣什麼都容易。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創作者心態篇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en-US" altLang="zh-TW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14. </a:t>
            </a:r>
            <a:r>
              <a:rPr kumimoji="0" lang="zh-TW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不怕丟臉：克服限制性信念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邏輯推導</a:t>
            </a:r>
            <a:r>
              <a:rPr b="0">
                <a:solidFill>
                  <a:srgbClr val="334155"/>
                </a:solidFill>
              </a:rPr>
              <a:t>：流量高代表很厲害；流量低代表根本沒人看到，所以都不丟臉。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反思</a:t>
            </a:r>
            <a:r>
              <a:rPr b="0">
                <a:solidFill>
                  <a:srgbClr val="334155"/>
                </a:solidFill>
              </a:rPr>
              <a:t>：真正丟臉的是那些自己不拍片卻只會嘲笑他人的人。新手初期的「丟臉練習」是通往成功的必經之路。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9EF7E-060A-23A0-8179-28C4ECB9C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851B5D-A48C-FFD3-5DBF-334509A83335}"/>
              </a:ext>
            </a:extLst>
          </p:cNvPr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042B4F-FAB9-BEF6-244E-8C8D53459614}"/>
              </a:ext>
            </a:extLst>
          </p:cNvPr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2F63DF-22AC-8582-DB37-6EF7D32A8D9D}"/>
              </a:ext>
            </a:extLst>
          </p:cNvPr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創作者心態篇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E115E8-3690-BB07-CA68-2633F9ED267F}"/>
              </a:ext>
            </a:extLst>
          </p:cNvPr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FA38C-120A-2079-0B27-67FB33CA58B9}"/>
              </a:ext>
            </a:extLst>
          </p:cNvPr>
          <p:cNvSpPr txBox="1"/>
          <p:nvPr/>
        </p:nvSpPr>
        <p:spPr>
          <a:xfrm>
            <a:off x="731520" y="1691640"/>
            <a:ext cx="10725912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8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en-US" altLang="zh-TW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15. 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不看數據：新手前 </a:t>
            </a:r>
            <a:r>
              <a:rPr lang="en-US" altLang="zh-TW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30 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部的專注點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8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新手的數據是雜訊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：前 </a:t>
            </a:r>
            <a:r>
              <a:rPr lang="en-US" altLang="zh-TW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30 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部影片基本功未扎實，數據通常是隨機且不可複製的，看數據只會打擊信心導致放棄。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8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zh-TW" altLang="en-US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正確做法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：前 </a:t>
            </a:r>
            <a:r>
              <a:rPr lang="en-US" altLang="zh-TW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30 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部影片分三組（每組 </a:t>
            </a:r>
            <a:r>
              <a:rPr lang="en-US" altLang="zh-TW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 </a:t>
            </a:r>
            <a:r>
              <a:rPr lang="zh-TW" altLang="en-US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支）測試不同主題，大量拍片培養手感，等樣本數足夠再來分析。</a:t>
            </a:r>
          </a:p>
        </p:txBody>
      </p:sp>
    </p:spTree>
    <p:extLst>
      <p:ext uri="{BB962C8B-B14F-4D97-AF65-F5344CB8AC3E}">
        <p14:creationId xmlns:p14="http://schemas.microsoft.com/office/powerpoint/2010/main" val="3282905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創作者心態篇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16. 刻意練習：踏實做事的頂級認知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堆疊練習量</a:t>
            </a:r>
            <a:r>
              <a:rPr b="0">
                <a:solidFill>
                  <a:srgbClr val="334155"/>
                </a:solidFill>
              </a:rPr>
              <a:t>：全世界頂尖創作者（如 Mr.</a:t>
            </a:r>
            <a:r>
              <a:rPr lang="zh-TW" altLang="en-US" b="0">
                <a:solidFill>
                  <a:srgbClr val="334155"/>
                </a:solidFill>
              </a:rPr>
              <a:t> </a:t>
            </a:r>
            <a:r>
              <a:rPr b="0">
                <a:solidFill>
                  <a:srgbClr val="334155"/>
                </a:solidFill>
              </a:rPr>
              <a:t>Beast、Joeman）的成功都是靠極大的練習量與時間堆疊出來的。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核心觀念</a:t>
            </a:r>
            <a:r>
              <a:rPr b="0">
                <a:solidFill>
                  <a:srgbClr val="334155"/>
                </a:solidFill>
              </a:rPr>
              <a:t>：想要不走彎路，本身就是最大的彎路。用練習量解決 99% 的問題。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關鍵行動清單 (Action Items)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72796"/>
            <a:ext cx="10725912" cy="4934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4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sz="2400" b="0">
                <a:solidFill>
                  <a:srgbClr val="334155"/>
                </a:solidFill>
              </a:rPr>
              <a:t>1. </a:t>
            </a:r>
            <a:r>
              <a:rPr sz="2400" b="1">
                <a:solidFill>
                  <a:srgbClr val="0369A1"/>
                </a:solidFill>
              </a:rPr>
              <a:t>立即開拍</a:t>
            </a:r>
            <a:r>
              <a:rPr sz="2400" b="0">
                <a:solidFill>
                  <a:srgbClr val="334155"/>
                </a:solidFill>
              </a:rPr>
              <a:t>：拿起手機，不找藉口，使用前鏡頭直接錄製第一支口播影片（如自我介紹故事）。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4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sz="2400" b="0">
                <a:solidFill>
                  <a:srgbClr val="334155"/>
                </a:solidFill>
              </a:rPr>
              <a:t>2. </a:t>
            </a:r>
            <a:r>
              <a:rPr sz="2400" b="1">
                <a:solidFill>
                  <a:srgbClr val="0369A1"/>
                </a:solidFill>
              </a:rPr>
              <a:t>選題規劃</a:t>
            </a:r>
            <a:r>
              <a:rPr sz="2400" b="0">
                <a:solidFill>
                  <a:srgbClr val="334155"/>
                </a:solidFill>
              </a:rPr>
              <a:t>：在 YouTube 搜尋自己領域的熱門影片，挑選 3 個大眾感興趣、點閱最高的主題進行模仿或「蹭」熱度包裝。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4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sz="2400" b="0">
                <a:solidFill>
                  <a:srgbClr val="334155"/>
                </a:solidFill>
              </a:rPr>
              <a:t>3. </a:t>
            </a:r>
            <a:r>
              <a:rPr sz="2400" b="1">
                <a:solidFill>
                  <a:srgbClr val="0369A1"/>
                </a:solidFill>
              </a:rPr>
              <a:t>建立工作流</a:t>
            </a:r>
            <a:r>
              <a:rPr sz="2400" b="0">
                <a:solidFill>
                  <a:srgbClr val="334155"/>
                </a:solidFill>
              </a:rPr>
              <a:t>：使用手機剪輯軟體配合 AI 自動字幕工具，力求在 5 分鐘內完成剪輯。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4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sz="2400" b="0">
                <a:solidFill>
                  <a:srgbClr val="334155"/>
                </a:solidFill>
              </a:rPr>
              <a:t>4. </a:t>
            </a:r>
            <a:r>
              <a:rPr sz="2400" b="1">
                <a:solidFill>
                  <a:srgbClr val="0369A1"/>
                </a:solidFill>
              </a:rPr>
              <a:t>全管道發布</a:t>
            </a:r>
            <a:r>
              <a:rPr sz="2400" b="0">
                <a:solidFill>
                  <a:srgbClr val="334155"/>
                </a:solidFill>
              </a:rPr>
              <a:t>：將影片同時上傳至 FB, IG, YouTube 等平台，不要自己猜測哪個平台會紅。</a:t>
            </a:r>
            <a:endParaRPr lang="en-US" sz="2400" b="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lang="zh-TW" altLang="en-US" sz="2400" b="1">
                <a:solidFill>
                  <a:srgbClr val="0EA5E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lang="en-US" altLang="zh-TW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5. </a:t>
            </a:r>
            <a:r>
              <a:rPr lang="zh-TW" altLang="en-US" sz="2400" b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引流私域</a:t>
            </a:r>
            <a:r>
              <a:rPr lang="zh-TW" altLang="en-US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：設計引流機制（如提供免費資源或體驗課），將公域流量導流至 </a:t>
            </a:r>
            <a:r>
              <a:rPr lang="en-US" altLang="zh-TW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LINE </a:t>
            </a:r>
            <a:r>
              <a:rPr lang="zh-TW" altLang="en-US" sz="240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官方帳號等私域管道。</a:t>
            </a:r>
            <a:endParaRPr sz="2400" b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397" y="2635623"/>
            <a:ext cx="103628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短影音保姆級教學大綱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798" y="3802828"/>
            <a:ext cx="39620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設備與相機參數設定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691640"/>
            <a:ext cx="1101224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1. </a:t>
            </a:r>
            <a:r>
              <a:rPr b="1">
                <a:solidFill>
                  <a:srgbClr val="0369A1"/>
                </a:solidFill>
              </a:rPr>
              <a:t>調亮螢幕</a:t>
            </a:r>
            <a:r>
              <a:rPr b="0">
                <a:solidFill>
                  <a:srgbClr val="334155"/>
                </a:solidFill>
              </a:rPr>
              <a:t>：拍攝前如發現觀景螢幕偏暗，請先手動將螢幕亮度調亮，以利準確檢視畫面細節。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2. </a:t>
            </a:r>
            <a:r>
              <a:rPr b="1">
                <a:solidFill>
                  <a:srgbClr val="0369A1"/>
                </a:solidFill>
              </a:rPr>
              <a:t>改設 60 幀</a:t>
            </a:r>
            <a:r>
              <a:rPr b="0">
                <a:solidFill>
                  <a:srgbClr val="334155"/>
                </a:solidFill>
              </a:rPr>
              <a:t>：將左上角的參數設定（如 HD 30 幀）全部改為 </a:t>
            </a:r>
            <a:r>
              <a:rPr b="1">
                <a:solidFill>
                  <a:srgbClr val="0369A1"/>
                </a:solidFill>
              </a:rPr>
              <a:t>60 幀（60 fps）</a:t>
            </a:r>
            <a:r>
              <a:rPr b="0">
                <a:solidFill>
                  <a:srgbClr val="334155"/>
                </a:solidFill>
              </a:rPr>
              <a:t>，拍出來的畫面更順暢、沒有延遲感。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3. </a:t>
            </a:r>
            <a:r>
              <a:rPr b="1">
                <a:solidFill>
                  <a:srgbClr val="0369A1"/>
                </a:solidFill>
              </a:rPr>
              <a:t>自拍用前鏡頭</a:t>
            </a:r>
            <a:r>
              <a:rPr b="0">
                <a:solidFill>
                  <a:srgbClr val="334155"/>
                </a:solidFill>
              </a:rPr>
              <a:t>：自己拍自己時可直接用前鏡頭，雖然畫質稍遜，但只要陽光等光線充足，畫面效果就不受影響。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4. </a:t>
            </a:r>
            <a:r>
              <a:rPr b="1">
                <a:solidFill>
                  <a:srgbClr val="0369A1"/>
                </a:solidFill>
              </a:rPr>
              <a:t>拍人固定 1x 焦距</a:t>
            </a:r>
            <a:r>
              <a:rPr b="0">
                <a:solidFill>
                  <a:srgbClr val="334155"/>
                </a:solidFill>
              </a:rPr>
              <a:t>：拍攝他人時，焦距務必固定在 </a:t>
            </a:r>
            <a:r>
              <a:rPr b="1">
                <a:solidFill>
                  <a:srgbClr val="0369A1"/>
                </a:solidFill>
              </a:rPr>
              <a:t>1 倍（1x）</a:t>
            </a:r>
            <a:r>
              <a:rPr b="0">
                <a:solidFill>
                  <a:srgbClr val="334155"/>
                </a:solidFill>
              </a:rPr>
              <a:t>，此時畫面比例與光學效果最好看。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運鏡與鏡頭移動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5. </a:t>
            </a:r>
            <a:r>
              <a:rPr b="1">
                <a:solidFill>
                  <a:srgbClr val="0369A1"/>
                </a:solidFill>
              </a:rPr>
              <a:t>拍攝者自行移動</a:t>
            </a:r>
            <a:r>
              <a:rPr b="0">
                <a:solidFill>
                  <a:srgbClr val="334155"/>
                </a:solidFill>
              </a:rPr>
              <a:t>：需要移動畫面時，請</a:t>
            </a:r>
            <a:r>
              <a:rPr b="1">
                <a:solidFill>
                  <a:srgbClr val="0369A1"/>
                </a:solidFill>
              </a:rPr>
              <a:t>拍攝者自己移動</a:t>
            </a:r>
            <a:r>
              <a:rPr b="0">
                <a:solidFill>
                  <a:srgbClr val="334155"/>
                </a:solidFill>
              </a:rPr>
              <a:t>，不要叫主角（被攝者）移動。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6. </a:t>
            </a:r>
            <a:r>
              <a:rPr b="1">
                <a:solidFill>
                  <a:srgbClr val="0369A1"/>
                </a:solidFill>
              </a:rPr>
              <a:t>景物直接靠過去</a:t>
            </a:r>
            <a:r>
              <a:rPr b="0">
                <a:solidFill>
                  <a:srgbClr val="334155"/>
                </a:solidFill>
              </a:rPr>
              <a:t>：拍風景或樹木時，直接往前走靠過去拍，</a:t>
            </a:r>
            <a:r>
              <a:rPr b="1">
                <a:solidFill>
                  <a:srgbClr val="0369A1"/>
                </a:solidFill>
              </a:rPr>
              <a:t>不要用雙指在螢幕上拉近拉遠</a:t>
            </a:r>
            <a:r>
              <a:rPr b="0">
                <a:solidFill>
                  <a:srgbClr val="334155"/>
                </a:solidFill>
              </a:rPr>
              <a:t>變焦。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7. </a:t>
            </a:r>
            <a:r>
              <a:rPr b="1">
                <a:solidFill>
                  <a:srgbClr val="0369A1"/>
                </a:solidFill>
              </a:rPr>
              <a:t>廣角（0.5x）保持水平</a:t>
            </a:r>
            <a:r>
              <a:rPr b="0">
                <a:solidFill>
                  <a:srgbClr val="334155"/>
                </a:solidFill>
              </a:rPr>
              <a:t>：使用 0.5 倍超廣角拍攝時必須</a:t>
            </a:r>
            <a:r>
              <a:rPr b="1">
                <a:solidFill>
                  <a:srgbClr val="0369A1"/>
                </a:solidFill>
              </a:rPr>
              <a:t>保持手機水平</a:t>
            </a:r>
            <a:r>
              <a:rPr b="0">
                <a:solidFill>
                  <a:srgbClr val="334155"/>
                </a:solidFill>
              </a:rPr>
              <a:t>。稍微傾斜會讓主角顯得極矮或極胖。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8. </a:t>
            </a:r>
            <a:r>
              <a:rPr b="1">
                <a:solidFill>
                  <a:srgbClr val="0369A1"/>
                </a:solidFill>
              </a:rPr>
              <a:t>水平同步跟拍</a:t>
            </a:r>
            <a:r>
              <a:rPr b="0">
                <a:solidFill>
                  <a:srgbClr val="334155"/>
                </a:solidFill>
              </a:rPr>
              <a:t>：主角在行進或移動時，拍攝者請維持與主角水平同步的速度跟著移動拍攝。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構圖與視覺美化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9. </a:t>
            </a:r>
            <a:r>
              <a:rPr b="1">
                <a:solidFill>
                  <a:srgbClr val="0369A1"/>
                </a:solidFill>
              </a:rPr>
              <a:t>開啟相機隔線</a:t>
            </a:r>
            <a:r>
              <a:rPr b="0">
                <a:solidFill>
                  <a:srgbClr val="334155"/>
                </a:solidFill>
              </a:rPr>
              <a:t>：進入手機設定將相機的「</a:t>
            </a:r>
            <a:r>
              <a:rPr b="1">
                <a:solidFill>
                  <a:srgbClr val="0369A1"/>
                </a:solidFill>
              </a:rPr>
              <a:t>格線/隔線</a:t>
            </a:r>
            <a:r>
              <a:rPr b="0">
                <a:solidFill>
                  <a:srgbClr val="334155"/>
                </a:solidFill>
              </a:rPr>
              <a:t>」輔助功能打開，便於視覺定位。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10. </a:t>
            </a:r>
            <a:r>
              <a:rPr b="1">
                <a:solidFill>
                  <a:srgbClr val="0369A1"/>
                </a:solidFill>
              </a:rPr>
              <a:t>主角置中與額頭對齊</a:t>
            </a:r>
            <a:r>
              <a:rPr b="0">
                <a:solidFill>
                  <a:srgbClr val="334155"/>
                </a:solidFill>
              </a:rPr>
              <a:t>：構圖時將主角放在畫面正中間，並讓</a:t>
            </a:r>
            <a:r>
              <a:rPr b="1">
                <a:solidFill>
                  <a:srgbClr val="0369A1"/>
                </a:solidFill>
              </a:rPr>
              <a:t>額頭對齊格線最上方的那條線</a:t>
            </a:r>
            <a:r>
              <a:rPr b="0">
                <a:solidFill>
                  <a:srgbClr val="334155"/>
                </a:solidFill>
              </a:rPr>
              <a:t>，比例最為美觀。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11. </a:t>
            </a:r>
            <a:r>
              <a:rPr b="1">
                <a:solidFill>
                  <a:srgbClr val="0369A1"/>
                </a:solidFill>
              </a:rPr>
              <a:t>避開穿頭殺</a:t>
            </a:r>
            <a:r>
              <a:rPr lang="zh-TW" altLang="en-US" b="0">
                <a:solidFill>
                  <a:srgbClr val="334155"/>
                </a:solidFill>
              </a:rPr>
              <a:t>：</a:t>
            </a:r>
            <a:r>
              <a:rPr b="0">
                <a:solidFill>
                  <a:srgbClr val="334155"/>
                </a:solidFill>
              </a:rPr>
              <a:t>注意被攝者講話時，</a:t>
            </a:r>
            <a:r>
              <a:rPr b="1">
                <a:solidFill>
                  <a:srgbClr val="0369A1"/>
                </a:solidFill>
              </a:rPr>
              <a:t>頭頂後方不要有柱子、樹木或其他雜物穿過</a:t>
            </a:r>
            <a:r>
              <a:rPr b="0">
                <a:solidFill>
                  <a:srgbClr val="334155"/>
                </a:solidFill>
              </a:rPr>
              <a:t>，避免干擾聽眾的視覺專注度。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導演與被攝者引導（降壓技巧）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691640"/>
            <a:ext cx="10859845" cy="362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12. </a:t>
            </a:r>
            <a:r>
              <a:rPr b="1">
                <a:solidFill>
                  <a:srgbClr val="0369A1"/>
                </a:solidFill>
              </a:rPr>
              <a:t>側邊 45 度角拍攝</a:t>
            </a:r>
            <a:r>
              <a:rPr b="0">
                <a:solidFill>
                  <a:srgbClr val="334155"/>
                </a:solidFill>
              </a:rPr>
              <a:t>：幫別人拍攝時，不要直接擋在對方正前方（會給被攝者極大壓力且阻擋前進），應站在 </a:t>
            </a:r>
            <a:r>
              <a:rPr b="1">
                <a:solidFill>
                  <a:srgbClr val="0369A1"/>
                </a:solidFill>
              </a:rPr>
              <a:t>45 度角斜前方</a:t>
            </a:r>
            <a:r>
              <a:rPr b="0">
                <a:solidFill>
                  <a:srgbClr val="334155"/>
                </a:solidFill>
              </a:rPr>
              <a:t>拍攝。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13. </a:t>
            </a:r>
            <a:r>
              <a:rPr b="1">
                <a:solidFill>
                  <a:srgbClr val="0369A1"/>
                </a:solidFill>
              </a:rPr>
              <a:t>對視引導法（鏡頭避讓）</a:t>
            </a:r>
            <a:r>
              <a:rPr b="0">
                <a:solidFill>
                  <a:srgbClr val="334155"/>
                </a:solidFill>
              </a:rPr>
              <a:t>：將手機稍微移到側邊，讓被攝者</a:t>
            </a:r>
            <a:r>
              <a:rPr b="1">
                <a:solidFill>
                  <a:srgbClr val="0369A1"/>
                </a:solidFill>
              </a:rPr>
              <a:t>看著拍攝者的眼睛說話</a:t>
            </a:r>
            <a:r>
              <a:rPr b="0">
                <a:solidFill>
                  <a:srgbClr val="334155"/>
                </a:solidFill>
              </a:rPr>
              <a:t>。雖然他是在跟拍攝者對話，但在畫面上看起來就像是自然地對著鏡頭說話，能有效降低被攝者的鏡頭壓力。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14. </a:t>
            </a:r>
            <a:r>
              <a:rPr b="1">
                <a:solidFill>
                  <a:srgbClr val="0369A1"/>
                </a:solidFill>
              </a:rPr>
              <a:t>句末停頓 1 秒</a:t>
            </a:r>
            <a:r>
              <a:rPr b="0">
                <a:solidFill>
                  <a:srgbClr val="334155"/>
                </a:solidFill>
              </a:rPr>
              <a:t>：念稿或說話時，</a:t>
            </a:r>
            <a:r>
              <a:rPr b="1">
                <a:solidFill>
                  <a:srgbClr val="0369A1"/>
                </a:solidFill>
              </a:rPr>
              <a:t>每講完一句話先停頓 1 秒</a:t>
            </a:r>
            <a:r>
              <a:rPr b="0">
                <a:solidFill>
                  <a:srgbClr val="334155"/>
                </a:solidFill>
              </a:rPr>
              <a:t>，再低頭看稿或繼續講下一句，以利後製剪輯時留出前後緩衝。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五、 手持姿勢與環境收音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691640"/>
            <a:ext cx="11094415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15. </a:t>
            </a:r>
            <a:r>
              <a:rPr b="1">
                <a:solidFill>
                  <a:srgbClr val="0369A1"/>
                </a:solidFill>
              </a:rPr>
              <a:t>小指當底座支撐</a:t>
            </a:r>
            <a:r>
              <a:rPr b="0">
                <a:solidFill>
                  <a:srgbClr val="334155"/>
                </a:solidFill>
              </a:rPr>
              <a:t>：手持手機時，用</a:t>
            </a:r>
            <a:r>
              <a:rPr b="1">
                <a:solidFill>
                  <a:srgbClr val="0369A1"/>
                </a:solidFill>
              </a:rPr>
              <a:t>小手指墊在手機底部當作支架</a:t>
            </a:r>
            <a:r>
              <a:rPr b="0">
                <a:solidFill>
                  <a:srgbClr val="334155"/>
                </a:solidFill>
              </a:rPr>
              <a:t>。有了支撐點，手持拍攝時間變長且不易手震。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16. </a:t>
            </a:r>
            <a:r>
              <a:rPr b="1">
                <a:solidFill>
                  <a:srgbClr val="0369A1"/>
                </a:solidFill>
              </a:rPr>
              <a:t>手指避開鏡頭</a:t>
            </a:r>
            <a:r>
              <a:rPr b="0">
                <a:solidFill>
                  <a:srgbClr val="334155"/>
                </a:solidFill>
              </a:rPr>
              <a:t>：現代手機鏡頭越來越多，握持時務必留意手指不要遮擋住任何一顆鏡頭。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17. </a:t>
            </a:r>
            <a:r>
              <a:rPr b="1">
                <a:solidFill>
                  <a:srgbClr val="0369A1"/>
                </a:solidFill>
              </a:rPr>
              <a:t>背景避開大白牆</a:t>
            </a:r>
            <a:r>
              <a:rPr b="0">
                <a:solidFill>
                  <a:srgbClr val="334155"/>
                </a:solidFill>
              </a:rPr>
              <a:t>：拍攝口播影片時，背景最好不要是單調的大白牆（視覺單調且無法說明所處情境），建議在戶外或</a:t>
            </a:r>
            <a:r>
              <a:rPr b="1">
                <a:solidFill>
                  <a:srgbClr val="0369A1"/>
                </a:solidFill>
              </a:rPr>
              <a:t>畫面有延伸感</a:t>
            </a:r>
            <a:r>
              <a:rPr b="0">
                <a:solidFill>
                  <a:srgbClr val="334155"/>
                </a:solidFill>
              </a:rPr>
              <a:t>的環境中拍攝。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18. </a:t>
            </a:r>
            <a:r>
              <a:rPr b="1">
                <a:solidFill>
                  <a:srgbClr val="0369A1"/>
                </a:solidFill>
              </a:rPr>
              <a:t>外接麥克風必先測音</a:t>
            </a:r>
            <a:r>
              <a:rPr b="0">
                <a:solidFill>
                  <a:srgbClr val="334155"/>
                </a:solidFill>
              </a:rPr>
              <a:t>：如果插上外接麥克風，</a:t>
            </a:r>
            <a:r>
              <a:rPr b="1">
                <a:solidFill>
                  <a:srgbClr val="0369A1"/>
                </a:solidFill>
              </a:rPr>
              <a:t>開拍前一定要先錄音測試（測音）</a:t>
            </a:r>
            <a:r>
              <a:rPr b="0">
                <a:solidFill>
                  <a:srgbClr val="334155"/>
                </a:solidFill>
              </a:rPr>
              <a:t>，避免整段錄完後才發現聲音根本沒有收進去。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六、 檔案管理與剪輯效率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19. </a:t>
            </a:r>
            <a:r>
              <a:rPr b="1">
                <a:solidFill>
                  <a:srgbClr val="0369A1"/>
                </a:solidFill>
              </a:rPr>
              <a:t>一鏡到底不中斷</a:t>
            </a:r>
            <a:r>
              <a:rPr b="0">
                <a:solidFill>
                  <a:srgbClr val="334155"/>
                </a:solidFill>
              </a:rPr>
              <a:t>：不論講錯、吃螺絲或頭髮亂了，</a:t>
            </a:r>
            <a:r>
              <a:rPr b="1">
                <a:solidFill>
                  <a:srgbClr val="0369A1"/>
                </a:solidFill>
              </a:rPr>
              <a:t>都不要關掉相機重新開錄</a:t>
            </a:r>
            <a:r>
              <a:rPr b="0">
                <a:solidFill>
                  <a:srgbClr val="334155"/>
                </a:solidFill>
              </a:rPr>
              <a:t>。維持一鏡到底錄成一個長檔案。雖然檔案可能很大（如 20 分鐘），但剪輯時只有一個軌道，比整理數十個零碎檔案更容易進行切片與後製。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0"/>
          <p:cNvSpPr txBox="1"/>
          <p:nvPr/>
        </p:nvSpPr>
        <p:spPr>
          <a:xfrm>
            <a:off x="960120" y="548640"/>
            <a:ext cx="10497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200" b="1" i="0" u="none" strike="noStrike" cap="none">
                <a:solidFill>
                  <a:srgbClr val="08334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Bonus</a:t>
            </a:r>
            <a:r>
              <a:rPr lang="zh-TW" altLang="en-US" sz="3200" b="1" i="0" u="none" strike="noStrike" cap="none">
                <a:solidFill>
                  <a:srgbClr val="08334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：內容選題 </a:t>
            </a:r>
            <a:r>
              <a:rPr lang="en-US" altLang="zh-TW" sz="3200" b="1" i="0" u="none" strike="noStrike" cap="none">
                <a:solidFill>
                  <a:srgbClr val="08334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7x11 </a:t>
            </a:r>
            <a:r>
              <a:rPr lang="zh-TW" altLang="en-US" sz="3200" b="1" i="0" u="none" strike="noStrike" cap="none">
                <a:solidFill>
                  <a:srgbClr val="08334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秘訣，再也不怕想不到題材</a:t>
            </a:r>
            <a:endParaRPr/>
          </a:p>
        </p:txBody>
      </p:sp>
      <p:sp>
        <p:nvSpPr>
          <p:cNvPr id="841" name="Google Shape;841;p40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0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3" name="Google Shape;843;p40"/>
          <p:cNvGraphicFramePr/>
          <p:nvPr/>
        </p:nvGraphicFramePr>
        <p:xfrm>
          <a:off x="731519" y="1555203"/>
          <a:ext cx="6377400" cy="515126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9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22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 大內容主題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EA5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225">
                <a:tc row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曬過程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製作過程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教知識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行業揭密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2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改造計畫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乾貨輸出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2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產品測試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正向推薦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2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體驗分享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反向推薦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2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任務挑戰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資訊整理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225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說故事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成就故事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熬雞湯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自我成長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2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案例故事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人際關係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2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他人故事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處世之道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225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選立場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正面觀點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演劇情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POV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02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反面觀點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icrosoft JhengHei"/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熱門梗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02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中立觀點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icrosoft JhengHei"/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生活觀察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022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賣產品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展現服務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icrosoft JhengHei"/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角色對調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02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展現產品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icrosoft JhengHei"/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生命蛻變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844" name="Google Shape;844;p40"/>
          <p:cNvGraphicFramePr/>
          <p:nvPr/>
        </p:nvGraphicFramePr>
        <p:xfrm>
          <a:off x="8861196" y="1517337"/>
          <a:ext cx="2222625" cy="5158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2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9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11 大流量密碼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E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成本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受眾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隨機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反差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貼金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互動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熱點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懷舊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吐槽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賀爾蒙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9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光練不說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45" name="Google Shape;845;p40"/>
          <p:cNvSpPr txBox="1"/>
          <p:nvPr/>
        </p:nvSpPr>
        <p:spPr>
          <a:xfrm>
            <a:off x="7800292" y="3819363"/>
            <a:ext cx="369554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25" tIns="80625" rIns="80625" bIns="80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rosoft JhengHei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X</a:t>
            </a:r>
            <a:endParaRPr sz="30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2549</Words>
  <Application>Microsoft Office PowerPoint</Application>
  <PresentationFormat>寬螢幕</PresentationFormat>
  <Paragraphs>251</Paragraphs>
  <Slides>45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51" baseType="lpstr">
      <vt:lpstr>微軟正黑體</vt:lpstr>
      <vt:lpstr>微軟正黑體</vt:lpstr>
      <vt:lpstr>Aptos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 Victor</cp:lastModifiedBy>
  <cp:revision>11</cp:revision>
  <dcterms:created xsi:type="dcterms:W3CDTF">2013-01-27T09:14:16Z</dcterms:created>
  <dcterms:modified xsi:type="dcterms:W3CDTF">2026-07-11T10:09:02Z</dcterms:modified>
  <cp:category/>
</cp:coreProperties>
</file>