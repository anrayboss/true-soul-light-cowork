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293B"/>
                </a:solidFill>
                <a:latin typeface="Microsoft JhengHei"/>
              </a:defRPr>
            </a:pPr>
            <a:r>
              <a:t>短影音的 16 條關鍵心法《短影音教學系列 EP2》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291840"/>
            <a:ext cx="3962095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內容核心摘要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本影片由講師陳修平主講，總結其過去三年透過代操數千支短影音及個人帳號（全網超過 20 萬追蹤）的實戰經驗，為短影音新手提供 16 條從流量、製作、剪輯、變現到心態的心法攻略，旨在幫助新手以最低成本、最簡單的方式快速入門並持續迭代。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2011680"/>
            <a:ext cx="301752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083344"/>
                </a:solidFill>
                <a:latin typeface="Microsoft JhengHei"/>
              </a:defRPr>
            </a:pPr>
            <a:r>
              <a:t>重點大綱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一、 流量與定位篇 (1/4)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#### 1. 流量秘密：話題的基本盤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流量的本質</a:t>
            </a:r>
            <a:r>
              <a:rPr b="0">
                <a:solidFill>
                  <a:srgbClr val="334155"/>
                </a:solidFill>
              </a:rPr>
              <a:t>：流量是由話題的「基本盤」決定，而非純粹的技術。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擴大基本盤的方法</a:t>
            </a:r>
            <a:r>
              <a:rPr b="0">
                <a:solidFill>
                  <a:srgbClr val="334155"/>
                </a:solidFill>
              </a:rPr>
              <a:t>：一個字「</a:t>
            </a:r>
            <a:r>
              <a:rPr b="1">
                <a:solidFill>
                  <a:srgbClr val="0369A1"/>
                </a:solidFill>
              </a:rPr>
              <a:t>蹭</a:t>
            </a:r>
            <a:r>
              <a:rPr b="0">
                <a:solidFill>
                  <a:srgbClr val="334155"/>
                </a:solidFill>
              </a:rPr>
              <a:t>」——蹭名人、蹭熱門話題、蹭時事（例如：黑白大廚、單身即地獄、ChatGPT 等）。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轉化技巧</a:t>
            </a:r>
            <a:r>
              <a:rPr b="0">
                <a:solidFill>
                  <a:srgbClr val="334155"/>
                </a:solidFill>
              </a:rPr>
              <a:t>：不要講枯燥的純專業理論（如公司考核、廣告理論），要與大眾感興趣的話題或知名案例結合（如 Netflix 如何激勵員工、星巴克買大杯為何刮算）。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#### 2. 專業錯位：降維打擊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一、 流量與定位篇 (2/4)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專家的盲點</a:t>
            </a:r>
            <a:r>
              <a:rPr b="0">
                <a:solidFill>
                  <a:srgbClr val="334155"/>
                </a:solidFill>
              </a:rPr>
              <a:t>：只想講自己想講的，且容易把簡單的知識講得太複雜，甚至在意同行看法。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解法</a:t>
            </a:r>
            <a:r>
              <a:rPr b="0">
                <a:solidFill>
                  <a:srgbClr val="334155"/>
                </a:solidFill>
              </a:rPr>
              <a:t>：運用自己的專業知識去解讀其他生活領域的事情。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*實例*：中醫師不講本草綱目，而是用中醫理論去解釋「找對象要找好色的（因為腎氣足）」，短時間內收穫高流量。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*實例*：將商學/經濟學知識套用在生活情境（如「辦婚禮是沉默成本」）。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#### 3. 不要思考：Open Book 考試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不要憑空猜測</a:t>
            </a:r>
            <a:r>
              <a:rPr b="0">
                <a:solidFill>
                  <a:srgbClr val="334155"/>
                </a:solidFill>
              </a:rPr>
              <a:t>：99% 你想拍的企劃在網路上早就有人拍過且驗證過了。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一、 流量與定位篇 (3/4)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操作方式</a:t>
            </a:r>
            <a:r>
              <a:rPr b="0">
                <a:solidFill>
                  <a:srgbClr val="334155"/>
                </a:solidFill>
              </a:rPr>
              <a:t>：在 YouTube 搜尋關鍵字，將篩選條件設為「觀看次數從高到低」排列，即可知道大眾真正感興趣的話題是什麼（例如：新手健身最常用的 10 個器材、如何開戶等基礎內容）。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#### 4. 不講乾貨：以娛樂包裝專業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滑短影音的場景</a:t>
            </a:r>
            <a:r>
              <a:rPr b="0">
                <a:solidFill>
                  <a:srgbClr val="334155"/>
                </a:solidFill>
              </a:rPr>
              <a:t>：觀眾通常是在放鬆、通勤、睡前或上廁所時觀看，這是一個娛樂場景（如同逛夜市）。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操作方式</a:t>
            </a:r>
            <a:r>
              <a:rPr b="0">
                <a:solidFill>
                  <a:srgbClr val="334155"/>
                </a:solidFill>
              </a:rPr>
              <a:t>：降低維度，用娛樂與故事包裝專業知識。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*實例*：不乾講古文，而是講「唐代詩人元稹如何是個大渣男」。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一、 流量與定位篇 (4/4)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*實例*：英文教學不背單字，而是教大家名牌精品（如 Hermes, LV）如何發音。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二、 製作與剪輯篇 (1/4)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#### 5. 最低成本：減少開始的阻力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流量與成本無關</a:t>
            </a:r>
            <a:r>
              <a:rPr b="0">
                <a:solidFill>
                  <a:srgbClr val="334155"/>
                </a:solidFill>
              </a:rPr>
              <a:t>：高成本製作不等於高流量，低成本影片（如 AI 工具教學、飛機上隨手拍淹水）反而容易爆紅。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操作建議</a:t>
            </a:r>
            <a:r>
              <a:rPr b="0">
                <a:solidFill>
                  <a:srgbClr val="334155"/>
                </a:solidFill>
              </a:rPr>
              <a:t>：拿起隨身手機直接拍，甚至不用外接麥克風。器材越少、阻力越小，越容易開始與堅持。不要一開始就投入大量資金購買相機、燈光，否則一旦流量不如預期，心態極易崩潰。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#### 6. 口播為王：最完美的創作方式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口播定義</a:t>
            </a:r>
            <a:r>
              <a:rPr b="0">
                <a:solidFill>
                  <a:srgbClr val="334155"/>
                </a:solidFill>
              </a:rPr>
              <a:t>：拿起相機直接對著鏡頭說話。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二、 製作與剪輯篇 (2/4)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口播三大技巧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堅決用前鏡頭</a:t>
            </a:r>
            <a:r>
              <a:rPr b="0">
                <a:solidFill>
                  <a:srgbClr val="334155"/>
                </a:solidFill>
              </a:rPr>
              <a:t>：雖然會犧牲一點畫質，但能隨時掌握畫面與錄製狀態，心理更安定，減少沒錄到或切到臉的失誤。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初期先看稿</a:t>
            </a:r>
            <a:r>
              <a:rPr b="0">
                <a:solidFill>
                  <a:srgbClr val="334155"/>
                </a:solidFill>
              </a:rPr>
              <a:t>：不需要刻意背稿。可以先寫下列點，看一段、消化完、講一段，比呆滯地看著提詞機更自然。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尋找對象模仿</a:t>
            </a:r>
            <a:r>
              <a:rPr b="0">
                <a:solidFill>
                  <a:srgbClr val="334155"/>
                </a:solidFill>
              </a:rPr>
              <a:t>：新手最快的學習方式就是一句一句模仿喜歡的創作者（如股癌的厭世感、游庭皓的一本正經），久了自然會長出自己的風格。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#### 7. 光速剪輯：善用 AI 工具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二、 製作與剪輯篇 (3/4)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剪輯門檻極低</a:t>
            </a:r>
            <a:r>
              <a:rPr b="0">
                <a:solidFill>
                  <a:srgbClr val="334155"/>
                </a:solidFill>
              </a:rPr>
              <a:t>：利用現成剪輯軟體（IG Edit、剪映/CapCut、開拍），導入影片後使用 AI 自動上字幕。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工作流</a:t>
            </a:r>
            <a:r>
              <a:rPr b="0">
                <a:solidFill>
                  <a:srgbClr val="334155"/>
                </a:solidFill>
              </a:rPr>
              <a:t>：自動生成字幕（準確度約 95%） $\rightarrow$ 進行修剪與錯字微調，一分鐘即可完成一支影片。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#### 8. 刻意自然：六字口訣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自然需要練習</a:t>
            </a:r>
            <a:r>
              <a:rPr b="0">
                <a:solidFill>
                  <a:srgbClr val="334155"/>
                </a:solidFill>
              </a:rPr>
              <a:t>：做自己是最困難的。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口播六字口訣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不高音</a:t>
            </a:r>
            <a:r>
              <a:rPr b="0">
                <a:solidFill>
                  <a:srgbClr val="334155"/>
                </a:solidFill>
              </a:rPr>
              <a:t>：說話尾音不要刻意上揚，避免聽起來像演講比賽或廣告台詞。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二、 製作與剪輯篇 (4/4)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不卡頓</a:t>
            </a:r>
            <a:r>
              <a:rPr b="0">
                <a:solidFill>
                  <a:srgbClr val="334155"/>
                </a:solidFill>
              </a:rPr>
              <a:t>：不要在句子中做過多的停頓，保持語速流暢，避免觀眾失去耐心滑走。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三、 平台分發與變現篇 (1/3)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#### 9. 全網分發：賽馬不猜馬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多平台同時上傳</a:t>
            </a:r>
            <a:r>
              <a:rPr b="0">
                <a:solidFill>
                  <a:srgbClr val="334155"/>
                </a:solidFill>
              </a:rPr>
              <a:t>：Facebook、IG、YouTube、TikTok、Threads 等，反正開帳號和上傳影片都免費。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平台差異</a:t>
            </a:r>
            <a:r>
              <a:rPr b="0">
                <a:solidFill>
                  <a:srgbClr val="334155"/>
                </a:solidFill>
              </a:rPr>
              <a:t>：不同平台吸引的受眾不同，只要在一個平台上取得成功就足夠。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*實例*：客戶 Sandy 的農會貸款影片在 Facebook 獲得 70 萬觀看並帶來 2 億營收，但在 IG 上卻只有幾千觀看。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迭代策略</a:t>
            </a:r>
            <a:r>
              <a:rPr b="0">
                <a:solidFill>
                  <a:srgbClr val="334155"/>
                </a:solidFill>
              </a:rPr>
              <a:t>：根據數據結果加碼（如 FB 表現好就做直播，IG 好就發限動，YouTube Shorts 好就考慮拍長片）。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三、 平台分發與變現篇 (2/3)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#### 10. 變現秘密：公域流量轉私域流量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流量分類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公域流量</a:t>
            </a:r>
            <a:r>
              <a:rPr b="0">
                <a:solidFill>
                  <a:srgbClr val="334155"/>
                </a:solidFill>
              </a:rPr>
              <a:t>（平台演算法控制）：如 FB, IG, YouTube。無法自主掌控，帳號隨時有被封鎖的風險。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私域流量</a:t>
            </a:r>
            <a:r>
              <a:rPr b="0">
                <a:solidFill>
                  <a:srgbClr val="334155"/>
                </a:solidFill>
              </a:rPr>
              <a:t>（自己掌控的名單）：如 LINE 官方帳號、EDM。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核心邏輯</a:t>
            </a:r>
            <a:r>
              <a:rPr b="0">
                <a:solidFill>
                  <a:srgbClr val="334155"/>
                </a:solidFill>
              </a:rPr>
              <a:t>：利用短影音的公域流量，將人引導並留存到私域流量（如 LINE），當需要溝通或銷售時，可以直接發送訊息，不需再依賴演算法。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#### 11. 不要省錢：投資效率與能力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三、 平台分發與變現篇 (3/3)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時間與金錢的對價</a:t>
            </a:r>
            <a:r>
              <a:rPr b="0">
                <a:solidFill>
                  <a:srgbClr val="334155"/>
                </a:solidFill>
              </a:rPr>
              <a:t>：省錢心態（如不捨得花錢買自動字幕軟體、ChatGPT 訂閱費）會浪費大量時間，損害效率。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核心觀念</a:t>
            </a:r>
            <a:r>
              <a:rPr b="0">
                <a:solidFill>
                  <a:srgbClr val="334155"/>
                </a:solidFill>
              </a:rPr>
              <a:t>：省錢是傷害效率，投資是在增加能力。短期省錢 the 代價，是由未來的自己買單。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#### 12. 不要投廣：以內容為本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平台的廣告機制</a:t>
            </a:r>
            <a:r>
              <a:rPr b="0">
                <a:solidFill>
                  <a:srgbClr val="334155"/>
                </a:solidFill>
              </a:rPr>
              <a:t>：平台用高廣告費懲罰差的內容，用便宜的廣告費獎勵好的內容。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正確順序</a:t>
            </a:r>
            <a:r>
              <a:rPr b="0">
                <a:solidFill>
                  <a:srgbClr val="334155"/>
                </a:solidFill>
              </a:rPr>
              <a:t>：先將內容做到「不投廣告也能獲得流量」，再透過廣告的槓桿效應去放大成果。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四、 創作者心態篇 (1/3)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#### 13. 會說故事：建立認同與信任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自我介紹故事</a:t>
            </a:r>
            <a:r>
              <a:rPr b="0">
                <a:solidFill>
                  <a:srgbClr val="334155"/>
                </a:solidFill>
              </a:rPr>
              <a:t>（陌生人 $\rightarrow$ 認識/認同）：預設觀眾不認識你，第一支影片應以自我介紹故事開始。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案例故事</a:t>
            </a:r>
            <a:r>
              <a:rPr b="0">
                <a:solidFill>
                  <a:srgbClr val="334155"/>
                </a:solidFill>
              </a:rPr>
              <a:t>（相信 $\rightarrow$ 客戶）：講述如何協助客戶成功的案例，證明自己的實力（如講師分享代操 Sandy 農會的案例，帶來大量客戶諮詢）。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核心理念</a:t>
            </a:r>
            <a:r>
              <a:rPr b="0">
                <a:solidFill>
                  <a:srgbClr val="334155"/>
                </a:solidFill>
              </a:rPr>
              <a:t>：先賣人，再賣商品。大家認同你這個人後，賣什麼都容易。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#### 14. 不怕丟臉：克服限制性信念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四、 創作者心態篇 (2/3)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邏輯推導</a:t>
            </a:r>
            <a:r>
              <a:rPr b="0">
                <a:solidFill>
                  <a:srgbClr val="334155"/>
                </a:solidFill>
              </a:rPr>
              <a:t>：流量高代表很厲害；流量低代表根本沒人看到，所以都不丟臉。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反思</a:t>
            </a:r>
            <a:r>
              <a:rPr b="0">
                <a:solidFill>
                  <a:srgbClr val="334155"/>
                </a:solidFill>
              </a:rPr>
              <a:t>：真正丟臉的是那些自己不拍片卻只會嘲笑他人的人。新手初期的「丟臉練習」是通往成功的必經之路。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#### 15. 不看數據：新手前 30 部的專注點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新手的數據是雜訊</a:t>
            </a:r>
            <a:r>
              <a:rPr b="0">
                <a:solidFill>
                  <a:srgbClr val="334155"/>
                </a:solidFill>
              </a:rPr>
              <a:t>：前 30 部影片基本功未扎實，數據通常是隨機且不可複製的，看數據只會打擊信心導致放棄。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正確做法</a:t>
            </a:r>
            <a:r>
              <a:rPr b="0">
                <a:solidFill>
                  <a:srgbClr val="334155"/>
                </a:solidFill>
              </a:rPr>
              <a:t>：前 30 部影片分三組（每組 10 支）測試不同主題，大量拍片培養手感，等樣本數足夠再來分析。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四、 創作者心態篇 (3/3)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#### 16. 刻意練習：踏實做事的頂級認知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堆疊練習量</a:t>
            </a:r>
            <a:r>
              <a:rPr b="0">
                <a:solidFill>
                  <a:srgbClr val="334155"/>
                </a:solidFill>
              </a:rPr>
              <a:t>：全世界頂尖創作者（如 Mr.Beast、Joeman）的成功都是靠極大的練習量與時間堆疊出來的。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核心觀念</a:t>
            </a:r>
            <a:r>
              <a:rPr b="0">
                <a:solidFill>
                  <a:srgbClr val="334155"/>
                </a:solidFill>
              </a:rPr>
              <a:t>：想要不走彎路，本身就是最大的彎路。用練習量解決 99% 的問題。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關鍵行動清單 (Action Items)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1. </a:t>
            </a:r>
            <a:r>
              <a:rPr b="1">
                <a:solidFill>
                  <a:srgbClr val="0369A1"/>
                </a:solidFill>
              </a:rPr>
              <a:t>立即開拍</a:t>
            </a:r>
            <a:r>
              <a:rPr b="0">
                <a:solidFill>
                  <a:srgbClr val="334155"/>
                </a:solidFill>
              </a:rPr>
              <a:t>：拿起手機，不找藉口，使用前鏡頭直接錄製第一支口播影片（如自我介紹故事）。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2. </a:t>
            </a:r>
            <a:r>
              <a:rPr b="1">
                <a:solidFill>
                  <a:srgbClr val="0369A1"/>
                </a:solidFill>
              </a:rPr>
              <a:t>選題規劃</a:t>
            </a:r>
            <a:r>
              <a:rPr b="0">
                <a:solidFill>
                  <a:srgbClr val="334155"/>
                </a:solidFill>
              </a:rPr>
              <a:t>：在 YouTube 搜尋自己領域的熱門影片，挑選 3 個大眾感興趣、點閱最高的主題進行模仿或「蹭」熱度包裝。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3. </a:t>
            </a:r>
            <a:r>
              <a:rPr b="1">
                <a:solidFill>
                  <a:srgbClr val="0369A1"/>
                </a:solidFill>
              </a:rPr>
              <a:t>建立工作流</a:t>
            </a:r>
            <a:r>
              <a:rPr b="0">
                <a:solidFill>
                  <a:srgbClr val="334155"/>
                </a:solidFill>
              </a:rPr>
              <a:t>：使用手機剪輯軟體配合 AI 自動字幕工具，力求在 5 分鐘內完成剪輯。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4. </a:t>
            </a:r>
            <a:r>
              <a:rPr b="1">
                <a:solidFill>
                  <a:srgbClr val="0369A1"/>
                </a:solidFill>
              </a:rPr>
              <a:t>全管道發布</a:t>
            </a:r>
            <a:r>
              <a:rPr b="0">
                <a:solidFill>
                  <a:srgbClr val="334155"/>
                </a:solidFill>
              </a:rPr>
              <a:t>：將影片同時上傳至 FB, IG, YouTube 等平台，不要自己猜測哪個平台會紅。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關鍵行動清單 (Action Items)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5. </a:t>
            </a:r>
            <a:r>
              <a:rPr b="1">
                <a:solidFill>
                  <a:srgbClr val="0369A1"/>
                </a:solidFill>
              </a:rPr>
              <a:t>引流私域</a:t>
            </a:r>
            <a:r>
              <a:rPr b="0">
                <a:solidFill>
                  <a:srgbClr val="334155"/>
                </a:solidFill>
              </a:rPr>
              <a:t>：設計引流機制（如提供免費資源或體驗課），將公域流量導流至 LINE 官方帳號等私域管道。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