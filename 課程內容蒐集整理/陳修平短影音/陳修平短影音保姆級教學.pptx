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26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陳修平短影音保姆級教學大綱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91840"/>
            <a:ext cx="39620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0" y="2011680"/>
            <a:ext cx="30175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83344"/>
                </a:solidFill>
                <a:latin typeface="Microsoft JhengHei"/>
              </a:defRPr>
            </a:pPr>
            <a:r>
              <a:t>📸 19 個核心拍攝與後製技巧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設備與相機參數設定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1. </a:t>
            </a:r>
            <a:r>
              <a:rPr b="1">
                <a:solidFill>
                  <a:srgbClr val="0369A1"/>
                </a:solidFill>
              </a:rPr>
              <a:t>調亮螢幕</a:t>
            </a:r>
            <a:r>
              <a:rPr b="0">
                <a:solidFill>
                  <a:srgbClr val="334155"/>
                </a:solidFill>
              </a:rPr>
              <a:t>：拍攝前如發現觀景螢幕偏暗，請先手動將螢幕亮度調亮，以利準確檢視畫面細節。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2. </a:t>
            </a:r>
            <a:r>
              <a:rPr b="1">
                <a:solidFill>
                  <a:srgbClr val="0369A1"/>
                </a:solidFill>
              </a:rPr>
              <a:t>改設 60 幀</a:t>
            </a:r>
            <a:r>
              <a:rPr b="0">
                <a:solidFill>
                  <a:srgbClr val="334155"/>
                </a:solidFill>
              </a:rPr>
              <a:t>：將左上角的參數設定（如 HD 30 幀）全部改為 </a:t>
            </a:r>
            <a:r>
              <a:rPr b="1">
                <a:solidFill>
                  <a:srgbClr val="0369A1"/>
                </a:solidFill>
              </a:rPr>
              <a:t>60 幀（60 fps）</a:t>
            </a:r>
            <a:r>
              <a:rPr b="0">
                <a:solidFill>
                  <a:srgbClr val="334155"/>
                </a:solidFill>
              </a:rPr>
              <a:t>，拍出來的畫面更順暢、沒有延遲感。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3. </a:t>
            </a:r>
            <a:r>
              <a:rPr b="1">
                <a:solidFill>
                  <a:srgbClr val="0369A1"/>
                </a:solidFill>
              </a:rPr>
              <a:t>自拍用前鏡頭</a:t>
            </a:r>
            <a:r>
              <a:rPr b="0">
                <a:solidFill>
                  <a:srgbClr val="334155"/>
                </a:solidFill>
              </a:rPr>
              <a:t>：自己拍自己時可直接用前鏡頭，雖然畫質稍遜，但只要陽光等光線充足，畫面效果就不受影響。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4. </a:t>
            </a:r>
            <a:r>
              <a:rPr b="1">
                <a:solidFill>
                  <a:srgbClr val="0369A1"/>
                </a:solidFill>
              </a:rPr>
              <a:t>拍人固定 1x 焦距</a:t>
            </a:r>
            <a:r>
              <a:rPr b="0">
                <a:solidFill>
                  <a:srgbClr val="334155"/>
                </a:solidFill>
              </a:rPr>
              <a:t>：拍攝他人時，焦距務必固定在 </a:t>
            </a:r>
            <a:r>
              <a:rPr b="1">
                <a:solidFill>
                  <a:srgbClr val="0369A1"/>
                </a:solidFill>
              </a:rPr>
              <a:t>1 倍（1x）</a:t>
            </a:r>
            <a:r>
              <a:rPr b="0">
                <a:solidFill>
                  <a:srgbClr val="334155"/>
                </a:solidFill>
              </a:rPr>
              <a:t>，此時畫面比例與光學效果最好看。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運鏡與鏡頭移動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5. </a:t>
            </a:r>
            <a:r>
              <a:rPr b="1">
                <a:solidFill>
                  <a:srgbClr val="0369A1"/>
                </a:solidFill>
              </a:rPr>
              <a:t>拍攝者自行移動</a:t>
            </a:r>
            <a:r>
              <a:rPr b="0">
                <a:solidFill>
                  <a:srgbClr val="334155"/>
                </a:solidFill>
              </a:rPr>
              <a:t>：需要移動畫面時，請</a:t>
            </a:r>
            <a:r>
              <a:rPr b="1">
                <a:solidFill>
                  <a:srgbClr val="0369A1"/>
                </a:solidFill>
              </a:rPr>
              <a:t>拍攝者自己移動</a:t>
            </a:r>
            <a:r>
              <a:rPr b="0">
                <a:solidFill>
                  <a:srgbClr val="334155"/>
                </a:solidFill>
              </a:rPr>
              <a:t>，不要叫主角（被攝者）移動。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6. </a:t>
            </a:r>
            <a:r>
              <a:rPr b="1">
                <a:solidFill>
                  <a:srgbClr val="0369A1"/>
                </a:solidFill>
              </a:rPr>
              <a:t>景物直接靠過去</a:t>
            </a:r>
            <a:r>
              <a:rPr b="0">
                <a:solidFill>
                  <a:srgbClr val="334155"/>
                </a:solidFill>
              </a:rPr>
              <a:t>：拍風景或樹木時，直接往前走靠過去拍，</a:t>
            </a:r>
            <a:r>
              <a:rPr b="1">
                <a:solidFill>
                  <a:srgbClr val="0369A1"/>
                </a:solidFill>
              </a:rPr>
              <a:t>不要用雙指在螢幕上拉近拉遠</a:t>
            </a:r>
            <a:r>
              <a:rPr b="0">
                <a:solidFill>
                  <a:srgbClr val="334155"/>
                </a:solidFill>
              </a:rPr>
              <a:t>變焦。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7. </a:t>
            </a:r>
            <a:r>
              <a:rPr b="1">
                <a:solidFill>
                  <a:srgbClr val="0369A1"/>
                </a:solidFill>
              </a:rPr>
              <a:t>廣角（0.5x）保持水平</a:t>
            </a:r>
            <a:r>
              <a:rPr b="0">
                <a:solidFill>
                  <a:srgbClr val="334155"/>
                </a:solidFill>
              </a:rPr>
              <a:t>：使用 0.5 倍超廣角拍攝時必須</a:t>
            </a:r>
            <a:r>
              <a:rPr b="1">
                <a:solidFill>
                  <a:srgbClr val="0369A1"/>
                </a:solidFill>
              </a:rPr>
              <a:t>保持手機水平</a:t>
            </a:r>
            <a:r>
              <a:rPr b="0">
                <a:solidFill>
                  <a:srgbClr val="334155"/>
                </a:solidFill>
              </a:rPr>
              <a:t>。稍微傾斜會讓主角顯得極矮或極胖。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8. </a:t>
            </a:r>
            <a:r>
              <a:rPr b="1">
                <a:solidFill>
                  <a:srgbClr val="0369A1"/>
                </a:solidFill>
              </a:rPr>
              <a:t>水平同步跟拍</a:t>
            </a:r>
            <a:r>
              <a:rPr b="0">
                <a:solidFill>
                  <a:srgbClr val="334155"/>
                </a:solidFill>
              </a:rPr>
              <a:t>：主角在行進或移動時，拍攝者請維持與主角水平同步的速度跟著移動拍攝。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構圖與視覺美化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9. </a:t>
            </a:r>
            <a:r>
              <a:rPr b="1">
                <a:solidFill>
                  <a:srgbClr val="0369A1"/>
                </a:solidFill>
              </a:rPr>
              <a:t>開啟相機隔線</a:t>
            </a:r>
            <a:r>
              <a:rPr b="0">
                <a:solidFill>
                  <a:srgbClr val="334155"/>
                </a:solidFill>
              </a:rPr>
              <a:t>：進入手機設定將相機的「</a:t>
            </a:r>
            <a:r>
              <a:rPr b="1">
                <a:solidFill>
                  <a:srgbClr val="0369A1"/>
                </a:solidFill>
              </a:rPr>
              <a:t>格線/隔線</a:t>
            </a:r>
            <a:r>
              <a:rPr b="0">
                <a:solidFill>
                  <a:srgbClr val="334155"/>
                </a:solidFill>
              </a:rPr>
              <a:t>」輔助功能打開，便於視覺定位。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10. </a:t>
            </a:r>
            <a:r>
              <a:rPr b="1">
                <a:solidFill>
                  <a:srgbClr val="0369A1"/>
                </a:solidFill>
              </a:rPr>
              <a:t>主角置中與額頭對齊</a:t>
            </a:r>
            <a:r>
              <a:rPr b="0">
                <a:solidFill>
                  <a:srgbClr val="334155"/>
                </a:solidFill>
              </a:rPr>
              <a:t>：構圖時將主角放在畫面正中間，並讓</a:t>
            </a:r>
            <a:r>
              <a:rPr b="1">
                <a:solidFill>
                  <a:srgbClr val="0369A1"/>
                </a:solidFill>
              </a:rPr>
              <a:t>額頭對齊格線最上方的那條線</a:t>
            </a:r>
            <a:r>
              <a:rPr b="0">
                <a:solidFill>
                  <a:srgbClr val="334155"/>
                </a:solidFill>
              </a:rPr>
              <a:t>，比例最為美觀。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11. </a:t>
            </a:r>
            <a:r>
              <a:rPr b="1">
                <a:solidFill>
                  <a:srgbClr val="0369A1"/>
                </a:solidFill>
              </a:rPr>
              <a:t>避開穿頭殺（穿駝紗）</a:t>
            </a:r>
            <a:r>
              <a:rPr b="0">
                <a:solidFill>
                  <a:srgbClr val="334155"/>
                </a:solidFill>
              </a:rPr>
              <a:t>：注意被攝者講話時，</a:t>
            </a:r>
            <a:r>
              <a:rPr b="1">
                <a:solidFill>
                  <a:srgbClr val="0369A1"/>
                </a:solidFill>
              </a:rPr>
              <a:t>頭頂後方不要有柱子、樹木或其他雜物穿過</a:t>
            </a:r>
            <a:r>
              <a:rPr b="0">
                <a:solidFill>
                  <a:srgbClr val="334155"/>
                </a:solidFill>
              </a:rPr>
              <a:t>，避免干擾聽眾的視覺專注度。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導演與被攝者引導（降壓技巧）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12. </a:t>
            </a:r>
            <a:r>
              <a:rPr b="1">
                <a:solidFill>
                  <a:srgbClr val="0369A1"/>
                </a:solidFill>
              </a:rPr>
              <a:t>側邊 45 度角拍攝</a:t>
            </a:r>
            <a:r>
              <a:rPr b="0">
                <a:solidFill>
                  <a:srgbClr val="334155"/>
                </a:solidFill>
              </a:rPr>
              <a:t>：幫別人拍攝時，不要直接擋在對方正前方（會給被攝者極大壓力且阻擋前進），應站在 </a:t>
            </a:r>
            <a:r>
              <a:rPr b="1">
                <a:solidFill>
                  <a:srgbClr val="0369A1"/>
                </a:solidFill>
              </a:rPr>
              <a:t>45 度角斜前方</a:t>
            </a:r>
            <a:r>
              <a:rPr b="0">
                <a:solidFill>
                  <a:srgbClr val="334155"/>
                </a:solidFill>
              </a:rPr>
              <a:t>拍攝。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13. </a:t>
            </a:r>
            <a:r>
              <a:rPr b="1">
                <a:solidFill>
                  <a:srgbClr val="0369A1"/>
                </a:solidFill>
              </a:rPr>
              <a:t>對視引導法（鏡頭避讓）</a:t>
            </a:r>
            <a:r>
              <a:rPr b="0">
                <a:solidFill>
                  <a:srgbClr val="334155"/>
                </a:solidFill>
              </a:rPr>
              <a:t>：將手機稍微移到側邊，讓被攝者</a:t>
            </a:r>
            <a:r>
              <a:rPr b="1">
                <a:solidFill>
                  <a:srgbClr val="0369A1"/>
                </a:solidFill>
              </a:rPr>
              <a:t>看著拍攝者的眼睛說話</a:t>
            </a:r>
            <a:r>
              <a:rPr b="0">
                <a:solidFill>
                  <a:srgbClr val="334155"/>
                </a:solidFill>
              </a:rPr>
              <a:t>。雖然他是在跟拍攝者對話，但在畫面上看起來就像是自然地對著鏡頭說話，能有效降低被攝者的鏡頭壓力。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14. </a:t>
            </a:r>
            <a:r>
              <a:rPr b="1">
                <a:solidFill>
                  <a:srgbClr val="0369A1"/>
                </a:solidFill>
              </a:rPr>
              <a:t>句末停頓 1 秒</a:t>
            </a:r>
            <a:r>
              <a:rPr b="0">
                <a:solidFill>
                  <a:srgbClr val="334155"/>
                </a:solidFill>
              </a:rPr>
              <a:t>：念稿或說話時，</a:t>
            </a:r>
            <a:r>
              <a:rPr b="1">
                <a:solidFill>
                  <a:srgbClr val="0369A1"/>
                </a:solidFill>
              </a:rPr>
              <a:t>每講完一句話先停頓 1 秒</a:t>
            </a:r>
            <a:r>
              <a:rPr b="0">
                <a:solidFill>
                  <a:srgbClr val="334155"/>
                </a:solidFill>
              </a:rPr>
              <a:t>，再低頭看稿或繼續講下一句，以利後製剪輯時留出前後緩衝。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五、 手持姿勢與環境收音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691640"/>
            <a:ext cx="11094415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15. </a:t>
            </a:r>
            <a:r>
              <a:rPr b="1">
                <a:solidFill>
                  <a:srgbClr val="0369A1"/>
                </a:solidFill>
              </a:rPr>
              <a:t>小指當底座支撐</a:t>
            </a:r>
            <a:r>
              <a:rPr b="0">
                <a:solidFill>
                  <a:srgbClr val="334155"/>
                </a:solidFill>
              </a:rPr>
              <a:t>：手持手機時，用</a:t>
            </a:r>
            <a:r>
              <a:rPr b="1">
                <a:solidFill>
                  <a:srgbClr val="0369A1"/>
                </a:solidFill>
              </a:rPr>
              <a:t>小手指墊在手機底部當作支架</a:t>
            </a:r>
            <a:r>
              <a:rPr b="0">
                <a:solidFill>
                  <a:srgbClr val="334155"/>
                </a:solidFill>
              </a:rPr>
              <a:t>。有了支撐點，手持拍攝時間變長且不易手震。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16. </a:t>
            </a:r>
            <a:r>
              <a:rPr b="1">
                <a:solidFill>
                  <a:srgbClr val="0369A1"/>
                </a:solidFill>
              </a:rPr>
              <a:t>手指避開鏡頭</a:t>
            </a:r>
            <a:r>
              <a:rPr b="0">
                <a:solidFill>
                  <a:srgbClr val="334155"/>
                </a:solidFill>
              </a:rPr>
              <a:t>：現代手機鏡頭越來越多，握持時務必留意手指不要遮擋住任何一顆鏡頭。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17. </a:t>
            </a:r>
            <a:r>
              <a:rPr b="1">
                <a:solidFill>
                  <a:srgbClr val="0369A1"/>
                </a:solidFill>
              </a:rPr>
              <a:t>背景避開大白牆</a:t>
            </a:r>
            <a:r>
              <a:rPr b="0">
                <a:solidFill>
                  <a:srgbClr val="334155"/>
                </a:solidFill>
              </a:rPr>
              <a:t>：拍攝口播影片時，背景最好不要是單調的大白牆（視覺單調且無法說明所處情境），建議在戶外或</a:t>
            </a:r>
            <a:r>
              <a:rPr b="1">
                <a:solidFill>
                  <a:srgbClr val="0369A1"/>
                </a:solidFill>
              </a:rPr>
              <a:t>畫面有延伸感</a:t>
            </a:r>
            <a:r>
              <a:rPr b="0">
                <a:solidFill>
                  <a:srgbClr val="334155"/>
                </a:solidFill>
              </a:rPr>
              <a:t>的環境中拍攝。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18. </a:t>
            </a:r>
            <a:r>
              <a:rPr b="1">
                <a:solidFill>
                  <a:srgbClr val="0369A1"/>
                </a:solidFill>
              </a:rPr>
              <a:t>外接麥克風必先測音</a:t>
            </a:r>
            <a:r>
              <a:rPr b="0">
                <a:solidFill>
                  <a:srgbClr val="334155"/>
                </a:solidFill>
              </a:rPr>
              <a:t>：如果插上外接麥克風，</a:t>
            </a:r>
            <a:r>
              <a:rPr b="1">
                <a:solidFill>
                  <a:srgbClr val="0369A1"/>
                </a:solidFill>
              </a:rPr>
              <a:t>開拍前一定要先錄音測試（測音）</a:t>
            </a:r>
            <a:r>
              <a:rPr b="0">
                <a:solidFill>
                  <a:srgbClr val="334155"/>
                </a:solidFill>
              </a:rPr>
              <a:t>，避免整段錄完後才發現聲音根本沒有收進去。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六、 檔案管理與剪輯效率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19. </a:t>
            </a:r>
            <a:r>
              <a:rPr b="1">
                <a:solidFill>
                  <a:srgbClr val="0369A1"/>
                </a:solidFill>
              </a:rPr>
              <a:t>一鏡到底不中斷</a:t>
            </a:r>
            <a:r>
              <a:rPr b="0">
                <a:solidFill>
                  <a:srgbClr val="334155"/>
                </a:solidFill>
              </a:rPr>
              <a:t>：不論講錯、吃螺絲或頭髮亂了，</a:t>
            </a:r>
            <a:r>
              <a:rPr b="1">
                <a:solidFill>
                  <a:srgbClr val="0369A1"/>
                </a:solidFill>
              </a:rPr>
              <a:t>都不要關掉相機重新開錄</a:t>
            </a:r>
            <a:r>
              <a:rPr b="0">
                <a:solidFill>
                  <a:srgbClr val="334155"/>
                </a:solidFill>
              </a:rPr>
              <a:t>。維持一鏡到底錄成一個長檔案。雖然檔案可能很大（如 20 分鐘），但剪輯時只有一個軌道，比整理數十個零碎檔案更容易進行切片與後製。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304</Words>
  <Application>Microsoft Office PowerPoint</Application>
  <PresentationFormat>寬螢幕</PresentationFormat>
  <Paragraphs>27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 Victor</cp:lastModifiedBy>
  <cp:revision>2</cp:revision>
  <dcterms:created xsi:type="dcterms:W3CDTF">2013-01-27T09:14:16Z</dcterms:created>
  <dcterms:modified xsi:type="dcterms:W3CDTF">2026-06-19T12:31:32Z</dcterms:modified>
  <cp:category/>
</cp:coreProperties>
</file>