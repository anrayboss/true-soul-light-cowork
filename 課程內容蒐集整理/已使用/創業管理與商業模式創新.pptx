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4" r:id="rId32"/>
    <p:sldId id="286" r:id="rId33"/>
    <p:sldId id="287" r:id="rId34"/>
    <p:sldId id="288" r:id="rId35"/>
    <p:sldId id="289" r:id="rId36"/>
    <p:sldId id="290" r:id="rId37"/>
    <p:sldId id="292" r:id="rId38"/>
    <p:sldId id="293" r:id="rId39"/>
    <p:sldId id="291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4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  <a:latin typeface="微軟正黑體"/>
              </a:rPr>
              <a:t>行銷企劃與商業模式創新</a:t>
            </a:r>
          </a:p>
          <a:p>
            <a:pPr algn="ctr">
              <a:spcBef>
                <a:spcPts val="1500"/>
              </a:spcBef>
            </a:pPr>
            <a:r>
              <a:rPr sz="2400">
                <a:solidFill>
                  <a:srgbClr val="787878"/>
                </a:solidFill>
                <a:latin typeface="微軟正黑體"/>
              </a:rPr>
              <a:t>數位行銷廣告攻略就業班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787878"/>
                </a:solidFill>
                <a:latin typeface="微軟正黑體"/>
              </a:rPr>
              <a:t>臺北市職能發展學院 111 年度委託辦理職能培育案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787878"/>
                </a:solidFill>
                <a:latin typeface="微軟正黑體"/>
              </a:rPr>
              <a:t>辦訓單位：博聲廣告有限公司</a:t>
            </a:r>
          </a:p>
          <a:p>
            <a:pPr algn="ctr">
              <a:spcAft>
                <a:spcPts val="800"/>
              </a:spcAft>
            </a:pPr>
            <a:r>
              <a:rPr sz="1600">
                <a:solidFill>
                  <a:srgbClr val="787878"/>
                </a:solidFill>
                <a:latin typeface="微軟正黑體"/>
              </a:rPr>
              <a:t>講師：紀舒哲 博士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商業模式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商業模式 (business model) 是一系列有規劃的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活動，用以從市場上得到利潤，是整個商業計畫 (business plan) 的核心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商業模式是一種策略的藍圖，它涵蓋客戶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、價值提案、基礎設施、及財務可行性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電子商業商業模式 (e-business business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model) 的目標在於使用和產生網際網路及電子商業的正面效應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Business Model _ 商業模式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商業模式，就是描述一個組織如何創造、傳遞及獲取價值的手段與方法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《獲利世代》 (Business Model Generation) 一書中提出了很實用的商業模式工具 — 商業模式畫布 (Business Model Canvas)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什麼是商業模式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描述一個組織如何創造、傳遞及獲取價值的手段及方法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參考資料：獲利世代：自己動手，畫出你的商業模式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一張圖，秒懂你的專案價值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新世代經理人都在用的商業模式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Business Model _ 商業模式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《獲利世代》 (Business Model Generation) 一書中提出了很實用的商業模式工具 — 商業模式畫布 (Business Model Canvas)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商業模式圖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終身保固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高貴、時尚感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專屬個人協助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政商名流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百貨專櫃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旗艦店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手錶銷售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手錶周邊商品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商業模式右半邊 – 市場開拓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市場開拓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商業模式左半邊 – 內部營運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內部營運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商業模式圖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手錶設計、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終身保固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生產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品牌建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高貴、時尚感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專屬個人協助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政商名流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經紀公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立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司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百貨專櫃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公關公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手錶外觀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司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專屬品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旗艦店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手錶生產、行銷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手錶銷售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公司管銷費用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品牌建立費用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手錶周邊商品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商業模式建構流程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772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找到你的目標客層</a:t>
            </a:r>
            <a:endParaRPr sz="2000" b="1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定義你的價值主張</a:t>
            </a:r>
            <a:endParaRPr sz="2000" b="1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選擇適當通路</a:t>
            </a:r>
            <a:endParaRPr sz="2000" b="1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建立顧客關係</a:t>
            </a:r>
            <a:endParaRPr lang="en-US" altLang="zh-TW" sz="2000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TW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開啟收益流</a:t>
            </a:r>
            <a:endParaRPr lang="en-US" altLang="zh-TW" sz="2000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找出關鍵資源</a:t>
            </a:r>
            <a:endParaRPr sz="2000" b="1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7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運行關鍵活</a:t>
            </a:r>
            <a:endParaRPr sz="2000" b="1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8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找出關鍵合作夥伴</a:t>
            </a:r>
            <a:endParaRPr sz="2000" b="1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9 .</a:t>
            </a:r>
            <a:r>
              <a:rPr lang="zh-TW" altLang="en-US" sz="2000" b="1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>
                <a:solidFill>
                  <a:srgbClr val="4646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檢查成本結構</a:t>
            </a:r>
            <a:endParaRPr sz="2000">
              <a:solidFill>
                <a:srgbClr val="46464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1 . 找到你的目標客層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找出我們鎖定為目標，要接觸或服務的對象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我們為誰創造價值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誰是我們最主要的顧客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如果你已經能描述顧客的樣子，接著將你的顧客分層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區域性別年齡活動習慣經濟能力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誰是我們最早期的顧客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2 . 定義你的價值主張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為特定客層，創造出價值的整套產品或服務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我們幫顧客解決了什麼問題 ?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我們為顧客創造了什麼價值 ?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建立價值主張的同時，有幾點建議 :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針對目標客群從顧客的需求 / 痛點出發聚焦於使用產品的好處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三種主要的顧客任務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功能型任務情感型任務社交型任務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3 . 選擇適當通路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27647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找到向目標客層傳遞價值主張的管道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我們如何讓顧客體驗到我們的價值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顧客要上哪購買我們的產品 / 服務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那些通路最有效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常見通路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LINE 群臉書社團旗艦店平台 /APP百貨公司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4 . 建立顧客關係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我們與特定的客層，建立起有效的關係形態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我們跟每個客層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獲得顧客維繫顧客提高營業額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要維持怎麼樣的關係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幾種顧客關係型態 :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專人服務線上客服電子郵件聊天機器人小編 / 社群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5 . 開啟收益流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我們傳遞價值給每個客層後，所獲得的現金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顧客是為了什麼價值而付費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每個收益流對整體收益的貢獻是多少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一次性收費長續性收益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資產銷售使用費會員費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授權費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傭金廣告費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464646"/>
                </a:solidFill>
                <a:latin typeface="微軟正黑體"/>
              </a:rPr>
              <a:t>• 租金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商業模式右半邊 – 市場開拓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市場開拓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6 . 找出關鍵資源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要讓我們的商業模式持續運作，最重要的資產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配合顧客價值主張、通路、顧客關係、收益流，我們需要什麼資源 ?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是什麼資源，讓我們的價值主張產生差異化 ?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關鍵資源可以分成幾類 :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實體資源智慧資源人力資源財務資源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7 . 運行關鍵活動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要讓我們的商業模式持續運作的必辦事項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維持顧客價值主張、通路、顧客關係、收益流運作，我們需要做什麼 ?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我們要如何獲取關鍵資源 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8 . 找出關鍵合作夥伴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753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企業鎖定為目標，要接觸或服務的對象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我們為了維持關鍵活動運作，需要和那些夥伴合作 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我們為了取得關鍵資源，需要和那些夥伴合作 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關鍵合作夥伴可以分成幾類 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非競爭者間的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競爭者間的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競合關係合作投資採購商與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策略聯盟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供應商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Step 9 . 檢查成本結構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要讓我們商業模式運作，所會產生的所有成本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我們為了維持關鍵活動運作，會有那些花費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我們為了取得關鍵資源，會有那些花費 ?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固定成本變動成本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辦公室租金人員薪資廣告、行銷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業績獎金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記帳費用網域 / 伺服器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進料 / 備品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商業模式左半邊 – 內部營運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內部營運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亞尼克的智慧零售店商業模式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3698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機台研發 /維護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EDM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捷運站佈點 /開拓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官方網站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方便快速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年輕上班族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台北捷運站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20~25 歲台北地區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41841-B9C7-767C-B926-87DA472F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399634-D87B-B1AB-792F-F2CD4F9628DF}"/>
              </a:ext>
            </a:extLst>
          </p:cNvPr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亞尼克的智慧零售店商業模式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EFBA6-85BB-DD54-6B21-C8B6A7E3A5BD}"/>
              </a:ext>
            </a:extLst>
          </p:cNvPr>
          <p:cNvSpPr txBox="1"/>
          <p:nvPr/>
        </p:nvSpPr>
        <p:spPr>
          <a:xfrm>
            <a:off x="914400" y="1920240"/>
            <a:ext cx="10362895" cy="46524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TW" sz="2000">
                <a:solidFill>
                  <a:srgbClr val="464646"/>
                </a:solidFill>
                <a:latin typeface="微軟正黑體"/>
              </a:rPr>
              <a:t>• </a:t>
            </a:r>
            <a:r>
              <a:rPr lang="zh-TW" altLang="en-US" sz="2000">
                <a:solidFill>
                  <a:srgbClr val="464646"/>
                </a:solidFill>
                <a:latin typeface="微軟正黑體"/>
              </a:rPr>
              <a:t>軟硬體廠商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TW" sz="2000">
                <a:solidFill>
                  <a:srgbClr val="464646"/>
                </a:solidFill>
                <a:latin typeface="微軟正黑體"/>
              </a:rPr>
              <a:t>• </a:t>
            </a:r>
            <a:r>
              <a:rPr lang="zh-TW" altLang="en-US" sz="2000">
                <a:solidFill>
                  <a:srgbClr val="464646"/>
                </a:solidFill>
                <a:latin typeface="微軟正黑體"/>
              </a:rPr>
              <a:t>智能機台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TW" sz="2000">
                <a:solidFill>
                  <a:srgbClr val="464646"/>
                </a:solidFill>
                <a:latin typeface="微軟正黑體"/>
              </a:rPr>
              <a:t>• </a:t>
            </a:r>
            <a:r>
              <a:rPr lang="zh-TW" altLang="en-US" sz="2000">
                <a:solidFill>
                  <a:srgbClr val="464646"/>
                </a:solidFill>
                <a:latin typeface="微軟正黑體"/>
              </a:rPr>
              <a:t>捷運站的自動販賣機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TW" sz="2000">
                <a:solidFill>
                  <a:srgbClr val="464646"/>
                </a:solidFill>
                <a:latin typeface="微軟正黑體"/>
              </a:rPr>
              <a:t>• </a:t>
            </a:r>
            <a:r>
              <a:rPr lang="zh-TW" altLang="en-US" sz="2000">
                <a:solidFill>
                  <a:srgbClr val="464646"/>
                </a:solidFill>
                <a:latin typeface="微軟正黑體"/>
              </a:rPr>
              <a:t>男性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捷運站空間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管銷費用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機台成本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蛋糕銷售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通路費用 / 拆成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>
                <a:solidFill>
                  <a:srgbClr val="464646"/>
                </a:solidFill>
                <a:latin typeface="微軟正黑體"/>
              </a:rPr>
              <a:t>• 消費者行為數據</a:t>
            </a:r>
          </a:p>
        </p:txBody>
      </p:sp>
    </p:spTree>
    <p:extLst>
      <p:ext uri="{BB962C8B-B14F-4D97-AF65-F5344CB8AC3E}">
        <p14:creationId xmlns:p14="http://schemas.microsoft.com/office/powerpoint/2010/main" val="4119340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Facebook 的商業模式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3662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關鍵夥伴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關鍵活動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價值主張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顧客關係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顧客區隔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1. 程式開發商2. 投資人 ( 美國那斯達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1. 產品開發與管理2. 市場營銷 ( 平台 / 網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【個人】1. 可透過 Facebook 社群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1. 實名制2. 免費3. 重視使用者體驗4. 全球資訊無縫接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1. 個人用戶</a:t>
            </a:r>
            <a:endParaRPr sz="1500">
              <a:solidFill>
                <a:srgbClr val="464646"/>
              </a:solidFill>
              <a:latin typeface="微軟正黑體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0BA6-4FD7-6ED6-3AF9-43138191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F01429-7C20-3CCE-DBE3-994CB93CE2C2}"/>
              </a:ext>
            </a:extLst>
          </p:cNvPr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Facebook 的商業模式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7B038-0ECE-B225-FF4C-557929887764}"/>
              </a:ext>
            </a:extLst>
          </p:cNvPr>
          <p:cNvSpPr txBox="1"/>
          <p:nvPr/>
        </p:nvSpPr>
        <p:spPr>
          <a:xfrm>
            <a:off x="914400" y="1920240"/>
            <a:ext cx="10362895" cy="44164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對於人際關係經營、社交有需求的人。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克上市募資 )3. 第三方 APP 應用商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路 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平台發展人際關係2. 提供照片分享、按讚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( 遊戲 ...)4. 伺服器供應商5. 各大新聞媒體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留言、打卡分享、塗鴉牆、社交遊戲軟體3. 開設粉絲團建立人建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2. 企業用戶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商業推廣有需求的人。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立同好4. 使用者可傳送圖片、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關鍵資源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通路</a:t>
            </a:r>
          </a:p>
        </p:txBody>
      </p:sp>
    </p:spTree>
    <p:extLst>
      <p:ext uri="{BB962C8B-B14F-4D97-AF65-F5344CB8AC3E}">
        <p14:creationId xmlns:p14="http://schemas.microsoft.com/office/powerpoint/2010/main" val="17930624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DDD4-1855-D052-2909-F57056D4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0367C7-4386-A6AE-979C-A0AB805818DD}"/>
              </a:ext>
            </a:extLst>
          </p:cNvPr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Facebook 的商業模式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E6FE7-F34F-44C6-ABC0-732C1783CAC2}"/>
              </a:ext>
            </a:extLst>
          </p:cNvPr>
          <p:cNvSpPr txBox="1"/>
          <p:nvPr/>
        </p:nvSpPr>
        <p:spPr>
          <a:xfrm>
            <a:off x="914400" y="1920240"/>
            <a:ext cx="10362895" cy="3662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影片、貼圖和聲音媒體訊息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1.技術平台2.工程師3.行銷資源 ( 品牌、內容、客戶數據數 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1. 行動 APP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(Android/AppStore 商店 )2. 網站3. 跨站登入功能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【企業】1. 開設粉絲團經營客戶2. 訊息佈達線上客戶3. 吸引目標客群的媒介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成本結構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收益流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1. 技術基礎設備 ( 伺服器建置、網路架設 )2. 活動推出與營銷支出 ( 硬體設備、辦公設施建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464646"/>
                </a:solidFill>
                <a:latin typeface="微軟正黑體"/>
              </a:rPr>
              <a:t>1.廣告業務2.使用者付費廣告收入 ( 贊助商廣告 )3.來自與第三方應用程式的合作4.付費調查問卷5.用戶購買虛擬產品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置及維護、用戶取得 )3. 開發成本 ( 人力 )</a:t>
            </a:r>
          </a:p>
        </p:txBody>
      </p:sp>
    </p:spTree>
    <p:extLst>
      <p:ext uri="{BB962C8B-B14F-4D97-AF65-F5344CB8AC3E}">
        <p14:creationId xmlns:p14="http://schemas.microsoft.com/office/powerpoint/2010/main" val="2325325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E1E1E"/>
                </a:solidFill>
                <a:latin typeface="微軟正黑體"/>
              </a:rPr>
              <a:t>Business Model Canvas題目「」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3285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主要夥伴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Key Partner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關鍵活動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Key Activity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價值主張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Value Proposition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客戶關係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Customer Relation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客戶區隔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Customer Segment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核心資源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Key Resource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通路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Channel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成本結構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Cost Structure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464646"/>
                </a:solidFill>
                <a:latin typeface="微軟正黑體"/>
              </a:rPr>
              <a:t>• 収入來源</a:t>
            </a:r>
            <a:r>
              <a:rPr lang="zh-TW" altLang="en-US" sz="1500">
                <a:solidFill>
                  <a:srgbClr val="464646"/>
                </a:solidFill>
                <a:latin typeface="微軟正黑體"/>
              </a:rPr>
              <a:t> </a:t>
            </a:r>
            <a:r>
              <a:rPr sz="1500">
                <a:solidFill>
                  <a:srgbClr val="464646"/>
                </a:solidFill>
                <a:latin typeface="微軟正黑體"/>
              </a:rPr>
              <a:t>Revenue Stream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812</Words>
  <Application>Microsoft Office PowerPoint</Application>
  <PresentationFormat>寬螢幕</PresentationFormat>
  <Paragraphs>204</Paragraphs>
  <Slides>39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3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2</cp:revision>
  <dcterms:created xsi:type="dcterms:W3CDTF">2013-01-27T09:14:16Z</dcterms:created>
  <dcterms:modified xsi:type="dcterms:W3CDTF">2026-06-16T13:54:13Z</dcterms:modified>
  <cp:category/>
</cp:coreProperties>
</file>