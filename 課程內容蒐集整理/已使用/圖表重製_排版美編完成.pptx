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315" r:id="rId2"/>
    <p:sldId id="318" r:id="rId3"/>
    <p:sldId id="324" r:id="rId4"/>
    <p:sldId id="342" r:id="rId5"/>
    <p:sldId id="274" r:id="rId6"/>
    <p:sldId id="275" r:id="rId7"/>
    <p:sldId id="276" r:id="rId8"/>
    <p:sldId id="277" r:id="rId9"/>
    <p:sldId id="281" r:id="rId10"/>
    <p:sldId id="343" r:id="rId11"/>
    <p:sldId id="344" r:id="rId12"/>
    <p:sldId id="285" r:id="rId13"/>
  </p:sldIdLst>
  <p:sldSz cx="12192000" cy="6858000"/>
  <p:notesSz cx="6858000" cy="9144000"/>
  <p:embeddedFontLs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Play" panose="02020500000000000000" charset="0"/>
      <p:regular r:id="rId19"/>
      <p:bold r:id="rId20"/>
    </p:embeddedFont>
    <p:embeddedFont>
      <p:font typeface="Sorts Mill Goudy" panose="02020500000000000000" charset="0"/>
      <p:regular r:id="rId21"/>
      <p:italic r:id="rId22"/>
    </p:embeddedFont>
    <p:embeddedFont>
      <p:font typeface="微軟正黑體" panose="020B0604030504040204" pitchFamily="34" charset="-120"/>
      <p:regular r:id="rId23"/>
      <p:bold r:id="rId24"/>
    </p:embeddedFont>
    <p:embeddedFont>
      <p:font typeface="微軟正黑體" panose="020B0604030504040204" pitchFamily="34" charset="-12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gaXduYBG7CpxlFZ5WypRoPl9h6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90A7B1-4E57-414F-A691-BBF2D41FF7F8}">
  <a:tblStyle styleId="{0290A7B1-4E57-414F-A691-BBF2D41FF7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F58934E-97CE-46EE-A770-7463855D78A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79355BA-7E2F-4E88-B67C-C7D27DEBA5CB}" styleName="Table_2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5E7"/>
          </a:solidFill>
        </a:fill>
      </a:tcStyle>
    </a:wholeTbl>
    <a:band1H>
      <a:tcTxStyle b="off" i="off"/>
      <a:tcStyle>
        <a:tcBdr/>
        <a:fill>
          <a:solidFill>
            <a:srgbClr val="DFEB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FEB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B173A89-6160-439E-9978-F410836017BA}" styleName="Table_3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22F388C-1F6B-4AB5-9C62-B9090D8053F8}" styleName="Table_4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2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12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128" Type="http://schemas.openxmlformats.org/officeDocument/2006/relationships/presProps" Target="presProps.xml"/><Relationship Id="rId13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27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13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3" name="Google Shape;663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1" name="Google Shape;681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8" name="Google Shape;71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>
          <a:extLst>
            <a:ext uri="{FF2B5EF4-FFF2-40B4-BE49-F238E27FC236}">
              <a16:creationId xmlns:a16="http://schemas.microsoft.com/office/drawing/2014/main" id="{42802B27-0656-7D1D-5278-587E46C5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edab84c4f9_2_0:notes">
            <a:extLst>
              <a:ext uri="{FF2B5EF4-FFF2-40B4-BE49-F238E27FC236}">
                <a16:creationId xmlns:a16="http://schemas.microsoft.com/office/drawing/2014/main" id="{6C9191DF-1AB6-F3E1-4E3D-B7C908ACC4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edab84c4f9_2_0:notes">
            <a:extLst>
              <a:ext uri="{FF2B5EF4-FFF2-40B4-BE49-F238E27FC236}">
                <a16:creationId xmlns:a16="http://schemas.microsoft.com/office/drawing/2014/main" id="{641A1DEE-B4E5-0D89-F67F-8BFCA672B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g3edab84c4f9_2_0:notes">
            <a:extLst>
              <a:ext uri="{FF2B5EF4-FFF2-40B4-BE49-F238E27FC236}">
                <a16:creationId xmlns:a16="http://schemas.microsoft.com/office/drawing/2014/main" id="{27AE52DC-CA5B-80C7-05A6-D136408FD6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7030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251152d7f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g3f251152d7f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g3f251152d7f_0_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251152d7f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f251152d7f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251152d7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g3f251152d7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251152d7f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f251152d7f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251152d7f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251152d7f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f251152d7f_0_6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251152d7f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f251152d7f_0_6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g3f251152d7f_0_6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251152d7f_0_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f251152d7f_0_6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g3f251152d7f_0_6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251152d7f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g3f251152d7f_2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「當你把信任與互動都建立好之後，最後推廣落地的成果，你就能清清楚楚地看透——【客從哪來】！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很多老師天天在盲目亂下廣告，預算花光了卻沒有半個客人。因為你沒有建立通路的架構。大健康產業，我們必須打通這三個維度：【天網引流】、【地網體驗】、【人網口碑】。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來看我們的東西方名家背書：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廣告教父大衛·奧格威說過：『如果不能帶來銷售，再有創意也是扯淡。客人不是白痴，她就像你老婆一樣聰明。』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東方第一經濟學家管仲也定下鐵律：『通流物資，客自引來。』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意思就是：通路一旦理順，客流自然順流主動走進來。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我們來看『台灣高鐵』，它用手機 App 與網路宣傳（天網引流）把票賣出去；用乾淨、高效率的實體車站與乘車環境（地網體驗）完成交付；最後靠著安全、快速的極致口碑（人網口碑）帶來了無可動搖的高回購率。這，就是客從哪來的終極秘密。」</a:t>
            </a:r>
            <a:endParaRPr/>
          </a:p>
        </p:txBody>
      </p:sp>
      <p:sp>
        <p:nvSpPr>
          <p:cNvPr id="524" name="Google Shape;524;g3f251152d7f_2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訂版面配置">
  <p:cSld name="自訂版面配置">
    <p:bg>
      <p:bgPr>
        <a:solidFill>
          <a:srgbClr val="FAFAE6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7976" cy="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725904" y="1327331"/>
            <a:ext cx="11042423" cy="476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自訂版面配置">
  <p:cSld name="4_自訂版面配置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2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7976" cy="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/>
          <p:nvPr/>
        </p:nvSpPr>
        <p:spPr>
          <a:xfrm>
            <a:off x="442913" y="388144"/>
            <a:ext cx="9600" cy="5619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8200" y="1407541"/>
            <a:ext cx="5181600" cy="476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body" idx="2"/>
          </p:nvPr>
        </p:nvSpPr>
        <p:spPr>
          <a:xfrm>
            <a:off x="6172200" y="1407541"/>
            <a:ext cx="5181600" cy="476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訂版面配置">
  <p:cSld name="1_自訂版面配置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7976" cy="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自訂版面配置">
  <p:cSld name="2_自訂版面配置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5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7976" cy="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自訂版面配置">
  <p:cSld name="3_自訂版面配置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6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7976" cy="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5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5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0" name="Google Shape;80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1_標題投影片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0"/>
          <p:cNvSpPr txBox="1">
            <a:spLocks noGrp="1"/>
          </p:cNvSpPr>
          <p:nvPr>
            <p:ph type="ctrTitle"/>
          </p:nvPr>
        </p:nvSpPr>
        <p:spPr>
          <a:xfrm>
            <a:off x="0" y="2157319"/>
            <a:ext cx="11887200" cy="8778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0"/>
          <p:cNvSpPr txBox="1">
            <a:spLocks noGrp="1"/>
          </p:cNvSpPr>
          <p:nvPr>
            <p:ph type="subTitle" idx="1"/>
          </p:nvPr>
        </p:nvSpPr>
        <p:spPr>
          <a:xfrm>
            <a:off x="1219200" y="3034571"/>
            <a:ext cx="10668000" cy="382350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91425" rIns="274300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7" name="Google Shape;87;p60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  <a:defRPr sz="18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60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  <a:defRPr sz="18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60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>
  <p:cSld name="标题幻灯片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2"/>
          <p:cNvSpPr txBox="1">
            <a:spLocks noGrp="1"/>
          </p:cNvSpPr>
          <p:nvPr>
            <p:ph type="title"/>
          </p:nvPr>
        </p:nvSpPr>
        <p:spPr>
          <a:xfrm>
            <a:off x="2667000" y="1122362"/>
            <a:ext cx="6858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2"/>
          <p:cNvSpPr txBox="1">
            <a:spLocks noGrp="1"/>
          </p:cNvSpPr>
          <p:nvPr>
            <p:ph type="body" idx="1"/>
          </p:nvPr>
        </p:nvSpPr>
        <p:spPr>
          <a:xfrm>
            <a:off x="2667000" y="3602037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62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58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0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>
  <p:cSld name="兩項物件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6"/>
          <p:cNvSpPr txBox="1">
            <a:spLocks noGrp="1"/>
          </p:cNvSpPr>
          <p:nvPr>
            <p:ph type="title"/>
          </p:nvPr>
        </p:nvSpPr>
        <p:spPr>
          <a:xfrm>
            <a:off x="10" y="0"/>
            <a:ext cx="12192000" cy="12471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54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3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67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300" cy="43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·"/>
              <a:defRPr/>
            </a:lvl5pPr>
            <a:lvl6pPr marL="2743200" lvl="5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6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自訂版面配置">
  <p:cSld name="6_自訂版面配置">
    <p:bg>
      <p:bgPr>
        <a:solidFill>
          <a:srgbClr val="FAFAE6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670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7778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867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6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業力法則</a:t>
            </a:r>
            <a:endParaRPr/>
          </a:p>
        </p:txBody>
      </p:sp>
      <p:sp>
        <p:nvSpPr>
          <p:cNvPr id="667" name="Oval 666"/>
          <p:cNvSpPr/>
          <p:nvPr/>
        </p:nvSpPr>
        <p:spPr>
          <a:xfrm>
            <a:off x="2873959" y="3300069"/>
            <a:ext cx="822960" cy="82296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92400E"/>
                </a:solidFill>
                <a:latin typeface="微軟正黑體"/>
              </a:defRPr>
            </a:pPr>
            <a:r>
              <a:rPr sz="1800">
                <a:latin typeface="微軟正黑體"/>
              </a:rPr>
              <a:t>我</a:t>
            </a:r>
          </a:p>
        </p:txBody>
      </p:sp>
      <p:sp>
        <p:nvSpPr>
          <p:cNvPr id="668" name="Oval 667"/>
          <p:cNvSpPr/>
          <p:nvPr/>
        </p:nvSpPr>
        <p:spPr>
          <a:xfrm>
            <a:off x="2873959" y="1379829"/>
            <a:ext cx="822960" cy="82296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74151"/>
                </a:solidFill>
                <a:latin typeface="微軟正黑體"/>
              </a:defRPr>
            </a:pPr>
            <a:r>
              <a:rPr sz="1800">
                <a:latin typeface="微軟正黑體"/>
              </a:rPr>
              <a:t>世界</a:t>
            </a:r>
          </a:p>
        </p:txBody>
      </p:sp>
      <p:sp>
        <p:nvSpPr>
          <p:cNvPr id="669" name="Down Arrow 668"/>
          <p:cNvSpPr/>
          <p:nvPr/>
        </p:nvSpPr>
        <p:spPr>
          <a:xfrm>
            <a:off x="3142029" y="4384524"/>
            <a:ext cx="184666" cy="615552"/>
          </a:xfrm>
          <a:prstGeom prst="down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670" name="Up Arrow 669"/>
          <p:cNvSpPr/>
          <p:nvPr/>
        </p:nvSpPr>
        <p:spPr>
          <a:xfrm>
            <a:off x="3324909" y="4384524"/>
            <a:ext cx="184666" cy="615552"/>
          </a:xfrm>
          <a:prstGeom prst="up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671" name="TextBox 670"/>
          <p:cNvSpPr txBox="1"/>
          <p:nvPr/>
        </p:nvSpPr>
        <p:spPr>
          <a:xfrm>
            <a:off x="2911937" y="2459378"/>
            <a:ext cx="184666" cy="677291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>
              <a:defRPr sz="650" b="0">
                <a:solidFill>
                  <a:srgbClr val="EF4444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促成成功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3495367" y="2429603"/>
            <a:ext cx="184666" cy="636403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 algn="l">
              <a:defRPr sz="650" b="0">
                <a:solidFill>
                  <a:srgbClr val="22C55E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帶來成功</a:t>
            </a:r>
          </a:p>
        </p:txBody>
      </p:sp>
      <p:sp>
        <p:nvSpPr>
          <p:cNvPr id="673" name="Oval 672"/>
          <p:cNvSpPr/>
          <p:nvPr/>
        </p:nvSpPr>
        <p:spPr>
          <a:xfrm>
            <a:off x="1068019" y="3300069"/>
            <a:ext cx="822960" cy="82296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74151"/>
                </a:solidFill>
                <a:latin typeface="微軟正黑體"/>
              </a:defRPr>
            </a:pPr>
            <a:r>
              <a:rPr sz="1800">
                <a:latin typeface="微軟正黑體"/>
              </a:rPr>
              <a:t>同事</a:t>
            </a:r>
          </a:p>
        </p:txBody>
      </p:sp>
      <p:sp>
        <p:nvSpPr>
          <p:cNvPr id="674" name="Right Arrow 673"/>
          <p:cNvSpPr/>
          <p:nvPr/>
        </p:nvSpPr>
        <p:spPr>
          <a:xfrm>
            <a:off x="3906694" y="3501237"/>
            <a:ext cx="609598" cy="182880"/>
          </a:xfrm>
          <a:prstGeom prst="right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675" name="Left Arrow 674"/>
          <p:cNvSpPr/>
          <p:nvPr/>
        </p:nvSpPr>
        <p:spPr>
          <a:xfrm>
            <a:off x="3906694" y="3684117"/>
            <a:ext cx="609598" cy="182880"/>
          </a:xfrm>
          <a:prstGeom prst="left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676" name="TextBox 675"/>
          <p:cNvSpPr txBox="1"/>
          <p:nvPr/>
        </p:nvSpPr>
        <p:spPr>
          <a:xfrm>
            <a:off x="2063324" y="330006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EF4444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促成成功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2063324" y="389442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22C55E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帶來成功</a:t>
            </a:r>
          </a:p>
        </p:txBody>
      </p:sp>
      <p:sp>
        <p:nvSpPr>
          <p:cNvPr id="678" name="Oval 677"/>
          <p:cNvSpPr/>
          <p:nvPr/>
        </p:nvSpPr>
        <p:spPr>
          <a:xfrm>
            <a:off x="2873959" y="5185002"/>
            <a:ext cx="822960" cy="82296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74151"/>
                </a:solidFill>
                <a:latin typeface="微軟正黑體"/>
              </a:defRPr>
            </a:pPr>
            <a:r>
              <a:rPr sz="1800">
                <a:latin typeface="微軟正黑體"/>
              </a:rPr>
              <a:t>供應商</a:t>
            </a:r>
          </a:p>
        </p:txBody>
      </p:sp>
      <p:sp>
        <p:nvSpPr>
          <p:cNvPr id="679" name="Up Arrow 678"/>
          <p:cNvSpPr/>
          <p:nvPr/>
        </p:nvSpPr>
        <p:spPr>
          <a:xfrm>
            <a:off x="3133179" y="2428976"/>
            <a:ext cx="182880" cy="609598"/>
          </a:xfrm>
          <a:prstGeom prst="up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680" name="Down Arrow 679"/>
          <p:cNvSpPr/>
          <p:nvPr/>
        </p:nvSpPr>
        <p:spPr>
          <a:xfrm>
            <a:off x="3316059" y="2428976"/>
            <a:ext cx="182880" cy="609598"/>
          </a:xfrm>
          <a:prstGeom prst="down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683" name="Oval 682"/>
          <p:cNvSpPr/>
          <p:nvPr/>
        </p:nvSpPr>
        <p:spPr>
          <a:xfrm>
            <a:off x="4759907" y="3272637"/>
            <a:ext cx="822960" cy="82296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74151"/>
                </a:solidFill>
                <a:latin typeface="微軟正黑體"/>
              </a:defRPr>
            </a:pPr>
            <a:r>
              <a:rPr sz="1800">
                <a:latin typeface="微軟正黑體"/>
              </a:rPr>
              <a:t>顧客</a:t>
            </a:r>
          </a:p>
        </p:txBody>
      </p:sp>
      <p:sp>
        <p:nvSpPr>
          <p:cNvPr id="684" name="Left Arrow 683"/>
          <p:cNvSpPr/>
          <p:nvPr/>
        </p:nvSpPr>
        <p:spPr>
          <a:xfrm>
            <a:off x="2073859" y="3505809"/>
            <a:ext cx="609600" cy="182880"/>
          </a:xfrm>
          <a:prstGeom prst="left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685" name="Right Arrow 684"/>
          <p:cNvSpPr/>
          <p:nvPr/>
        </p:nvSpPr>
        <p:spPr>
          <a:xfrm>
            <a:off x="2073859" y="3688689"/>
            <a:ext cx="609600" cy="182880"/>
          </a:xfrm>
          <a:prstGeom prst="right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686" name="TextBox 685"/>
          <p:cNvSpPr txBox="1"/>
          <p:nvPr/>
        </p:nvSpPr>
        <p:spPr>
          <a:xfrm>
            <a:off x="3891229" y="330006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EF4444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促成成功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3891229" y="389442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22C55E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帶來成功</a:t>
            </a:r>
          </a:p>
        </p:txBody>
      </p:sp>
      <p:sp>
        <p:nvSpPr>
          <p:cNvPr id="689" name="Oval 688"/>
          <p:cNvSpPr/>
          <p:nvPr/>
        </p:nvSpPr>
        <p:spPr>
          <a:xfrm>
            <a:off x="6015612" y="745537"/>
            <a:ext cx="5932024" cy="5932024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2" name="TextBox 670">
            <a:extLst>
              <a:ext uri="{FF2B5EF4-FFF2-40B4-BE49-F238E27FC236}">
                <a16:creationId xmlns:a16="http://schemas.microsoft.com/office/drawing/2014/main" id="{89C1BFF6-646B-3A37-739E-A06AD9515390}"/>
              </a:ext>
            </a:extLst>
          </p:cNvPr>
          <p:cNvSpPr txBox="1"/>
          <p:nvPr/>
        </p:nvSpPr>
        <p:spPr>
          <a:xfrm>
            <a:off x="2928823" y="4413300"/>
            <a:ext cx="184666" cy="677291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>
              <a:defRPr sz="650" b="0">
                <a:solidFill>
                  <a:srgbClr val="EF4444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促成成功</a:t>
            </a:r>
          </a:p>
        </p:txBody>
      </p:sp>
      <p:sp>
        <p:nvSpPr>
          <p:cNvPr id="3" name="TextBox 671">
            <a:extLst>
              <a:ext uri="{FF2B5EF4-FFF2-40B4-BE49-F238E27FC236}">
                <a16:creationId xmlns:a16="http://schemas.microsoft.com/office/drawing/2014/main" id="{F6922B33-C452-4160-B8C1-AA6C6CBD9540}"/>
              </a:ext>
            </a:extLst>
          </p:cNvPr>
          <p:cNvSpPr txBox="1"/>
          <p:nvPr/>
        </p:nvSpPr>
        <p:spPr>
          <a:xfrm>
            <a:off x="3512253" y="4383525"/>
            <a:ext cx="184666" cy="636403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 algn="l">
              <a:defRPr sz="650" b="0">
                <a:solidFill>
                  <a:srgbClr val="22C55E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帶來成功</a:t>
            </a:r>
          </a:p>
        </p:txBody>
      </p:sp>
      <p:sp>
        <p:nvSpPr>
          <p:cNvPr id="4" name="Oval 666">
            <a:extLst>
              <a:ext uri="{FF2B5EF4-FFF2-40B4-BE49-F238E27FC236}">
                <a16:creationId xmlns:a16="http://schemas.microsoft.com/office/drawing/2014/main" id="{15E250B8-6A7C-B81B-A486-1ADB16F914CC}"/>
              </a:ext>
            </a:extLst>
          </p:cNvPr>
          <p:cNvSpPr/>
          <p:nvPr/>
        </p:nvSpPr>
        <p:spPr>
          <a:xfrm>
            <a:off x="8553899" y="3300069"/>
            <a:ext cx="822960" cy="82296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92400E"/>
                </a:solidFill>
                <a:latin typeface="微軟正黑體"/>
              </a:defRPr>
            </a:pPr>
            <a:r>
              <a:rPr sz="1800">
                <a:latin typeface="微軟正黑體"/>
              </a:rPr>
              <a:t>我</a:t>
            </a:r>
          </a:p>
        </p:txBody>
      </p:sp>
      <p:sp>
        <p:nvSpPr>
          <p:cNvPr id="5" name="Oval 667">
            <a:extLst>
              <a:ext uri="{FF2B5EF4-FFF2-40B4-BE49-F238E27FC236}">
                <a16:creationId xmlns:a16="http://schemas.microsoft.com/office/drawing/2014/main" id="{F8F136AE-B43F-C152-699E-F11FF7FAB7CC}"/>
              </a:ext>
            </a:extLst>
          </p:cNvPr>
          <p:cNvSpPr/>
          <p:nvPr/>
        </p:nvSpPr>
        <p:spPr>
          <a:xfrm>
            <a:off x="8553899" y="1379829"/>
            <a:ext cx="822960" cy="82296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74151"/>
                </a:solidFill>
                <a:latin typeface="微軟正黑體"/>
              </a:defRPr>
            </a:pPr>
            <a:r>
              <a:rPr sz="1800">
                <a:latin typeface="微軟正黑體"/>
              </a:rPr>
              <a:t>世界</a:t>
            </a:r>
          </a:p>
        </p:txBody>
      </p:sp>
      <p:sp>
        <p:nvSpPr>
          <p:cNvPr id="6" name="Down Arrow 668">
            <a:extLst>
              <a:ext uri="{FF2B5EF4-FFF2-40B4-BE49-F238E27FC236}">
                <a16:creationId xmlns:a16="http://schemas.microsoft.com/office/drawing/2014/main" id="{EDF8B7A2-10C1-2822-ABC6-F2D10834D724}"/>
              </a:ext>
            </a:extLst>
          </p:cNvPr>
          <p:cNvSpPr/>
          <p:nvPr/>
        </p:nvSpPr>
        <p:spPr>
          <a:xfrm>
            <a:off x="8821969" y="4384524"/>
            <a:ext cx="184666" cy="615552"/>
          </a:xfrm>
          <a:prstGeom prst="down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7" name="Up Arrow 669">
            <a:extLst>
              <a:ext uri="{FF2B5EF4-FFF2-40B4-BE49-F238E27FC236}">
                <a16:creationId xmlns:a16="http://schemas.microsoft.com/office/drawing/2014/main" id="{45465E3E-E8EC-52EE-04BF-4F08C05E2D4C}"/>
              </a:ext>
            </a:extLst>
          </p:cNvPr>
          <p:cNvSpPr/>
          <p:nvPr/>
        </p:nvSpPr>
        <p:spPr>
          <a:xfrm>
            <a:off x="9004849" y="4384524"/>
            <a:ext cx="184666" cy="615552"/>
          </a:xfrm>
          <a:prstGeom prst="up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8" name="TextBox 670">
            <a:extLst>
              <a:ext uri="{FF2B5EF4-FFF2-40B4-BE49-F238E27FC236}">
                <a16:creationId xmlns:a16="http://schemas.microsoft.com/office/drawing/2014/main" id="{08B88EB7-5BD8-CCC8-68A0-182A64AB271A}"/>
              </a:ext>
            </a:extLst>
          </p:cNvPr>
          <p:cNvSpPr txBox="1"/>
          <p:nvPr/>
        </p:nvSpPr>
        <p:spPr>
          <a:xfrm>
            <a:off x="8591877" y="2459378"/>
            <a:ext cx="184666" cy="677291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>
              <a:defRPr sz="650" b="0">
                <a:solidFill>
                  <a:srgbClr val="EF4444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促成成功</a:t>
            </a:r>
          </a:p>
        </p:txBody>
      </p:sp>
      <p:sp>
        <p:nvSpPr>
          <p:cNvPr id="9" name="TextBox 671">
            <a:extLst>
              <a:ext uri="{FF2B5EF4-FFF2-40B4-BE49-F238E27FC236}">
                <a16:creationId xmlns:a16="http://schemas.microsoft.com/office/drawing/2014/main" id="{C3455113-BA49-F9BB-D72F-3B7777D481AF}"/>
              </a:ext>
            </a:extLst>
          </p:cNvPr>
          <p:cNvSpPr txBox="1"/>
          <p:nvPr/>
        </p:nvSpPr>
        <p:spPr>
          <a:xfrm>
            <a:off x="9175307" y="2429603"/>
            <a:ext cx="184666" cy="636403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 algn="l">
              <a:defRPr sz="650" b="0">
                <a:solidFill>
                  <a:srgbClr val="22C55E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帶來成功</a:t>
            </a:r>
          </a:p>
        </p:txBody>
      </p:sp>
      <p:sp>
        <p:nvSpPr>
          <p:cNvPr id="10" name="Oval 672">
            <a:extLst>
              <a:ext uri="{FF2B5EF4-FFF2-40B4-BE49-F238E27FC236}">
                <a16:creationId xmlns:a16="http://schemas.microsoft.com/office/drawing/2014/main" id="{56751EE8-4BE9-D7A1-2EB4-34BECC9C0334}"/>
              </a:ext>
            </a:extLst>
          </p:cNvPr>
          <p:cNvSpPr/>
          <p:nvPr/>
        </p:nvSpPr>
        <p:spPr>
          <a:xfrm>
            <a:off x="6747959" y="3300069"/>
            <a:ext cx="822960" cy="82296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74151"/>
                </a:solidFill>
                <a:latin typeface="微軟正黑體"/>
              </a:defRPr>
            </a:pPr>
            <a:r>
              <a:rPr sz="1800">
                <a:latin typeface="微軟正黑體"/>
              </a:rPr>
              <a:t>同事</a:t>
            </a:r>
          </a:p>
        </p:txBody>
      </p:sp>
      <p:sp>
        <p:nvSpPr>
          <p:cNvPr id="11" name="Right Arrow 673">
            <a:extLst>
              <a:ext uri="{FF2B5EF4-FFF2-40B4-BE49-F238E27FC236}">
                <a16:creationId xmlns:a16="http://schemas.microsoft.com/office/drawing/2014/main" id="{320A6D41-EEA4-C4EE-155A-A9AF011FDED0}"/>
              </a:ext>
            </a:extLst>
          </p:cNvPr>
          <p:cNvSpPr/>
          <p:nvPr/>
        </p:nvSpPr>
        <p:spPr>
          <a:xfrm>
            <a:off x="9586634" y="3501237"/>
            <a:ext cx="609598" cy="182880"/>
          </a:xfrm>
          <a:prstGeom prst="right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12" name="Left Arrow 674">
            <a:extLst>
              <a:ext uri="{FF2B5EF4-FFF2-40B4-BE49-F238E27FC236}">
                <a16:creationId xmlns:a16="http://schemas.microsoft.com/office/drawing/2014/main" id="{05B3D884-4128-9F81-2F22-738922837A5A}"/>
              </a:ext>
            </a:extLst>
          </p:cNvPr>
          <p:cNvSpPr/>
          <p:nvPr/>
        </p:nvSpPr>
        <p:spPr>
          <a:xfrm>
            <a:off x="9586634" y="3684117"/>
            <a:ext cx="609598" cy="182880"/>
          </a:xfrm>
          <a:prstGeom prst="left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13" name="TextBox 675">
            <a:extLst>
              <a:ext uri="{FF2B5EF4-FFF2-40B4-BE49-F238E27FC236}">
                <a16:creationId xmlns:a16="http://schemas.microsoft.com/office/drawing/2014/main" id="{F0BC252B-51D5-B9CB-EB22-06425F33A190}"/>
              </a:ext>
            </a:extLst>
          </p:cNvPr>
          <p:cNvSpPr txBox="1"/>
          <p:nvPr/>
        </p:nvSpPr>
        <p:spPr>
          <a:xfrm>
            <a:off x="7743264" y="330006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EF4444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促成成功</a:t>
            </a:r>
          </a:p>
        </p:txBody>
      </p:sp>
      <p:sp>
        <p:nvSpPr>
          <p:cNvPr id="14" name="TextBox 676">
            <a:extLst>
              <a:ext uri="{FF2B5EF4-FFF2-40B4-BE49-F238E27FC236}">
                <a16:creationId xmlns:a16="http://schemas.microsoft.com/office/drawing/2014/main" id="{4765D452-4BBF-405C-F2F2-EFADD23B6A1D}"/>
              </a:ext>
            </a:extLst>
          </p:cNvPr>
          <p:cNvSpPr txBox="1"/>
          <p:nvPr/>
        </p:nvSpPr>
        <p:spPr>
          <a:xfrm>
            <a:off x="7743264" y="389442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22C55E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帶來成功</a:t>
            </a:r>
          </a:p>
        </p:txBody>
      </p:sp>
      <p:sp>
        <p:nvSpPr>
          <p:cNvPr id="15" name="Oval 677">
            <a:extLst>
              <a:ext uri="{FF2B5EF4-FFF2-40B4-BE49-F238E27FC236}">
                <a16:creationId xmlns:a16="http://schemas.microsoft.com/office/drawing/2014/main" id="{2BC2F83F-20B9-FC81-82E9-10AB4FDB872B}"/>
              </a:ext>
            </a:extLst>
          </p:cNvPr>
          <p:cNvSpPr/>
          <p:nvPr/>
        </p:nvSpPr>
        <p:spPr>
          <a:xfrm>
            <a:off x="8553899" y="5185002"/>
            <a:ext cx="822960" cy="82296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74151"/>
                </a:solidFill>
                <a:latin typeface="微軟正黑體"/>
              </a:defRPr>
            </a:pPr>
            <a:r>
              <a:rPr sz="1800">
                <a:latin typeface="微軟正黑體"/>
              </a:rPr>
              <a:t>供應商</a:t>
            </a:r>
          </a:p>
        </p:txBody>
      </p:sp>
      <p:sp>
        <p:nvSpPr>
          <p:cNvPr id="16" name="Up Arrow 678">
            <a:extLst>
              <a:ext uri="{FF2B5EF4-FFF2-40B4-BE49-F238E27FC236}">
                <a16:creationId xmlns:a16="http://schemas.microsoft.com/office/drawing/2014/main" id="{8A498E0F-5A0C-966E-3304-E72BCF0C8057}"/>
              </a:ext>
            </a:extLst>
          </p:cNvPr>
          <p:cNvSpPr/>
          <p:nvPr/>
        </p:nvSpPr>
        <p:spPr>
          <a:xfrm>
            <a:off x="8813119" y="2428976"/>
            <a:ext cx="182880" cy="609598"/>
          </a:xfrm>
          <a:prstGeom prst="up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17" name="Down Arrow 679">
            <a:extLst>
              <a:ext uri="{FF2B5EF4-FFF2-40B4-BE49-F238E27FC236}">
                <a16:creationId xmlns:a16="http://schemas.microsoft.com/office/drawing/2014/main" id="{90E5E1DD-6D28-FA2C-C9A7-BED1583ADD4D}"/>
              </a:ext>
            </a:extLst>
          </p:cNvPr>
          <p:cNvSpPr/>
          <p:nvPr/>
        </p:nvSpPr>
        <p:spPr>
          <a:xfrm>
            <a:off x="8995999" y="2428976"/>
            <a:ext cx="182880" cy="609598"/>
          </a:xfrm>
          <a:prstGeom prst="down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18" name="Oval 682">
            <a:extLst>
              <a:ext uri="{FF2B5EF4-FFF2-40B4-BE49-F238E27FC236}">
                <a16:creationId xmlns:a16="http://schemas.microsoft.com/office/drawing/2014/main" id="{4FB66FEC-9172-3518-DFC1-3371C7A036CD}"/>
              </a:ext>
            </a:extLst>
          </p:cNvPr>
          <p:cNvSpPr/>
          <p:nvPr/>
        </p:nvSpPr>
        <p:spPr>
          <a:xfrm>
            <a:off x="10439847" y="3272637"/>
            <a:ext cx="822960" cy="82296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74151"/>
                </a:solidFill>
                <a:latin typeface="微軟正黑體"/>
              </a:defRPr>
            </a:pPr>
            <a:r>
              <a:rPr sz="1800">
                <a:latin typeface="微軟正黑體"/>
              </a:rPr>
              <a:t>顧客</a:t>
            </a:r>
          </a:p>
        </p:txBody>
      </p:sp>
      <p:sp>
        <p:nvSpPr>
          <p:cNvPr id="19" name="Left Arrow 683">
            <a:extLst>
              <a:ext uri="{FF2B5EF4-FFF2-40B4-BE49-F238E27FC236}">
                <a16:creationId xmlns:a16="http://schemas.microsoft.com/office/drawing/2014/main" id="{9FA3818B-4D0D-645F-B7A2-F5D2790C956E}"/>
              </a:ext>
            </a:extLst>
          </p:cNvPr>
          <p:cNvSpPr/>
          <p:nvPr/>
        </p:nvSpPr>
        <p:spPr>
          <a:xfrm>
            <a:off x="7753799" y="3505809"/>
            <a:ext cx="609600" cy="182880"/>
          </a:xfrm>
          <a:prstGeom prst="left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20" name="Right Arrow 684">
            <a:extLst>
              <a:ext uri="{FF2B5EF4-FFF2-40B4-BE49-F238E27FC236}">
                <a16:creationId xmlns:a16="http://schemas.microsoft.com/office/drawing/2014/main" id="{9BBF5797-850E-EBAE-DF9C-B748CCB72B92}"/>
              </a:ext>
            </a:extLst>
          </p:cNvPr>
          <p:cNvSpPr/>
          <p:nvPr/>
        </p:nvSpPr>
        <p:spPr>
          <a:xfrm>
            <a:off x="7753799" y="3688689"/>
            <a:ext cx="609600" cy="182880"/>
          </a:xfrm>
          <a:prstGeom prst="right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21" name="TextBox 685">
            <a:extLst>
              <a:ext uri="{FF2B5EF4-FFF2-40B4-BE49-F238E27FC236}">
                <a16:creationId xmlns:a16="http://schemas.microsoft.com/office/drawing/2014/main" id="{5D5BD789-2979-E618-3FC6-C578CC64CCCA}"/>
              </a:ext>
            </a:extLst>
          </p:cNvPr>
          <p:cNvSpPr txBox="1"/>
          <p:nvPr/>
        </p:nvSpPr>
        <p:spPr>
          <a:xfrm>
            <a:off x="9571169" y="330006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EF4444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促成成功</a:t>
            </a:r>
          </a:p>
        </p:txBody>
      </p:sp>
      <p:sp>
        <p:nvSpPr>
          <p:cNvPr id="22" name="TextBox 686">
            <a:extLst>
              <a:ext uri="{FF2B5EF4-FFF2-40B4-BE49-F238E27FC236}">
                <a16:creationId xmlns:a16="http://schemas.microsoft.com/office/drawing/2014/main" id="{D3D1F8E4-4834-6B36-D5AF-0E5D9099E6B0}"/>
              </a:ext>
            </a:extLst>
          </p:cNvPr>
          <p:cNvSpPr txBox="1"/>
          <p:nvPr/>
        </p:nvSpPr>
        <p:spPr>
          <a:xfrm>
            <a:off x="9571169" y="389442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22C55E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帶來成功</a:t>
            </a:r>
          </a:p>
        </p:txBody>
      </p:sp>
      <p:sp>
        <p:nvSpPr>
          <p:cNvPr id="23" name="TextBox 670">
            <a:extLst>
              <a:ext uri="{FF2B5EF4-FFF2-40B4-BE49-F238E27FC236}">
                <a16:creationId xmlns:a16="http://schemas.microsoft.com/office/drawing/2014/main" id="{5D52373E-3706-B132-0BDA-E5E0B4F2D72B}"/>
              </a:ext>
            </a:extLst>
          </p:cNvPr>
          <p:cNvSpPr txBox="1"/>
          <p:nvPr/>
        </p:nvSpPr>
        <p:spPr>
          <a:xfrm>
            <a:off x="8608763" y="4413300"/>
            <a:ext cx="184666" cy="677291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>
              <a:defRPr sz="650" b="0">
                <a:solidFill>
                  <a:srgbClr val="EF4444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促成成功</a:t>
            </a:r>
          </a:p>
        </p:txBody>
      </p:sp>
      <p:sp>
        <p:nvSpPr>
          <p:cNvPr id="24" name="TextBox 671">
            <a:extLst>
              <a:ext uri="{FF2B5EF4-FFF2-40B4-BE49-F238E27FC236}">
                <a16:creationId xmlns:a16="http://schemas.microsoft.com/office/drawing/2014/main" id="{E7ED273D-67AF-DB4E-CB97-3F84344467EE}"/>
              </a:ext>
            </a:extLst>
          </p:cNvPr>
          <p:cNvSpPr txBox="1"/>
          <p:nvPr/>
        </p:nvSpPr>
        <p:spPr>
          <a:xfrm>
            <a:off x="9192193" y="4383525"/>
            <a:ext cx="184666" cy="636403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 algn="l">
              <a:defRPr sz="650" b="0">
                <a:solidFill>
                  <a:srgbClr val="22C55E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帶來成功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10021138" y="2331879"/>
            <a:ext cx="525521" cy="218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微軟正黑體"/>
              </a:defRPr>
            </a:pPr>
            <a:r>
              <a:rPr sz="1800">
                <a:latin typeface="微軟正黑體"/>
              </a:rPr>
              <a:t>大我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91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行銷三大要素</a:t>
            </a:r>
            <a:endParaRPr/>
          </a:p>
        </p:txBody>
      </p:sp>
      <p:cxnSp>
        <p:nvCxnSpPr>
          <p:cNvPr id="685" name="Connector 684"/>
          <p:cNvCxnSpPr/>
          <p:nvPr/>
        </p:nvCxnSpPr>
        <p:spPr>
          <a:xfrm flipH="1">
            <a:off x="4233672" y="2510028"/>
            <a:ext cx="1828800" cy="301752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233672" y="5527548"/>
            <a:ext cx="3657599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H="1" flipV="1">
            <a:off x="6062472" y="2510028"/>
            <a:ext cx="1828799" cy="301752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Oval 687"/>
          <p:cNvSpPr/>
          <p:nvPr/>
        </p:nvSpPr>
        <p:spPr>
          <a:xfrm>
            <a:off x="5513832" y="1961388"/>
            <a:ext cx="1097280" cy="109728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F4444"/>
                </a:solidFill>
                <a:latin typeface="微軟正黑體"/>
              </a:defRPr>
            </a:pPr>
            <a:r>
              <a:rPr sz="2000">
                <a:latin typeface="微軟正黑體"/>
              </a:rPr>
              <a:t>產品</a:t>
            </a:r>
          </a:p>
        </p:txBody>
      </p:sp>
      <p:sp>
        <p:nvSpPr>
          <p:cNvPr id="689" name="Oval 688"/>
          <p:cNvSpPr/>
          <p:nvPr/>
        </p:nvSpPr>
        <p:spPr>
          <a:xfrm>
            <a:off x="3685032" y="4978908"/>
            <a:ext cx="1097280" cy="109728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B82F6"/>
                </a:solidFill>
                <a:latin typeface="微軟正黑體"/>
              </a:defRPr>
            </a:pPr>
            <a:r>
              <a:rPr sz="2000">
                <a:latin typeface="微軟正黑體"/>
              </a:rPr>
              <a:t>系統</a:t>
            </a:r>
          </a:p>
        </p:txBody>
      </p:sp>
      <p:sp>
        <p:nvSpPr>
          <p:cNvPr id="690" name="Oval 689"/>
          <p:cNvSpPr/>
          <p:nvPr/>
        </p:nvSpPr>
        <p:spPr>
          <a:xfrm>
            <a:off x="7342631" y="4978908"/>
            <a:ext cx="1097280" cy="109728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C55E"/>
                </a:solidFill>
                <a:latin typeface="微軟正黑體"/>
              </a:defRPr>
            </a:pPr>
            <a:r>
              <a:rPr sz="2000">
                <a:latin typeface="微軟正黑體"/>
              </a:rPr>
              <a:t>流量</a:t>
            </a:r>
          </a:p>
        </p:txBody>
      </p:sp>
      <p:sp>
        <p:nvSpPr>
          <p:cNvPr id="691" name="Rectangle 690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692" name="Rectangle 691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群組 24" hidden="1">
            <a:extLst>
              <a:ext uri="{FF2B5EF4-FFF2-40B4-BE49-F238E27FC236}">
                <a16:creationId xmlns:a16="http://schemas.microsoft.com/office/drawing/2014/main" id="{F9206CC3-50A8-476C-15BB-DF7EF7F669DC}"/>
              </a:ext>
            </a:extLst>
          </p:cNvPr>
          <p:cNvGrpSpPr>
            <a:grpSpLocks/>
          </p:cNvGrpSpPr>
          <p:nvPr/>
        </p:nvGrpSpPr>
        <p:grpSpPr>
          <a:xfrm>
            <a:off x="1416388" y="351259"/>
            <a:ext cx="9233646" cy="6155482"/>
            <a:chOff x="1416388" y="351259"/>
            <a:chExt cx="9233646" cy="6155482"/>
          </a:xfrm>
        </p:grpSpPr>
        <p:cxnSp>
          <p:nvCxnSpPr>
            <p:cNvPr id="4" name="直線接點 3">
              <a:extLst>
                <a:ext uri="{FF2B5EF4-FFF2-40B4-BE49-F238E27FC236}">
                  <a16:creationId xmlns:a16="http://schemas.microsoft.com/office/drawing/2014/main" id="{35469967-920B-82C9-1C04-90437A1D6D69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351259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6D0667BE-35CC-EE0E-CE4B-9E15628F639F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1377173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45AA9A5A-6340-D2C7-0610-4FA384AA8F58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2403087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2B1003AC-03EF-EB0F-34D1-4D40C2598F5F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3429001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24F6E826-22AB-EB50-8F2C-5D39D1BE1F60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4454915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2E3E3C1F-AC69-3208-5DEE-785EFC8FBB90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5480829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6B99205E-59B7-EB6E-8DD7-651723E07056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6506741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21" name="Isosceles Triangle 720"/>
          <p:cNvSpPr/>
          <p:nvPr/>
        </p:nvSpPr>
        <p:spPr>
          <a:xfrm>
            <a:off x="5454651" y="354028"/>
            <a:ext cx="1152338" cy="1017900"/>
          </a:xfrm>
          <a:prstGeom prst="triangle">
            <a:avLst>
              <a:gd name="adj" fmla="val 50339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1F2937"/>
                </a:solidFill>
                <a:latin typeface="微軟正黑體"/>
              </a:defRPr>
            </a:pPr>
            <a:endParaRPr/>
          </a:p>
        </p:txBody>
      </p:sp>
      <p:sp>
        <p:nvSpPr>
          <p:cNvPr id="722" name="Trapezoid 721"/>
          <p:cNvSpPr/>
          <p:nvPr/>
        </p:nvSpPr>
        <p:spPr>
          <a:xfrm>
            <a:off x="4858871" y="1378053"/>
            <a:ext cx="2348379" cy="1035325"/>
          </a:xfrm>
          <a:prstGeom prst="trapezoid">
            <a:avLst>
              <a:gd name="adj" fmla="val 57743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723" name="TextBox 722"/>
          <p:cNvSpPr txBox="1"/>
          <p:nvPr/>
        </p:nvSpPr>
        <p:spPr>
          <a:xfrm>
            <a:off x="5576011" y="2416149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微軟正黑體"/>
              </a:defRPr>
            </a:pPr>
            <a:r>
              <a:rPr sz="1100">
                <a:latin typeface="微軟正黑體"/>
              </a:rPr>
              <a:t>自我實現需求</a:t>
            </a:r>
          </a:p>
        </p:txBody>
      </p:sp>
      <p:sp>
        <p:nvSpPr>
          <p:cNvPr id="724" name="Trapezoid 723"/>
          <p:cNvSpPr/>
          <p:nvPr/>
        </p:nvSpPr>
        <p:spPr>
          <a:xfrm>
            <a:off x="4264026" y="2413378"/>
            <a:ext cx="3556000" cy="1023142"/>
          </a:xfrm>
          <a:prstGeom prst="trapezoid">
            <a:avLst>
              <a:gd name="adj" fmla="val 58270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725" name="TextBox 724"/>
          <p:cNvSpPr txBox="1"/>
          <p:nvPr/>
        </p:nvSpPr>
        <p:spPr>
          <a:xfrm>
            <a:off x="5301691" y="2537129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尊重的需求</a:t>
            </a:r>
          </a:p>
        </p:txBody>
      </p:sp>
      <p:sp>
        <p:nvSpPr>
          <p:cNvPr id="726" name="Trapezoid 725"/>
          <p:cNvSpPr/>
          <p:nvPr/>
        </p:nvSpPr>
        <p:spPr>
          <a:xfrm>
            <a:off x="3675528" y="3440848"/>
            <a:ext cx="4735047" cy="1023142"/>
          </a:xfrm>
          <a:prstGeom prst="trapezoid">
            <a:avLst>
              <a:gd name="adj" fmla="val 57915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727" name="TextBox 726"/>
          <p:cNvSpPr txBox="1"/>
          <p:nvPr/>
        </p:nvSpPr>
        <p:spPr>
          <a:xfrm>
            <a:off x="5027372" y="3715081"/>
            <a:ext cx="201167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愛與歸屬的需求</a:t>
            </a:r>
          </a:p>
        </p:txBody>
      </p:sp>
      <p:sp>
        <p:nvSpPr>
          <p:cNvPr id="728" name="Trapezoid 727"/>
          <p:cNvSpPr/>
          <p:nvPr/>
        </p:nvSpPr>
        <p:spPr>
          <a:xfrm>
            <a:off x="3083859" y="4466763"/>
            <a:ext cx="5907741" cy="1011292"/>
          </a:xfrm>
          <a:prstGeom prst="trapezoid">
            <a:avLst>
              <a:gd name="adj" fmla="val 57059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729" name="TextBox 728"/>
          <p:cNvSpPr txBox="1"/>
          <p:nvPr/>
        </p:nvSpPr>
        <p:spPr>
          <a:xfrm>
            <a:off x="4753051" y="4773590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安全的需求</a:t>
            </a:r>
          </a:p>
        </p:txBody>
      </p:sp>
      <p:sp>
        <p:nvSpPr>
          <p:cNvPr id="730" name="Trapezoid 729"/>
          <p:cNvSpPr/>
          <p:nvPr/>
        </p:nvSpPr>
        <p:spPr>
          <a:xfrm>
            <a:off x="2495738" y="5480827"/>
            <a:ext cx="7088608" cy="1023141"/>
          </a:xfrm>
          <a:prstGeom prst="trapezoid">
            <a:avLst>
              <a:gd name="adj" fmla="val 57712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731" name="TextBox 730"/>
          <p:cNvSpPr txBox="1"/>
          <p:nvPr/>
        </p:nvSpPr>
        <p:spPr>
          <a:xfrm>
            <a:off x="4478731" y="5722335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生理的需求</a:t>
            </a:r>
          </a:p>
        </p:txBody>
      </p:sp>
      <p:sp>
        <p:nvSpPr>
          <p:cNvPr id="732" name="TextBox 731"/>
          <p:cNvSpPr txBox="1"/>
          <p:nvPr/>
        </p:nvSpPr>
        <p:spPr>
          <a:xfrm>
            <a:off x="5483581" y="1853457"/>
            <a:ext cx="10992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>
                <a:solidFill>
                  <a:srgbClr val="374151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找到自我的完成</a:t>
            </a:r>
            <a:endParaRPr lang="en-US" sz="1200"/>
          </a:p>
          <a:p>
            <a:pPr algn="l">
              <a:defRPr sz="850" b="0">
                <a:solidFill>
                  <a:srgbClr val="374151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與實現個人潛能</a:t>
            </a:r>
            <a:endParaRPr/>
          </a:p>
        </p:txBody>
      </p:sp>
      <p:sp>
        <p:nvSpPr>
          <p:cNvPr id="733" name="TextBox 732"/>
          <p:cNvSpPr txBox="1"/>
          <p:nvPr/>
        </p:nvSpPr>
        <p:spPr>
          <a:xfrm>
            <a:off x="5027372" y="2781909"/>
            <a:ext cx="2011679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374151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有能力感、得到讚許、承認</a:t>
            </a:r>
            <a:br>
              <a:rPr sz="1200"/>
            </a:br>
            <a:r>
              <a:rPr sz="1200">
                <a:latin typeface="微軟正黑體"/>
              </a:rPr>
              <a:t>1.受人尊重：希求別人的重視</a:t>
            </a:r>
            <a:br>
              <a:rPr sz="1200"/>
            </a:br>
            <a:r>
              <a:rPr sz="1200">
                <a:latin typeface="微軟正黑體"/>
              </a:rPr>
              <a:t>2.自我尊重：希求個人有價值</a:t>
            </a:r>
          </a:p>
        </p:txBody>
      </p:sp>
      <p:sp>
        <p:nvSpPr>
          <p:cNvPr id="734" name="TextBox 733"/>
          <p:cNvSpPr txBox="1"/>
          <p:nvPr/>
        </p:nvSpPr>
        <p:spPr>
          <a:xfrm>
            <a:off x="4844491" y="3967716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74151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與他人親近、被接受、歸屬感</a:t>
            </a:r>
          </a:p>
        </p:txBody>
      </p:sp>
      <p:sp>
        <p:nvSpPr>
          <p:cNvPr id="735" name="TextBox 734"/>
          <p:cNvSpPr txBox="1"/>
          <p:nvPr/>
        </p:nvSpPr>
        <p:spPr>
          <a:xfrm>
            <a:off x="4844491" y="5065435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74151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感覺安全、有保障、免於危險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4844491" y="6028250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74151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飢、渴、睡眠、性慾</a:t>
            </a:r>
          </a:p>
        </p:txBody>
      </p:sp>
      <p:sp>
        <p:nvSpPr>
          <p:cNvPr id="737" name="Up Arrow 736"/>
          <p:cNvSpPr/>
          <p:nvPr/>
        </p:nvSpPr>
        <p:spPr>
          <a:xfrm>
            <a:off x="1039870" y="744072"/>
            <a:ext cx="502096" cy="4670608"/>
          </a:xfrm>
          <a:prstGeom prst="up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738" name="TextBox 737"/>
          <p:cNvSpPr txBox="1"/>
          <p:nvPr/>
        </p:nvSpPr>
        <p:spPr>
          <a:xfrm>
            <a:off x="1108038" y="2705621"/>
            <a:ext cx="365760" cy="77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800" b="1">
                <a:solidFill>
                  <a:srgbClr val="FFFFFF"/>
                </a:solidFill>
                <a:latin typeface="微軟正黑體"/>
              </a:defRPr>
            </a:pPr>
            <a:r>
              <a:rPr sz="1200">
                <a:solidFill>
                  <a:schemeClr val="tx1"/>
                </a:solidFill>
                <a:latin typeface="微軟正黑體"/>
              </a:rPr>
              <a:t>認</a:t>
            </a:r>
          </a:p>
          <a:p>
            <a:pPr algn="ctr">
              <a:spcAft>
                <a:spcPts val="100"/>
              </a:spcAft>
              <a:defRPr sz="800" b="1">
                <a:solidFill>
                  <a:srgbClr val="FFFFFF"/>
                </a:solidFill>
                <a:latin typeface="微軟正黑體"/>
              </a:defRPr>
            </a:pPr>
            <a:r>
              <a:rPr sz="1200">
                <a:solidFill>
                  <a:schemeClr val="tx1"/>
                </a:solidFill>
                <a:latin typeface="微軟正黑體"/>
              </a:rPr>
              <a:t>知</a:t>
            </a:r>
          </a:p>
          <a:p>
            <a:pPr algn="ctr">
              <a:spcAft>
                <a:spcPts val="100"/>
              </a:spcAft>
              <a:defRPr sz="800" b="1">
                <a:solidFill>
                  <a:srgbClr val="FFFFFF"/>
                </a:solidFill>
                <a:latin typeface="微軟正黑體"/>
              </a:defRPr>
            </a:pPr>
            <a:r>
              <a:rPr sz="1200">
                <a:solidFill>
                  <a:schemeClr val="tx1"/>
                </a:solidFill>
                <a:latin typeface="微軟正黑體"/>
              </a:rPr>
              <a:t>需</a:t>
            </a:r>
          </a:p>
          <a:p>
            <a:pPr algn="ctr">
              <a:spcAft>
                <a:spcPts val="100"/>
              </a:spcAft>
              <a:defRPr sz="800" b="1">
                <a:solidFill>
                  <a:srgbClr val="FFFFFF"/>
                </a:solidFill>
                <a:latin typeface="微軟正黑體"/>
              </a:defRPr>
            </a:pPr>
            <a:r>
              <a:rPr sz="1200">
                <a:solidFill>
                  <a:schemeClr val="tx1"/>
                </a:solidFill>
                <a:latin typeface="微軟正黑體"/>
              </a:rPr>
              <a:t>求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6856171" y="-77695450"/>
            <a:ext cx="1463040" cy="1270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740" name="Up-Down Arrow 739"/>
          <p:cNvSpPr/>
          <p:nvPr/>
        </p:nvSpPr>
        <p:spPr>
          <a:xfrm>
            <a:off x="10083382" y="277907"/>
            <a:ext cx="235060" cy="2100989"/>
          </a:xfrm>
          <a:prstGeom prst="upDown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741" name="Rounded Rectangle 740"/>
          <p:cNvSpPr/>
          <p:nvPr/>
        </p:nvSpPr>
        <p:spPr>
          <a:xfrm>
            <a:off x="10604380" y="548640"/>
            <a:ext cx="1117867" cy="474707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C2410C"/>
                </a:solidFill>
                <a:latin typeface="微軟正黑體"/>
              </a:rPr>
              <a:t>衍生需求</a:t>
            </a:r>
          </a:p>
        </p:txBody>
      </p:sp>
      <p:sp>
        <p:nvSpPr>
          <p:cNvPr id="742" name="Up-Down Arrow 741"/>
          <p:cNvSpPr/>
          <p:nvPr/>
        </p:nvSpPr>
        <p:spPr>
          <a:xfrm>
            <a:off x="10083381" y="2392797"/>
            <a:ext cx="235061" cy="4094712"/>
          </a:xfrm>
          <a:prstGeom prst="upDownArrow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743" name="Rounded Rectangle 742"/>
          <p:cNvSpPr/>
          <p:nvPr/>
        </p:nvSpPr>
        <p:spPr>
          <a:xfrm>
            <a:off x="10604381" y="4211553"/>
            <a:ext cx="1117867" cy="4572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C2410C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基本需求</a:t>
            </a:r>
            <a:br>
              <a:rPr sz="1200"/>
            </a:br>
            <a:r>
              <a:rPr sz="1200">
                <a:latin typeface="微軟正黑體"/>
              </a:rPr>
              <a:t>（匱乏需求）</a:t>
            </a: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E6E7D3ED-85FE-CFA0-A20A-940768E1C3DD}"/>
              </a:ext>
            </a:extLst>
          </p:cNvPr>
          <p:cNvSpPr/>
          <p:nvPr/>
        </p:nvSpPr>
        <p:spPr>
          <a:xfrm>
            <a:off x="2488602" y="370489"/>
            <a:ext cx="7095744" cy="6117021"/>
          </a:xfrm>
          <a:prstGeom prst="triangle">
            <a:avLst/>
          </a:prstGeom>
          <a:noFill/>
          <a:ln w="19050">
            <a:solidFill>
              <a:srgbClr val="BAE6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 lang="zh-TW" altLang="en-US"/>
          </a:p>
        </p:txBody>
      </p:sp>
      <p:sp>
        <p:nvSpPr>
          <p:cNvPr id="26" name="TextBox 724">
            <a:extLst>
              <a:ext uri="{FF2B5EF4-FFF2-40B4-BE49-F238E27FC236}">
                <a16:creationId xmlns:a16="http://schemas.microsoft.com/office/drawing/2014/main" id="{6B7DA60F-75A6-5E71-544C-3EB4662729AE}"/>
              </a:ext>
            </a:extLst>
          </p:cNvPr>
          <p:cNvSpPr txBox="1"/>
          <p:nvPr/>
        </p:nvSpPr>
        <p:spPr>
          <a:xfrm>
            <a:off x="5301691" y="1613439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微軟正黑體"/>
              </a:defRPr>
            </a:pPr>
            <a:r>
              <a:rPr lang="zh-TW" altLang="en-US" sz="1200">
                <a:latin typeface="微軟正黑體"/>
              </a:rPr>
              <a:t>自我實現</a:t>
            </a:r>
            <a:r>
              <a:rPr sz="1200">
                <a:latin typeface="微軟正黑體"/>
              </a:rPr>
              <a:t>需求</a:t>
            </a:r>
          </a:p>
        </p:txBody>
      </p:sp>
      <p:sp>
        <p:nvSpPr>
          <p:cNvPr id="27" name="TextBox 724">
            <a:extLst>
              <a:ext uri="{FF2B5EF4-FFF2-40B4-BE49-F238E27FC236}">
                <a16:creationId xmlns:a16="http://schemas.microsoft.com/office/drawing/2014/main" id="{7A85B92B-D6E3-8D5D-7854-BCE994EF95DF}"/>
              </a:ext>
            </a:extLst>
          </p:cNvPr>
          <p:cNvSpPr txBox="1"/>
          <p:nvPr/>
        </p:nvSpPr>
        <p:spPr>
          <a:xfrm>
            <a:off x="5308522" y="1108605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微軟正黑體"/>
              </a:defRPr>
            </a:pPr>
            <a:r>
              <a:rPr lang="en-US" altLang="zh-TW" sz="1200">
                <a:latin typeface="微軟正黑體"/>
              </a:rPr>
              <a:t>Metaneeds</a:t>
            </a:r>
            <a:endParaRPr sz="1200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C658405D-53EB-5A7A-9F79-2100947E542A}"/>
              </a:ext>
            </a:extLst>
          </p:cNvPr>
          <p:cNvCxnSpPr>
            <a:cxnSpLocks/>
          </p:cNvCxnSpPr>
          <p:nvPr/>
        </p:nvCxnSpPr>
        <p:spPr>
          <a:xfrm>
            <a:off x="7221931" y="2403087"/>
            <a:ext cx="2764751" cy="0"/>
          </a:xfrm>
          <a:prstGeom prst="line">
            <a:avLst/>
          </a:prstGeom>
          <a:ln w="28575">
            <a:prstDash val="sysDash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991">
          <a:extLst>
            <a:ext uri="{FF2B5EF4-FFF2-40B4-BE49-F238E27FC236}">
              <a16:creationId xmlns:a16="http://schemas.microsoft.com/office/drawing/2014/main" id="{BBC2BCBF-36D5-6851-00C8-2CFEC185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9E888D5-2C76-DBB3-5E5D-333B472F50B3}"/>
              </a:ext>
            </a:extLst>
          </p:cNvPr>
          <p:cNvSpPr/>
          <p:nvPr/>
        </p:nvSpPr>
        <p:spPr>
          <a:xfrm>
            <a:off x="4261931" y="274040"/>
            <a:ext cx="3679663" cy="3679663"/>
          </a:xfrm>
          <a:prstGeom prst="ellipse">
            <a:avLst/>
          </a:prstGeom>
          <a:noFill/>
          <a:ln w="571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E9AFF4-15DE-BDC7-8650-D565D43B4F18}"/>
              </a:ext>
            </a:extLst>
          </p:cNvPr>
          <p:cNvSpPr/>
          <p:nvPr/>
        </p:nvSpPr>
        <p:spPr>
          <a:xfrm>
            <a:off x="2943001" y="1657748"/>
            <a:ext cx="3679663" cy="3679663"/>
          </a:xfrm>
          <a:prstGeom prst="ellipse">
            <a:avLst/>
          </a:prstGeom>
          <a:noFill/>
          <a:ln w="571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23289DB-32EA-1E2A-EF3B-248911F4B722}"/>
              </a:ext>
            </a:extLst>
          </p:cNvPr>
          <p:cNvSpPr/>
          <p:nvPr/>
        </p:nvSpPr>
        <p:spPr>
          <a:xfrm>
            <a:off x="5569336" y="1657748"/>
            <a:ext cx="3679663" cy="3679663"/>
          </a:xfrm>
          <a:prstGeom prst="ellipse">
            <a:avLst/>
          </a:prstGeom>
          <a:noFill/>
          <a:ln w="571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E9264EA-8D97-4D17-0E34-C7CBA0AB89A8}"/>
              </a:ext>
            </a:extLst>
          </p:cNvPr>
          <p:cNvSpPr/>
          <p:nvPr/>
        </p:nvSpPr>
        <p:spPr>
          <a:xfrm>
            <a:off x="4261931" y="2904297"/>
            <a:ext cx="3679663" cy="3679663"/>
          </a:xfrm>
          <a:prstGeom prst="ellipse">
            <a:avLst/>
          </a:prstGeom>
          <a:noFill/>
          <a:ln w="571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1BC6C-83AA-6DEA-4DB7-5ACA2D5D6FD3}"/>
              </a:ext>
            </a:extLst>
          </p:cNvPr>
          <p:cNvSpPr txBox="1"/>
          <p:nvPr/>
        </p:nvSpPr>
        <p:spPr>
          <a:xfrm>
            <a:off x="5208494" y="773110"/>
            <a:ext cx="186465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1200" b="1">
                <a:solidFill>
                  <a:srgbClr val="1F2937"/>
                </a:solidFill>
                <a:latin typeface="微軟正黑體"/>
              </a:defRPr>
            </a:lvl1pPr>
          </a:lstStyle>
          <a:p>
            <a:r>
              <a:t>你享受的事</a:t>
            </a:r>
            <a:br>
              <a:rPr/>
            </a:br>
            <a:r>
              <a:t>Things you love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EC5DB-B61B-0D58-EFAF-C98BB284532C}"/>
              </a:ext>
            </a:extLst>
          </p:cNvPr>
          <p:cNvSpPr txBox="1"/>
          <p:nvPr/>
        </p:nvSpPr>
        <p:spPr>
          <a:xfrm>
            <a:off x="2895600" y="3177540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F2937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你擅長的事</a:t>
            </a:r>
            <a:br>
              <a:rPr sz="1200"/>
            </a:br>
            <a:r>
              <a:rPr sz="1200">
                <a:latin typeface="微軟正黑體"/>
              </a:rPr>
              <a:t>Things you're good 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46A62-D250-18E1-75D6-DF0D94455D06}"/>
              </a:ext>
            </a:extLst>
          </p:cNvPr>
          <p:cNvSpPr txBox="1"/>
          <p:nvPr/>
        </p:nvSpPr>
        <p:spPr>
          <a:xfrm>
            <a:off x="7467600" y="3177540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F2937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世界需要的事</a:t>
            </a:r>
            <a:br>
              <a:rPr sz="1200"/>
            </a:br>
            <a:r>
              <a:rPr sz="1200">
                <a:latin typeface="微軟正黑體"/>
              </a:rPr>
              <a:t>What the world needs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1CDC7D-B9F4-CA9D-13D7-30716F6EE296}"/>
              </a:ext>
            </a:extLst>
          </p:cNvPr>
          <p:cNvSpPr txBox="1"/>
          <p:nvPr/>
        </p:nvSpPr>
        <p:spPr>
          <a:xfrm>
            <a:off x="4724400" y="5563516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F2937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別人會付錢請你做的事</a:t>
            </a:r>
            <a:br>
              <a:rPr sz="1200"/>
            </a:br>
            <a:r>
              <a:rPr sz="1200">
                <a:latin typeface="微軟正黑體"/>
              </a:rPr>
              <a:t>Things you can be paid for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D9387-7A39-2B1D-BEE9-99593A189799}"/>
              </a:ext>
            </a:extLst>
          </p:cNvPr>
          <p:cNvSpPr txBox="1"/>
          <p:nvPr/>
        </p:nvSpPr>
        <p:spPr>
          <a:xfrm>
            <a:off x="4658437" y="2341762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374151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熱情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7EF41B-FAA1-6E4E-0064-4DC2018B3EEA}"/>
              </a:ext>
            </a:extLst>
          </p:cNvPr>
          <p:cNvSpPr txBox="1"/>
          <p:nvPr/>
        </p:nvSpPr>
        <p:spPr>
          <a:xfrm>
            <a:off x="6827520" y="2308860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374151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使命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18F802-7F2C-922B-339A-BFE6F2712646}"/>
              </a:ext>
            </a:extLst>
          </p:cNvPr>
          <p:cNvSpPr txBox="1"/>
          <p:nvPr/>
        </p:nvSpPr>
        <p:spPr>
          <a:xfrm>
            <a:off x="4658437" y="4452773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374151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專業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C53764-3F8E-5761-1DD7-E840CB7EB0EE}"/>
              </a:ext>
            </a:extLst>
          </p:cNvPr>
          <p:cNvSpPr txBox="1"/>
          <p:nvPr/>
        </p:nvSpPr>
        <p:spPr>
          <a:xfrm>
            <a:off x="6827520" y="4462126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374151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職志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0928E69-B1CB-2A50-BC8F-7FBB8FBF5E8A}"/>
              </a:ext>
            </a:extLst>
          </p:cNvPr>
          <p:cNvSpPr/>
          <p:nvPr/>
        </p:nvSpPr>
        <p:spPr>
          <a:xfrm>
            <a:off x="5684520" y="3017520"/>
            <a:ext cx="822960" cy="822960"/>
          </a:xfrm>
          <a:prstGeom prst="ellipse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11827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Ikigai</a:t>
            </a:r>
            <a:br>
              <a:rPr sz="1200"/>
            </a:br>
            <a:r>
              <a:rPr sz="1200">
                <a:latin typeface="微軟正黑體"/>
              </a:rPr>
              <a:t>意義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4EF072-EC5E-5530-1068-FD2E90061EE6}"/>
              </a:ext>
            </a:extLst>
          </p:cNvPr>
          <p:cNvSpPr txBox="1"/>
          <p:nvPr/>
        </p:nvSpPr>
        <p:spPr>
          <a:xfrm>
            <a:off x="731520" y="162397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生活滿足</a:t>
            </a:r>
            <a:br>
              <a:rPr sz="1200"/>
            </a:br>
            <a:r>
              <a:rPr sz="1200">
                <a:latin typeface="微軟正黑體"/>
              </a:rPr>
              <a:t>但感到不被重用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098950-ADDC-ED04-ED0B-24C70A6B86B2}"/>
              </a:ext>
            </a:extLst>
          </p:cNvPr>
          <p:cNvSpPr txBox="1"/>
          <p:nvPr/>
        </p:nvSpPr>
        <p:spPr>
          <a:xfrm>
            <a:off x="9839858" y="162397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滿足+被需要感</a:t>
            </a:r>
            <a:br>
              <a:rPr sz="1200"/>
            </a:br>
            <a:r>
              <a:rPr sz="1200">
                <a:latin typeface="微軟正黑體"/>
              </a:rPr>
              <a:t>但經濟不富裕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62345D-F7E0-95D1-01EF-031A0DA5B309}"/>
              </a:ext>
            </a:extLst>
          </p:cNvPr>
          <p:cNvSpPr txBox="1"/>
          <p:nvPr/>
        </p:nvSpPr>
        <p:spPr>
          <a:xfrm>
            <a:off x="731520" y="5563516"/>
            <a:ext cx="20116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舒適但感到空虛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3B1353-92A8-E22B-75AA-D8F31277EE27}"/>
              </a:ext>
            </a:extLst>
          </p:cNvPr>
          <p:cNvSpPr txBox="1"/>
          <p:nvPr/>
        </p:nvSpPr>
        <p:spPr>
          <a:xfrm>
            <a:off x="9839858" y="5378850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微軟正黑體"/>
              </a:defRPr>
            </a:pPr>
            <a:r>
              <a:rPr sz="1200">
                <a:latin typeface="微軟正黑體"/>
              </a:rPr>
              <a:t>有成就感</a:t>
            </a:r>
            <a:br>
              <a:rPr sz="1200"/>
            </a:br>
            <a:r>
              <a:rPr sz="1200">
                <a:latin typeface="微軟正黑體"/>
              </a:rPr>
              <a:t>但偶爾會迷惘</a:t>
            </a:r>
          </a:p>
        </p:txBody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04406BB5-9A39-FDD4-887C-CB44B21EFBFF}"/>
              </a:ext>
            </a:extLst>
          </p:cNvPr>
          <p:cNvSpPr/>
          <p:nvPr/>
        </p:nvSpPr>
        <p:spPr>
          <a:xfrm>
            <a:off x="2366682" y="1734302"/>
            <a:ext cx="2841812" cy="1797792"/>
          </a:xfrm>
          <a:custGeom>
            <a:avLst/>
            <a:gdLst>
              <a:gd name="csX0" fmla="*/ 0 w 2841812"/>
              <a:gd name="csY0" fmla="*/ 40710 h 1797792"/>
              <a:gd name="csX1" fmla="*/ 1748118 w 2841812"/>
              <a:gd name="csY1" fmla="*/ 228969 h 1797792"/>
              <a:gd name="csX2" fmla="*/ 2841812 w 2841812"/>
              <a:gd name="csY2" fmla="*/ 1797792 h 1797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41812" h="1797792">
                <a:moveTo>
                  <a:pt x="0" y="40710"/>
                </a:moveTo>
                <a:cubicBezTo>
                  <a:pt x="637241" y="-11584"/>
                  <a:pt x="1274483" y="-63878"/>
                  <a:pt x="1748118" y="228969"/>
                </a:cubicBezTo>
                <a:cubicBezTo>
                  <a:pt x="2221753" y="521816"/>
                  <a:pt x="2531782" y="1159804"/>
                  <a:pt x="2841812" y="1797792"/>
                </a:cubicBezTo>
              </a:path>
            </a:pathLst>
          </a:custGeom>
          <a:noFill/>
          <a:ln w="19050">
            <a:solidFill>
              <a:srgbClr val="BAE6FD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 lang="zh-TW" altLang="en-US"/>
          </a:p>
        </p:txBody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52D9BB43-1B7A-71F6-7878-A9D83CA23078}"/>
              </a:ext>
            </a:extLst>
          </p:cNvPr>
          <p:cNvSpPr/>
          <p:nvPr/>
        </p:nvSpPr>
        <p:spPr>
          <a:xfrm>
            <a:off x="2348753" y="4276165"/>
            <a:ext cx="3729318" cy="1389529"/>
          </a:xfrm>
          <a:custGeom>
            <a:avLst/>
            <a:gdLst>
              <a:gd name="csX0" fmla="*/ 0 w 3729318"/>
              <a:gd name="csY0" fmla="*/ 1389529 h 1389529"/>
              <a:gd name="csX1" fmla="*/ 2850776 w 3729318"/>
              <a:gd name="csY1" fmla="*/ 878541 h 1389529"/>
              <a:gd name="csX2" fmla="*/ 3729318 w 3729318"/>
              <a:gd name="csY2" fmla="*/ 0 h 13895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729318" h="1389529">
                <a:moveTo>
                  <a:pt x="0" y="1389529"/>
                </a:moveTo>
                <a:cubicBezTo>
                  <a:pt x="1114611" y="1249829"/>
                  <a:pt x="2229223" y="1110129"/>
                  <a:pt x="2850776" y="878541"/>
                </a:cubicBezTo>
                <a:cubicBezTo>
                  <a:pt x="3472329" y="646953"/>
                  <a:pt x="3600823" y="323476"/>
                  <a:pt x="3729318" y="0"/>
                </a:cubicBezTo>
              </a:path>
            </a:pathLst>
          </a:custGeom>
          <a:noFill/>
          <a:ln w="19050">
            <a:solidFill>
              <a:srgbClr val="BAE6FD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 lang="zh-TW" altLang="en-US"/>
          </a:p>
        </p:txBody>
      </p:sp>
      <p:sp>
        <p:nvSpPr>
          <p:cNvPr id="38" name="手繪多邊形: 圖案 37">
            <a:extLst>
              <a:ext uri="{FF2B5EF4-FFF2-40B4-BE49-F238E27FC236}">
                <a16:creationId xmlns:a16="http://schemas.microsoft.com/office/drawing/2014/main" id="{807B68B6-8CB2-200B-BB42-C0644F05EA3E}"/>
              </a:ext>
            </a:extLst>
          </p:cNvPr>
          <p:cNvSpPr/>
          <p:nvPr/>
        </p:nvSpPr>
        <p:spPr>
          <a:xfrm>
            <a:off x="6113929" y="1418348"/>
            <a:ext cx="4159624" cy="1190381"/>
          </a:xfrm>
          <a:custGeom>
            <a:avLst/>
            <a:gdLst>
              <a:gd name="csX0" fmla="*/ 4159624 w 4159624"/>
              <a:gd name="csY0" fmla="*/ 213228 h 1190381"/>
              <a:gd name="csX1" fmla="*/ 1461247 w 4159624"/>
              <a:gd name="csY1" fmla="*/ 69793 h 1190381"/>
              <a:gd name="csX2" fmla="*/ 0 w 4159624"/>
              <a:gd name="csY2" fmla="*/ 1190381 h 11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59624" h="1190381">
                <a:moveTo>
                  <a:pt x="4159624" y="213228"/>
                </a:moveTo>
                <a:cubicBezTo>
                  <a:pt x="3157070" y="60081"/>
                  <a:pt x="2154517" y="-93066"/>
                  <a:pt x="1461247" y="69793"/>
                </a:cubicBezTo>
                <a:cubicBezTo>
                  <a:pt x="767977" y="232652"/>
                  <a:pt x="383988" y="711516"/>
                  <a:pt x="0" y="1190381"/>
                </a:cubicBezTo>
              </a:path>
            </a:pathLst>
          </a:custGeom>
          <a:noFill/>
          <a:ln w="19050">
            <a:solidFill>
              <a:srgbClr val="BAE6FD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 lang="zh-TW" altLang="en-US"/>
          </a:p>
        </p:txBody>
      </p:sp>
      <p:sp>
        <p:nvSpPr>
          <p:cNvPr id="39" name="手繪多邊形: 圖案 38">
            <a:extLst>
              <a:ext uri="{FF2B5EF4-FFF2-40B4-BE49-F238E27FC236}">
                <a16:creationId xmlns:a16="http://schemas.microsoft.com/office/drawing/2014/main" id="{C8D5F5CC-14E8-F80E-C35D-9B5019211A13}"/>
              </a:ext>
            </a:extLst>
          </p:cNvPr>
          <p:cNvSpPr/>
          <p:nvPr/>
        </p:nvSpPr>
        <p:spPr>
          <a:xfrm>
            <a:off x="6875929" y="3469341"/>
            <a:ext cx="3558989" cy="1981200"/>
          </a:xfrm>
          <a:custGeom>
            <a:avLst/>
            <a:gdLst>
              <a:gd name="csX0" fmla="*/ 3558989 w 3558989"/>
              <a:gd name="csY0" fmla="*/ 1981200 h 1981200"/>
              <a:gd name="csX1" fmla="*/ 1792942 w 3558989"/>
              <a:gd name="csY1" fmla="*/ 654424 h 1981200"/>
              <a:gd name="csX2" fmla="*/ 0 w 3558989"/>
              <a:gd name="csY2" fmla="*/ 0 h 198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58989" h="1981200">
                <a:moveTo>
                  <a:pt x="3558989" y="1981200"/>
                </a:moveTo>
                <a:cubicBezTo>
                  <a:pt x="2972548" y="1482912"/>
                  <a:pt x="2386107" y="984624"/>
                  <a:pt x="1792942" y="654424"/>
                </a:cubicBezTo>
                <a:cubicBezTo>
                  <a:pt x="1199777" y="324224"/>
                  <a:pt x="599888" y="162112"/>
                  <a:pt x="0" y="0"/>
                </a:cubicBezTo>
              </a:path>
            </a:pathLst>
          </a:custGeom>
          <a:noFill/>
          <a:ln w="19050">
            <a:solidFill>
              <a:srgbClr val="BAE6FD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02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251152d7f_0_112"/>
          <p:cNvSpPr/>
          <p:nvPr/>
        </p:nvSpPr>
        <p:spPr>
          <a:xfrm>
            <a:off x="2307425" y="1244238"/>
            <a:ext cx="3798000" cy="242340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251152d7f_0_112"/>
          <p:cNvSpPr/>
          <p:nvPr/>
        </p:nvSpPr>
        <p:spPr>
          <a:xfrm>
            <a:off x="6111750" y="3650375"/>
            <a:ext cx="3798000" cy="242340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251152d7f_0_112"/>
          <p:cNvSpPr/>
          <p:nvPr/>
        </p:nvSpPr>
        <p:spPr>
          <a:xfrm>
            <a:off x="6101450" y="1244225"/>
            <a:ext cx="3798000" cy="242340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251152d7f_0_112"/>
          <p:cNvSpPr/>
          <p:nvPr/>
        </p:nvSpPr>
        <p:spPr>
          <a:xfrm>
            <a:off x="2307425" y="3650375"/>
            <a:ext cx="3798000" cy="242340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251152d7f_0_112"/>
          <p:cNvSpPr txBox="1"/>
          <p:nvPr/>
        </p:nvSpPr>
        <p:spPr>
          <a:xfrm>
            <a:off x="3442025" y="1993438"/>
            <a:ext cx="15288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>
                <a:latin typeface="微軟正黑體"/>
              </a:defRPr>
            </a:pPr>
            <a:r>
              <a:rPr lang="en-US" sz="26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黃金縫隙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251152d7f_0_112"/>
          <p:cNvSpPr txBox="1"/>
          <p:nvPr/>
        </p:nvSpPr>
        <p:spPr>
          <a:xfrm>
            <a:off x="6872700" y="4363475"/>
            <a:ext cx="22761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>
                <a:latin typeface="微軟正黑體"/>
              </a:defRPr>
            </a:pPr>
            <a:r>
              <a:rPr lang="en-US" sz="26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黑洞（避開）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251152d7f_0_112"/>
          <p:cNvSpPr txBox="1"/>
          <p:nvPr/>
        </p:nvSpPr>
        <p:spPr>
          <a:xfrm>
            <a:off x="3128675" y="4363475"/>
            <a:ext cx="21555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>
                <a:latin typeface="微軟正黑體"/>
              </a:defRPr>
            </a:pPr>
            <a:r>
              <a:rPr lang="en-US" sz="26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觀察 / 測試區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251152d7f_0_112"/>
          <p:cNvSpPr txBox="1"/>
          <p:nvPr/>
        </p:nvSpPr>
        <p:spPr>
          <a:xfrm>
            <a:off x="7236050" y="1993438"/>
            <a:ext cx="15288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>
                <a:latin typeface="微軟正黑體"/>
              </a:defRPr>
            </a:pPr>
            <a:r>
              <a:rPr lang="en-US" sz="26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紅海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251152d7f_0_112"/>
          <p:cNvSpPr txBox="1"/>
          <p:nvPr/>
        </p:nvSpPr>
        <p:spPr>
          <a:xfrm>
            <a:off x="2589788" y="2703113"/>
            <a:ext cx="32184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r>
              <a:rPr lang="en-US" sz="14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有需求，但還沒被做好=最賺錢的位置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r>
              <a:rPr lang="en-US" sz="14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用專業差異切入→做高信任 × 高單價=價格權力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251152d7f_0_112"/>
          <p:cNvSpPr txBox="1"/>
          <p:nvPr/>
        </p:nvSpPr>
        <p:spPr>
          <a:xfrm>
            <a:off x="6383813" y="2703113"/>
            <a:ext cx="32184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r>
              <a:rPr lang="en-US" sz="14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市場很大，一進去就被淹沒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r>
              <a:rPr lang="en-US" sz="14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解法：極度細分 or 重新定位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r>
              <a:rPr lang="en-US" sz="14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紅海不是不能做，是要「切一刀」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251152d7f_0_112"/>
          <p:cNvSpPr txBox="1"/>
          <p:nvPr/>
        </p:nvSpPr>
        <p:spPr>
          <a:xfrm>
            <a:off x="2597225" y="4933175"/>
            <a:ext cx="32184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r>
              <a:rPr lang="en-US" sz="14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現在沒市場，不代表未來沒有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r>
              <a:rPr lang="en-US" sz="14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任務：教育市場+測試內容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251152d7f_0_112"/>
          <p:cNvSpPr txBox="1"/>
          <p:nvPr/>
        </p:nvSpPr>
        <p:spPr>
          <a:xfrm>
            <a:off x="6401550" y="4933175"/>
            <a:ext cx="32184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r>
              <a:rPr lang="en-US" sz="14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沒差異 × 沒需求 = 流量黑洞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r>
              <a:rPr lang="en-US" sz="14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做再多內容都不會變現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r>
              <a:rPr lang="en-US" sz="14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沒有差異的技能，最後都變成價格戰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251152d7f_0_112"/>
          <p:cNvSpPr txBox="1"/>
          <p:nvPr/>
        </p:nvSpPr>
        <p:spPr>
          <a:xfrm>
            <a:off x="3128675" y="1459325"/>
            <a:ext cx="2041500" cy="42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r>
              <a:rPr lang="en-US" sz="18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高需求 × 低競爭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251152d7f_0_112"/>
          <p:cNvSpPr txBox="1"/>
          <p:nvPr/>
        </p:nvSpPr>
        <p:spPr>
          <a:xfrm>
            <a:off x="6238177" y="1459325"/>
            <a:ext cx="3505500" cy="422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r>
              <a:rPr lang="en-US" sz="18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高需求 × 高競爭（可做但要切細)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251152d7f_0_112"/>
          <p:cNvSpPr txBox="1"/>
          <p:nvPr/>
        </p:nvSpPr>
        <p:spPr>
          <a:xfrm>
            <a:off x="3185675" y="3901050"/>
            <a:ext cx="2041500" cy="422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r>
              <a:rPr lang="en-US" sz="18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低需求 × 低競爭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251152d7f_0_112"/>
          <p:cNvSpPr txBox="1"/>
          <p:nvPr/>
        </p:nvSpPr>
        <p:spPr>
          <a:xfrm>
            <a:off x="6990000" y="3901050"/>
            <a:ext cx="2041500" cy="422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r>
              <a:rPr lang="en-US" sz="18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低需求 × 低競爭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251152d7f_0_112"/>
          <p:cNvSpPr/>
          <p:nvPr/>
        </p:nvSpPr>
        <p:spPr>
          <a:xfrm>
            <a:off x="2307425" y="6162475"/>
            <a:ext cx="7602325" cy="635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f251152d7f_0_112"/>
          <p:cNvSpPr txBox="1"/>
          <p:nvPr/>
        </p:nvSpPr>
        <p:spPr>
          <a:xfrm>
            <a:off x="5075250" y="6269050"/>
            <a:ext cx="20415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r>
              <a:rPr lang="en-US" sz="18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競爭者密度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f251152d7f_0_112"/>
          <p:cNvSpPr/>
          <p:nvPr/>
        </p:nvSpPr>
        <p:spPr>
          <a:xfrm>
            <a:off x="1442488" y="1244225"/>
            <a:ext cx="689100" cy="482955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微軟正黑體"/>
              </a:defRPr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251152d7f_0_112"/>
          <p:cNvSpPr txBox="1"/>
          <p:nvPr/>
        </p:nvSpPr>
        <p:spPr>
          <a:xfrm>
            <a:off x="1442488" y="2736200"/>
            <a:ext cx="689100" cy="18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r>
              <a:rPr lang="en-US" sz="18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市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r>
              <a:rPr lang="en-US" sz="18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場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r>
              <a:rPr lang="en-US" sz="18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需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r>
              <a:rPr lang="en-US" sz="18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求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r>
              <a:rPr lang="en-US" sz="18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強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r>
              <a:rPr lang="en-US" sz="1800" b="0" i="0" u="none" strike="noStrike" cap="none">
                <a:solidFill>
                  <a:schemeClr val="dk1"/>
                </a:solidFill>
                <a:latin typeface="微軟正黑體"/>
                <a:ea typeface="Calibri"/>
                <a:cs typeface="Calibri"/>
                <a:sym typeface="Calibri"/>
              </a:rPr>
              <a:t>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Rectangle 309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3" name="Google Shape;329;g3f251152d7f_0_1">
            <a:extLst>
              <a:ext uri="{FF2B5EF4-FFF2-40B4-BE49-F238E27FC236}">
                <a16:creationId xmlns:a16="http://schemas.microsoft.com/office/drawing/2014/main" id="{09574AB4-ACB1-95DA-1779-681958D11EB9}"/>
              </a:ext>
            </a:extLst>
          </p:cNvPr>
          <p:cNvSpPr txBox="1">
            <a:spLocks/>
          </p:cNvSpPr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SzPts val="3200"/>
            </a:pPr>
            <a:r>
              <a:rPr lang="zh-TW" altLang="en-US" sz="3200" b="1">
                <a:solidFill>
                  <a:srgbClr val="083344"/>
                </a:solidFill>
                <a:latin typeface="微軟正黑體"/>
                <a:ea typeface="Calibri"/>
                <a:cs typeface="Calibri"/>
                <a:sym typeface="Calibri"/>
              </a:rPr>
              <a:t>市場利基四象限：用需求 </a:t>
            </a:r>
            <a:r>
              <a:rPr lang="en-US" altLang="zh-TW" sz="3200" b="1">
                <a:solidFill>
                  <a:srgbClr val="083344"/>
                </a:solidFill>
                <a:latin typeface="微軟正黑體"/>
                <a:ea typeface="Calibri"/>
                <a:cs typeface="Calibri"/>
                <a:sym typeface="Calibri"/>
              </a:rPr>
              <a:t>× </a:t>
            </a:r>
            <a:r>
              <a:rPr lang="zh-TW" altLang="en-US" sz="3200" b="1">
                <a:solidFill>
                  <a:srgbClr val="083344"/>
                </a:solidFill>
                <a:latin typeface="微軟正黑體"/>
                <a:ea typeface="Calibri"/>
                <a:cs typeface="Calibri"/>
                <a:sym typeface="Calibri"/>
              </a:rPr>
              <a:t>競爭找「黃金縫隙」</a:t>
            </a:r>
            <a:endParaRPr lang="zh-TW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251152d7f_0_137"/>
          <p:cNvSpPr/>
          <p:nvPr/>
        </p:nvSpPr>
        <p:spPr>
          <a:xfrm>
            <a:off x="731520" y="1918447"/>
            <a:ext cx="4114800" cy="41148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365750" tIns="45700" rIns="3657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3600" b="1">
                <a:solidFill>
                  <a:schemeClr val="tx1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別怪市場不好</a:t>
            </a:r>
            <a:endParaRPr>
              <a:solidFill>
                <a:schemeClr val="tx1"/>
              </a:solidFill>
            </a:endParaRPr>
          </a:p>
          <a:p>
            <a:pPr marL="0" marR="0" lvl="0" indent="0" algn="ctr" rtl="0">
              <a:spcBef>
                <a:spcPts val="20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3600" b="1">
                <a:solidFill>
                  <a:schemeClr val="tx1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是你站錯位置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17" name="Google Shape;317;g3f251152d7f_0_137"/>
          <p:cNvSpPr/>
          <p:nvPr/>
        </p:nvSpPr>
        <p:spPr>
          <a:xfrm>
            <a:off x="5242255" y="1918447"/>
            <a:ext cx="6217800" cy="6402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274300" tIns="109725" rIns="91425" bIns="10972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800" b="1">
                <a:solidFill>
                  <a:schemeClr val="tx1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	STEP 1   盤點你現在在哪一格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18" name="Google Shape;318;g3f251152d7f_0_137"/>
          <p:cNvSpPr/>
          <p:nvPr/>
        </p:nvSpPr>
        <p:spPr>
          <a:xfrm>
            <a:off x="5242255" y="2787127"/>
            <a:ext cx="6217800" cy="6402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274300" tIns="109725" rIns="91425" bIns="10972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800" b="1">
                <a:solidFill>
                  <a:schemeClr val="tx1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	STEP 2   如果在紅海 → 切細分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19" name="Google Shape;319;g3f251152d7f_0_137"/>
          <p:cNvSpPr/>
          <p:nvPr/>
        </p:nvSpPr>
        <p:spPr>
          <a:xfrm>
            <a:off x="5242255" y="3655807"/>
            <a:ext cx="6217800" cy="6402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274300" tIns="109725" rIns="91425" bIns="10972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800" b="1">
                <a:solidFill>
                  <a:schemeClr val="tx1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	STEP 3   如果在黑洞 → 重做定位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20" name="Google Shape;320;g3f251152d7f_0_137"/>
          <p:cNvSpPr/>
          <p:nvPr/>
        </p:nvSpPr>
        <p:spPr>
          <a:xfrm>
            <a:off x="5242255" y="4524487"/>
            <a:ext cx="6217800" cy="6402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274300" tIns="109725" rIns="91425" bIns="10972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800" b="1">
                <a:solidFill>
                  <a:schemeClr val="tx1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	STEP 4   如果在觀察區 → 做內容測試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21" name="Google Shape;321;g3f251152d7f_0_137"/>
          <p:cNvSpPr/>
          <p:nvPr/>
        </p:nvSpPr>
        <p:spPr>
          <a:xfrm>
            <a:off x="5242255" y="5393167"/>
            <a:ext cx="6217800" cy="6402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274300" tIns="109725" rIns="91425" bIns="10972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800" b="1">
                <a:solidFill>
                  <a:schemeClr val="tx1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	STEP 5   目標 → 移動到「黃金縫隙」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24" name="Rectangle 323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325" name="Rectangle 32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2" name="Google Shape;329;g3f251152d7f_0_1">
            <a:extLst>
              <a:ext uri="{FF2B5EF4-FFF2-40B4-BE49-F238E27FC236}">
                <a16:creationId xmlns:a16="http://schemas.microsoft.com/office/drawing/2014/main" id="{7D6BD55A-6BED-0DA4-B238-FFDEF99FFA5A}"/>
              </a:ext>
            </a:extLst>
          </p:cNvPr>
          <p:cNvSpPr txBox="1">
            <a:spLocks/>
          </p:cNvSpPr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  <a:buFont typeface="Play"/>
              <a:buNone/>
            </a:pPr>
            <a:r>
              <a:rPr lang="zh-TW" altLang="en-US" sz="3200" b="1">
                <a:solidFill>
                  <a:srgbClr val="083344"/>
                </a:solidFill>
                <a:latin typeface="微軟正黑體"/>
              </a:rPr>
              <a:t>定位策略思維</a:t>
            </a:r>
            <a:endParaRPr lang="zh-TW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251152d7f_0_1"/>
          <p:cNvSpPr/>
          <p:nvPr/>
        </p:nvSpPr>
        <p:spPr>
          <a:xfrm>
            <a:off x="3240500" y="2351626"/>
            <a:ext cx="3846300" cy="3694500"/>
          </a:xfrm>
          <a:prstGeom prst="ellipse">
            <a:avLst/>
          </a:prstGeom>
          <a:noFill/>
          <a:ln w="19050" cap="flat" cmpd="sng">
            <a:solidFill>
              <a:srgbClr val="BAE6FD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f251152d7f_0_1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3200" b="1">
                <a:solidFill>
                  <a:srgbClr val="083344"/>
                </a:solidFill>
                <a:latin typeface="微軟正黑體"/>
              </a:rPr>
              <a:t>找到定位的方法 </a:t>
            </a:r>
            <a:endParaRPr sz="1800"/>
          </a:p>
        </p:txBody>
      </p:sp>
      <p:sp>
        <p:nvSpPr>
          <p:cNvPr id="330" name="Google Shape;330;g3f251152d7f_0_1"/>
          <p:cNvSpPr txBox="1">
            <a:spLocks noGrp="1"/>
          </p:cNvSpPr>
          <p:nvPr>
            <p:ph type="body" idx="1"/>
          </p:nvPr>
        </p:nvSpPr>
        <p:spPr>
          <a:xfrm>
            <a:off x="1125350" y="4949840"/>
            <a:ext cx="11868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  <a:defRPr>
                <a:latin typeface="微軟正黑體"/>
              </a:defRPr>
            </a:pPr>
            <a:r>
              <a:rPr lang="en-US" sz="2000">
                <a:latin typeface="微軟正黑體"/>
              </a:rPr>
              <a:t>大數據</a:t>
            </a:r>
            <a:endParaRPr sz="2000"/>
          </a:p>
        </p:txBody>
      </p:sp>
      <p:sp>
        <p:nvSpPr>
          <p:cNvPr id="331" name="Google Shape;331;g3f251152d7f_0_1"/>
          <p:cNvSpPr txBox="1">
            <a:spLocks noGrp="1"/>
          </p:cNvSpPr>
          <p:nvPr>
            <p:ph type="body" idx="4294967295"/>
          </p:nvPr>
        </p:nvSpPr>
        <p:spPr>
          <a:xfrm>
            <a:off x="6058251" y="1312597"/>
            <a:ext cx="13398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  <a:defRPr>
                <a:latin typeface="微軟正黑體"/>
              </a:defRPr>
            </a:pPr>
            <a:r>
              <a:rPr lang="en-US" sz="2000">
                <a:latin typeface="微軟正黑體"/>
              </a:rPr>
              <a:t>個人觀感</a:t>
            </a:r>
            <a:endParaRPr sz="2000"/>
          </a:p>
        </p:txBody>
      </p:sp>
      <p:sp>
        <p:nvSpPr>
          <p:cNvPr id="332" name="Google Shape;332;g3f251152d7f_0_1"/>
          <p:cNvSpPr txBox="1">
            <a:spLocks noGrp="1"/>
          </p:cNvSpPr>
          <p:nvPr>
            <p:ph type="body" idx="4294967295"/>
          </p:nvPr>
        </p:nvSpPr>
        <p:spPr>
          <a:xfrm>
            <a:off x="8033757" y="4147068"/>
            <a:ext cx="13398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  <a:defRPr>
                <a:latin typeface="微軟正黑體"/>
              </a:defRPr>
            </a:pPr>
            <a:r>
              <a:rPr lang="en-US" sz="2000">
                <a:latin typeface="微軟正黑體"/>
              </a:rPr>
              <a:t>他人觀感</a:t>
            </a:r>
            <a:endParaRPr sz="2000"/>
          </a:p>
        </p:txBody>
      </p:sp>
      <p:sp>
        <p:nvSpPr>
          <p:cNvPr id="333" name="Google Shape;333;g3f251152d7f_0_1"/>
          <p:cNvSpPr txBox="1">
            <a:spLocks noGrp="1"/>
          </p:cNvSpPr>
          <p:nvPr>
            <p:ph type="body" idx="4294967295"/>
          </p:nvPr>
        </p:nvSpPr>
        <p:spPr>
          <a:xfrm>
            <a:off x="8797138" y="531000"/>
            <a:ext cx="838200" cy="1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  <a:defRPr>
                <a:latin typeface="微軟正黑體"/>
              </a:defRPr>
            </a:pPr>
            <a:r>
              <a:rPr lang="en-US" sz="2000">
                <a:latin typeface="微軟正黑體"/>
              </a:rPr>
              <a:t>自傳</a:t>
            </a:r>
            <a:endParaRPr sz="20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  <a:defRPr>
                <a:latin typeface="微軟正黑體"/>
              </a:defRPr>
            </a:pPr>
            <a:r>
              <a:rPr lang="en-US" sz="2000">
                <a:latin typeface="微軟正黑體"/>
              </a:rPr>
              <a:t>興趣</a:t>
            </a:r>
            <a:endParaRPr sz="20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  <a:defRPr>
                <a:latin typeface="微軟正黑體"/>
              </a:defRPr>
            </a:pPr>
            <a:r>
              <a:rPr lang="en-US" sz="2000">
                <a:latin typeface="微軟正黑體"/>
              </a:rPr>
              <a:t>專長</a:t>
            </a:r>
            <a:endParaRPr sz="2000"/>
          </a:p>
        </p:txBody>
      </p:sp>
      <p:sp>
        <p:nvSpPr>
          <p:cNvPr id="334" name="Google Shape;334;g3f251152d7f_0_1"/>
          <p:cNvSpPr txBox="1">
            <a:spLocks noGrp="1"/>
          </p:cNvSpPr>
          <p:nvPr>
            <p:ph type="body" idx="4294967295"/>
          </p:nvPr>
        </p:nvSpPr>
        <p:spPr>
          <a:xfrm>
            <a:off x="3591777" y="4201140"/>
            <a:ext cx="2071655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  <a:defRPr>
                <a:latin typeface="微軟正黑體"/>
              </a:defRPr>
            </a:pPr>
            <a:r>
              <a:rPr lang="en-US" sz="2000">
                <a:latin typeface="微軟正黑體"/>
              </a:rPr>
              <a:t>儀器或客觀測試</a:t>
            </a:r>
            <a:endParaRPr sz="2000"/>
          </a:p>
        </p:txBody>
      </p:sp>
      <p:sp>
        <p:nvSpPr>
          <p:cNvPr id="335" name="Google Shape;335;g3f251152d7f_0_1"/>
          <p:cNvSpPr txBox="1">
            <a:spLocks noGrp="1"/>
          </p:cNvSpPr>
          <p:nvPr>
            <p:ph type="body" idx="4294967295"/>
          </p:nvPr>
        </p:nvSpPr>
        <p:spPr>
          <a:xfrm>
            <a:off x="10403903" y="4949240"/>
            <a:ext cx="662747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2941"/>
              <a:buNone/>
              <a:defRPr>
                <a:latin typeface="微軟正黑體"/>
              </a:defRPr>
            </a:pPr>
            <a:r>
              <a:rPr lang="en-US" sz="2000">
                <a:latin typeface="微軟正黑體"/>
              </a:rPr>
              <a:t>諮詢</a:t>
            </a:r>
            <a:endParaRPr sz="2000"/>
          </a:p>
        </p:txBody>
      </p:sp>
      <p:sp>
        <p:nvSpPr>
          <p:cNvPr id="336" name="Google Shape;336;g3f251152d7f_0_1"/>
          <p:cNvSpPr/>
          <p:nvPr/>
        </p:nvSpPr>
        <p:spPr>
          <a:xfrm>
            <a:off x="4656476" y="478349"/>
            <a:ext cx="3953700" cy="3921600"/>
          </a:xfrm>
          <a:prstGeom prst="ellipse">
            <a:avLst/>
          </a:prstGeom>
          <a:noFill/>
          <a:ln w="19050" cap="flat" cmpd="sng">
            <a:solidFill>
              <a:srgbClr val="BAE6FD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251152d7f_0_1"/>
          <p:cNvSpPr/>
          <p:nvPr/>
        </p:nvSpPr>
        <p:spPr>
          <a:xfrm>
            <a:off x="6058251" y="2318323"/>
            <a:ext cx="4010400" cy="3761100"/>
          </a:xfrm>
          <a:prstGeom prst="ellipse">
            <a:avLst/>
          </a:prstGeom>
          <a:noFill/>
          <a:ln w="19050" cap="flat" cmpd="sng">
            <a:solidFill>
              <a:srgbClr val="BAE6FD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latin typeface="微軟正黑體"/>
              </a:defRPr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g3f251152d7f_0_1"/>
          <p:cNvCxnSpPr>
            <a:stCxn id="331" idx="3"/>
            <a:endCxn id="333" idx="1"/>
          </p:cNvCxnSpPr>
          <p:nvPr/>
        </p:nvCxnSpPr>
        <p:spPr>
          <a:xfrm flipV="1">
            <a:off x="7398051" y="1143000"/>
            <a:ext cx="1399087" cy="43869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9" name="Google Shape;339;g3f251152d7f_0_1"/>
          <p:cNvCxnSpPr>
            <a:cxnSpLocks/>
            <a:stCxn id="334" idx="1"/>
            <a:endCxn id="330" idx="3"/>
          </p:cNvCxnSpPr>
          <p:nvPr/>
        </p:nvCxnSpPr>
        <p:spPr>
          <a:xfrm flipH="1">
            <a:off x="2312150" y="4470240"/>
            <a:ext cx="1279627" cy="74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" name="Google Shape;340;g3f251152d7f_0_1"/>
          <p:cNvCxnSpPr>
            <a:cxnSpLocks/>
            <a:stCxn id="332" idx="3"/>
            <a:endCxn id="335" idx="1"/>
          </p:cNvCxnSpPr>
          <p:nvPr/>
        </p:nvCxnSpPr>
        <p:spPr>
          <a:xfrm>
            <a:off x="9373557" y="4416168"/>
            <a:ext cx="1030346" cy="80217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1" name="Rectangle 340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251152d7f_0_332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選題庫 </a:t>
            </a:r>
            <a:r>
              <a:rPr lang="en-US" alt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× </a:t>
            </a:r>
            <a:r>
              <a:rPr lang="zh-TW" altLang="en-US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新手定位賽道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TW" altLang="en-US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用熱門主題找到內容方向，再從定位賽道建立長期輸出</a:t>
            </a:r>
            <a:endParaRPr lang="zh-TW" altLang="en-US"/>
          </a:p>
        </p:txBody>
      </p:sp>
      <p:sp>
        <p:nvSpPr>
          <p:cNvPr id="346" name="Google Shape;346;g3f251152d7f_0_332"/>
          <p:cNvSpPr/>
          <p:nvPr/>
        </p:nvSpPr>
        <p:spPr>
          <a:xfrm>
            <a:off x="493059" y="1672814"/>
            <a:ext cx="5486400" cy="4937700"/>
          </a:xfrm>
          <a:prstGeom prst="rect">
            <a:avLst/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251152d7f_0_332"/>
          <p:cNvSpPr txBox="1"/>
          <p:nvPr/>
        </p:nvSpPr>
        <p:spPr>
          <a:xfrm>
            <a:off x="675939" y="1764254"/>
            <a:ext cx="512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800" b="1">
                <a:solidFill>
                  <a:srgbClr val="B4530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🔥 熱門選題庫  </a:t>
            </a:r>
            <a:r>
              <a:rPr lang="en-US" sz="11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九大內容主題，抓住觀眾眼球的切角</a:t>
            </a:r>
            <a:endParaRPr/>
          </a:p>
        </p:txBody>
      </p:sp>
      <p:sp>
        <p:nvSpPr>
          <p:cNvPr id="348" name="Google Shape;348;g3f251152d7f_0_332"/>
          <p:cNvSpPr/>
          <p:nvPr/>
        </p:nvSpPr>
        <p:spPr>
          <a:xfrm>
            <a:off x="584499" y="2312894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01 生活日常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一週的快樂碎片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收藏夏天的小美好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獨居女子的夜間日常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普通人拍出好vlog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小套房的週末記錄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每一天都獨一無二</a:t>
            </a:r>
            <a:endParaRPr/>
          </a:p>
        </p:txBody>
      </p:sp>
      <p:sp>
        <p:nvSpPr>
          <p:cNvPr id="349" name="Google Shape;349;g3f251152d7f_0_332"/>
          <p:cNvSpPr/>
          <p:nvPr/>
        </p:nvSpPr>
        <p:spPr>
          <a:xfrm>
            <a:off x="2321859" y="2312894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02 家裝家居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小家住出溫馨感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角落收納空間翻倍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家居好物升級幸福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老屋改造前後對比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擁有屬於自己的家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出租宅佈置出質感</a:t>
            </a:r>
            <a:endParaRPr/>
          </a:p>
        </p:txBody>
      </p:sp>
      <p:sp>
        <p:nvSpPr>
          <p:cNvPr id="350" name="Google Shape;350;g3f251152d7f_0_332"/>
          <p:cNvSpPr/>
          <p:nvPr/>
        </p:nvSpPr>
        <p:spPr>
          <a:xfrm>
            <a:off x="4059219" y="2312894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03 美食健康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在家做的低卡甜點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夜市酒店美食分享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Q彈米點心食譜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上班族快速三餐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減脂餐食推薦清單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圍繞熱搜隱藏美食</a:t>
            </a:r>
            <a:endParaRPr/>
          </a:p>
        </p:txBody>
      </p:sp>
      <p:sp>
        <p:nvSpPr>
          <p:cNvPr id="351" name="Google Shape;351;g3f251152d7f_0_332"/>
          <p:cNvSpPr/>
          <p:nvPr/>
        </p:nvSpPr>
        <p:spPr>
          <a:xfrm>
            <a:off x="584499" y="3730214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04 寵物日常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毛孩美容日記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為什麼我家寵物這樣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寵物雞是我的家人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讓毛孩更健康快樂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毛孩綠食料理分享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新手養寵必備好物</a:t>
            </a:r>
            <a:endParaRPr/>
          </a:p>
        </p:txBody>
      </p:sp>
      <p:sp>
        <p:nvSpPr>
          <p:cNvPr id="352" name="Google Shape;352;g3f251152d7f_0_332"/>
          <p:cNvSpPr/>
          <p:nvPr/>
        </p:nvSpPr>
        <p:spPr>
          <a:xfrm>
            <a:off x="2321859" y="3730214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05 旅遊遊玩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這些地方去過幾個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旅行，其實也是學習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省錢又好玩的攻略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旅行中的意外驚喜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旅行教會我的那些事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旅行必備物品清單</a:t>
            </a:r>
            <a:endParaRPr/>
          </a:p>
        </p:txBody>
      </p:sp>
      <p:sp>
        <p:nvSpPr>
          <p:cNvPr id="353" name="Google Shape;353;g3f251152d7f_0_332"/>
          <p:cNvSpPr/>
          <p:nvPr/>
        </p:nvSpPr>
        <p:spPr>
          <a:xfrm>
            <a:off x="4059219" y="3730214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06 美妝護膚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美妝靈感從哪來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維持好膚質的方法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值得試的護膚方法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找到適合自己產品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美妝好物必收藏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通勤妝容十分鐘搞定</a:t>
            </a:r>
            <a:endParaRPr/>
          </a:p>
        </p:txBody>
      </p:sp>
      <p:sp>
        <p:nvSpPr>
          <p:cNvPr id="354" name="Google Shape;354;g3f251152d7f_0_332"/>
          <p:cNvSpPr/>
          <p:nvPr/>
        </p:nvSpPr>
        <p:spPr>
          <a:xfrm>
            <a:off x="584499" y="5147534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07 時尚穿搭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我的衣櫃裡有什麼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怎麼穿出自己風格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找到適合自己穿搭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一件單品多種造型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這些單品一定要入手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換季衣櫃整理術</a:t>
            </a:r>
            <a:endParaRPr/>
          </a:p>
        </p:txBody>
      </p:sp>
      <p:sp>
        <p:nvSpPr>
          <p:cNvPr id="355" name="Google Shape;355;g3f251152d7f_0_332"/>
          <p:cNvSpPr/>
          <p:nvPr/>
        </p:nvSpPr>
        <p:spPr>
          <a:xfrm>
            <a:off x="2321859" y="5147534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08 職場打拼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我的工作自由時光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下班後我想怎麼放鬆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在公司的職場觀察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職場女性如何突破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行業賺錢真實故事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辦公室幸福感小技巧</a:t>
            </a:r>
            <a:endParaRPr/>
          </a:p>
        </p:txBody>
      </p:sp>
      <p:sp>
        <p:nvSpPr>
          <p:cNvPr id="356" name="Google Shape;356;g3f251152d7f_0_332"/>
          <p:cNvSpPr/>
          <p:nvPr/>
        </p:nvSpPr>
        <p:spPr>
          <a:xfrm>
            <a:off x="4059219" y="5147534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09 母嬰親子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育兒必備好物清單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小家也有育兒樂趣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新世代父母反向教育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當媽以後也要愛自己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媽媽覺醒成長日常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親子互動的儀式感</a:t>
            </a:r>
            <a:endParaRPr/>
          </a:p>
        </p:txBody>
      </p:sp>
      <p:sp>
        <p:nvSpPr>
          <p:cNvPr id="357" name="Google Shape;357;g3f251152d7f_0_332"/>
          <p:cNvSpPr/>
          <p:nvPr/>
        </p:nvSpPr>
        <p:spPr>
          <a:xfrm>
            <a:off x="6253779" y="1672814"/>
            <a:ext cx="5486400" cy="4937700"/>
          </a:xfrm>
          <a:prstGeom prst="rect">
            <a:avLst/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251152d7f_0_332"/>
          <p:cNvSpPr txBox="1"/>
          <p:nvPr/>
        </p:nvSpPr>
        <p:spPr>
          <a:xfrm>
            <a:off x="6436659" y="1764254"/>
            <a:ext cx="512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8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🎯 新手定位賽道  </a:t>
            </a:r>
            <a:r>
              <a:rPr lang="en-US" sz="11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找出你可以持續輸出的內容戰場</a:t>
            </a:r>
            <a:endParaRPr/>
          </a:p>
        </p:txBody>
      </p:sp>
      <p:sp>
        <p:nvSpPr>
          <p:cNvPr id="359" name="Google Shape;359;g3f251152d7f_0_332"/>
          <p:cNvSpPr/>
          <p:nvPr/>
        </p:nvSpPr>
        <p:spPr>
          <a:xfrm>
            <a:off x="6390939" y="2312894"/>
            <a:ext cx="1645800" cy="3201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❶ 定位：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能「持續」輸出才是賽道</a:t>
            </a:r>
            <a:endParaRPr/>
          </a:p>
        </p:txBody>
      </p:sp>
      <p:sp>
        <p:nvSpPr>
          <p:cNvPr id="360" name="Google Shape;360;g3f251152d7f_0_332"/>
          <p:cNvSpPr/>
          <p:nvPr/>
        </p:nvSpPr>
        <p:spPr>
          <a:xfrm>
            <a:off x="8128299" y="2312894"/>
            <a:ext cx="1645800" cy="3201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❷ 價值：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帳號為何存在？給觀眾什麼？</a:t>
            </a:r>
            <a:endParaRPr/>
          </a:p>
        </p:txBody>
      </p:sp>
      <p:sp>
        <p:nvSpPr>
          <p:cNvPr id="361" name="Google Shape;361;g3f251152d7f_0_332"/>
          <p:cNvSpPr/>
          <p:nvPr/>
        </p:nvSpPr>
        <p:spPr>
          <a:xfrm>
            <a:off x="9865659" y="2312894"/>
            <a:ext cx="1645800" cy="3201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❸ 差異：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5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同題材你跟別人有何不同？</a:t>
            </a:r>
            <a:endParaRPr/>
          </a:p>
        </p:txBody>
      </p:sp>
      <p:sp>
        <p:nvSpPr>
          <p:cNvPr id="362" name="Google Shape;362;g3f251152d7f_0_332"/>
          <p:cNvSpPr/>
          <p:nvPr/>
        </p:nvSpPr>
        <p:spPr>
          <a:xfrm>
            <a:off x="6345219" y="2770094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01 美妝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護膚流程 • 妝容教學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彩妝推薦 • 名人仿妝</a:t>
            </a:r>
            <a:endParaRPr/>
          </a:p>
        </p:txBody>
      </p:sp>
      <p:sp>
        <p:nvSpPr>
          <p:cNvPr id="363" name="Google Shape;363;g3f251152d7f_0_332"/>
          <p:cNvSpPr/>
          <p:nvPr/>
        </p:nvSpPr>
        <p:spPr>
          <a:xfrm>
            <a:off x="7671099" y="2770094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02 Vlog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旅行 vlog • 生活 vlog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美食 vlog • 職場 vlog</a:t>
            </a:r>
            <a:endParaRPr/>
          </a:p>
        </p:txBody>
      </p:sp>
      <p:sp>
        <p:nvSpPr>
          <p:cNvPr id="364" name="Google Shape;364;g3f251152d7f_0_332"/>
          <p:cNvSpPr/>
          <p:nvPr/>
        </p:nvSpPr>
        <p:spPr>
          <a:xfrm>
            <a:off x="8996979" y="2770094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03 娛樂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娛樂片段 • 舞蹈音樂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明星觀察 • 娛樂資訊</a:t>
            </a:r>
            <a:endParaRPr/>
          </a:p>
        </p:txBody>
      </p:sp>
      <p:sp>
        <p:nvSpPr>
          <p:cNvPr id="365" name="Google Shape;365;g3f251152d7f_0_332"/>
          <p:cNvSpPr/>
          <p:nvPr/>
        </p:nvSpPr>
        <p:spPr>
          <a:xfrm>
            <a:off x="10322859" y="2770094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04 職場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職場溝通 • 面試經驗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職場日常 • 技能教學</a:t>
            </a:r>
            <a:endParaRPr/>
          </a:p>
        </p:txBody>
      </p:sp>
      <p:sp>
        <p:nvSpPr>
          <p:cNvPr id="366" name="Google Shape;366;g3f251152d7f_0_332"/>
          <p:cNvSpPr/>
          <p:nvPr/>
        </p:nvSpPr>
        <p:spPr>
          <a:xfrm>
            <a:off x="6345219" y="3702782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05 情感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戀愛技巧 • 成長分享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情感洞察 • 兩性關係</a:t>
            </a:r>
            <a:endParaRPr/>
          </a:p>
        </p:txBody>
      </p:sp>
      <p:sp>
        <p:nvSpPr>
          <p:cNvPr id="367" name="Google Shape;367;g3f251152d7f_0_332"/>
          <p:cNvSpPr/>
          <p:nvPr/>
        </p:nvSpPr>
        <p:spPr>
          <a:xfrm>
            <a:off x="7671099" y="3702782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06 美食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線下探店 • 料理教學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美食分享 • 試吃評測</a:t>
            </a:r>
            <a:endParaRPr/>
          </a:p>
        </p:txBody>
      </p:sp>
      <p:sp>
        <p:nvSpPr>
          <p:cNvPr id="368" name="Google Shape;368;g3f251152d7f_0_332"/>
          <p:cNvSpPr/>
          <p:nvPr/>
        </p:nvSpPr>
        <p:spPr>
          <a:xfrm>
            <a:off x="8996979" y="3702782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07 旅遊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民宿推薦 • 行程規劃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旅遊攻略 • 景點打卡</a:t>
            </a:r>
            <a:endParaRPr/>
          </a:p>
        </p:txBody>
      </p:sp>
      <p:sp>
        <p:nvSpPr>
          <p:cNvPr id="369" name="Google Shape;369;g3f251152d7f_0_332"/>
          <p:cNvSpPr/>
          <p:nvPr/>
        </p:nvSpPr>
        <p:spPr>
          <a:xfrm>
            <a:off x="10322859" y="3702782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08 母嬰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寶寶副食 • 母嬰好物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育兒知識 • 早教教學</a:t>
            </a:r>
            <a:endParaRPr/>
          </a:p>
        </p:txBody>
      </p:sp>
      <p:sp>
        <p:nvSpPr>
          <p:cNvPr id="370" name="Google Shape;370;g3f251152d7f_0_332"/>
          <p:cNvSpPr/>
          <p:nvPr/>
        </p:nvSpPr>
        <p:spPr>
          <a:xfrm>
            <a:off x="6345219" y="4635470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09 家居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租屋改造 • 房間改造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居家好物 • 裝修設計</a:t>
            </a:r>
            <a:endParaRPr/>
          </a:p>
        </p:txBody>
      </p:sp>
      <p:sp>
        <p:nvSpPr>
          <p:cNvPr id="371" name="Google Shape;371;g3f251152d7f_0_332"/>
          <p:cNvSpPr/>
          <p:nvPr/>
        </p:nvSpPr>
        <p:spPr>
          <a:xfrm>
            <a:off x="7671099" y="4635470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10 穿搭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時尚資訊 • 穿搭分享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搭配教學 • 服裝評測</a:t>
            </a:r>
            <a:endParaRPr/>
          </a:p>
        </p:txBody>
      </p:sp>
      <p:sp>
        <p:nvSpPr>
          <p:cNvPr id="372" name="Google Shape;372;g3f251152d7f_0_332"/>
          <p:cNvSpPr/>
          <p:nvPr/>
        </p:nvSpPr>
        <p:spPr>
          <a:xfrm>
            <a:off x="8996979" y="4635470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11 知識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人文歷史 • 知識科普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必讀書單 • 備考經驗</a:t>
            </a:r>
            <a:endParaRPr/>
          </a:p>
        </p:txBody>
      </p:sp>
      <p:sp>
        <p:nvSpPr>
          <p:cNvPr id="373" name="Google Shape;373;g3f251152d7f_0_332"/>
          <p:cNvSpPr/>
          <p:nvPr/>
        </p:nvSpPr>
        <p:spPr>
          <a:xfrm>
            <a:off x="10322859" y="4635470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12 讀書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習慣養成 • 讀書筆記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書記分享 • 思維邏輯</a:t>
            </a:r>
            <a:endParaRPr/>
          </a:p>
        </p:txBody>
      </p:sp>
      <p:sp>
        <p:nvSpPr>
          <p:cNvPr id="374" name="Google Shape;374;g3f251152d7f_0_332"/>
          <p:cNvSpPr/>
          <p:nvPr/>
        </p:nvSpPr>
        <p:spPr>
          <a:xfrm>
            <a:off x="6345219" y="5568158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13 寵物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寵物飲食 • 萌寵日常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養寵好物 • 養寵攻略</a:t>
            </a:r>
            <a:endParaRPr/>
          </a:p>
        </p:txBody>
      </p:sp>
      <p:sp>
        <p:nvSpPr>
          <p:cNvPr id="375" name="Google Shape;375;g3f251152d7f_0_332"/>
          <p:cNvSpPr/>
          <p:nvPr/>
        </p:nvSpPr>
        <p:spPr>
          <a:xfrm>
            <a:off x="7671099" y="5568158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14 健身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經驗分享 • 減脂打卡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減脂食譜 • 健身乾貨</a:t>
            </a:r>
            <a:endParaRPr/>
          </a:p>
        </p:txBody>
      </p:sp>
      <p:sp>
        <p:nvSpPr>
          <p:cNvPr id="376" name="Google Shape;376;g3f251152d7f_0_332"/>
          <p:cNvSpPr/>
          <p:nvPr/>
        </p:nvSpPr>
        <p:spPr>
          <a:xfrm>
            <a:off x="8996979" y="5568158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15 攝影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設計案例 • 拍攝技巧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寫真作品 • 器材教學</a:t>
            </a:r>
            <a:endParaRPr/>
          </a:p>
        </p:txBody>
      </p:sp>
      <p:sp>
        <p:nvSpPr>
          <p:cNvPr id="377" name="Google Shape;377;g3f251152d7f_0_332"/>
          <p:cNvSpPr/>
          <p:nvPr/>
        </p:nvSpPr>
        <p:spPr>
          <a:xfrm>
            <a:off x="10322859" y="5568158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9050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1100" b="1">
                <a:solidFill>
                  <a:srgbClr val="0F766E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16 3C數位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拆箱植草 • 產品評測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• 新品開箱 • 使用指南</a:t>
            </a:r>
            <a:endParaRPr/>
          </a:p>
        </p:txBody>
      </p:sp>
      <p:sp>
        <p:nvSpPr>
          <p:cNvPr id="380" name="Rectangle 379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  <p:sp>
        <p:nvSpPr>
          <p:cNvPr id="381" name="Rectangle 380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g3f251152d7f_0_623"/>
          <p:cNvGrpSpPr/>
          <p:nvPr/>
        </p:nvGrpSpPr>
        <p:grpSpPr>
          <a:xfrm>
            <a:off x="303250" y="5393550"/>
            <a:ext cx="2018469" cy="1310400"/>
            <a:chOff x="170875" y="5393350"/>
            <a:chExt cx="2018469" cy="1310400"/>
          </a:xfrm>
        </p:grpSpPr>
        <p:sp>
          <p:nvSpPr>
            <p:cNvPr id="424" name="Google Shape;424;g3f251152d7f_0_623"/>
            <p:cNvSpPr/>
            <p:nvPr/>
          </p:nvSpPr>
          <p:spPr>
            <a:xfrm>
              <a:off x="170875" y="5393350"/>
              <a:ext cx="1975200" cy="13104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25" name="Google Shape;425;g3f251152d7f_0_623"/>
            <p:cNvSpPr txBox="1"/>
            <p:nvPr/>
          </p:nvSpPr>
          <p:spPr>
            <a:xfrm>
              <a:off x="252125" y="5393723"/>
              <a:ext cx="18180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2000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地軍</a:t>
              </a:r>
              <a:endParaRPr sz="2000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26" name="Google Shape;426;g3f251152d7f_0_623"/>
            <p:cNvSpPr txBox="1"/>
            <p:nvPr/>
          </p:nvSpPr>
          <p:spPr>
            <a:xfrm>
              <a:off x="214144" y="5754658"/>
              <a:ext cx="19752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600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高含金量、實用的</a:t>
              </a:r>
              <a:endParaRPr sz="1600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600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列點文、懶人包。展現專業→精準追蹤</a:t>
              </a:r>
              <a:endParaRPr sz="1600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</p:grpSp>
      <p:grpSp>
        <p:nvGrpSpPr>
          <p:cNvPr id="427" name="Google Shape;427;g3f251152d7f_0_623"/>
          <p:cNvGrpSpPr/>
          <p:nvPr/>
        </p:nvGrpSpPr>
        <p:grpSpPr>
          <a:xfrm>
            <a:off x="303250" y="3732450"/>
            <a:ext cx="2018469" cy="1310400"/>
            <a:chOff x="170875" y="5393350"/>
            <a:chExt cx="2018469" cy="1310400"/>
          </a:xfrm>
        </p:grpSpPr>
        <p:sp>
          <p:nvSpPr>
            <p:cNvPr id="428" name="Google Shape;428;g3f251152d7f_0_623"/>
            <p:cNvSpPr/>
            <p:nvPr/>
          </p:nvSpPr>
          <p:spPr>
            <a:xfrm>
              <a:off x="170875" y="5393350"/>
              <a:ext cx="1975200" cy="13104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29" name="Google Shape;429;g3f251152d7f_0_623"/>
            <p:cNvSpPr txBox="1"/>
            <p:nvPr/>
          </p:nvSpPr>
          <p:spPr>
            <a:xfrm>
              <a:off x="252125" y="5393723"/>
              <a:ext cx="18180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2000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海軍</a:t>
              </a:r>
              <a:endParaRPr sz="2000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30" name="Google Shape;430;g3f251152d7f_0_623"/>
            <p:cNvSpPr txBox="1"/>
            <p:nvPr/>
          </p:nvSpPr>
          <p:spPr>
            <a:xfrm>
              <a:off x="214144" y="5754658"/>
              <a:ext cx="19752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600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真實生命故事與反思，展現脆弱→建立信任、促進轉單</a:t>
              </a:r>
              <a:endParaRPr sz="1600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</p:grpSp>
      <p:grpSp>
        <p:nvGrpSpPr>
          <p:cNvPr id="431" name="Google Shape;431;g3f251152d7f_0_623"/>
          <p:cNvGrpSpPr/>
          <p:nvPr/>
        </p:nvGrpSpPr>
        <p:grpSpPr>
          <a:xfrm>
            <a:off x="303250" y="2071350"/>
            <a:ext cx="2018469" cy="1310400"/>
            <a:chOff x="170875" y="5393350"/>
            <a:chExt cx="2018469" cy="1310400"/>
          </a:xfrm>
        </p:grpSpPr>
        <p:sp>
          <p:nvSpPr>
            <p:cNvPr id="432" name="Google Shape;432;g3f251152d7f_0_623"/>
            <p:cNvSpPr/>
            <p:nvPr/>
          </p:nvSpPr>
          <p:spPr>
            <a:xfrm>
              <a:off x="170875" y="5393350"/>
              <a:ext cx="1975200" cy="13104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33" name="Google Shape;433;g3f251152d7f_0_623"/>
            <p:cNvSpPr txBox="1"/>
            <p:nvPr/>
          </p:nvSpPr>
          <p:spPr>
            <a:xfrm>
              <a:off x="252125" y="5393723"/>
              <a:ext cx="18180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2000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空軍</a:t>
              </a:r>
              <a:endParaRPr sz="2000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34" name="Google Shape;434;g3f251152d7f_0_623"/>
            <p:cNvSpPr txBox="1"/>
            <p:nvPr/>
          </p:nvSpPr>
          <p:spPr>
            <a:xfrm>
              <a:off x="214144" y="5754658"/>
              <a:ext cx="19752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600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新奇有趣、高情緒價值內容→大範圍吸引目光、增加觸及</a:t>
              </a:r>
              <a:endParaRPr sz="1600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</p:grpSp>
      <p:grpSp>
        <p:nvGrpSpPr>
          <p:cNvPr id="435" name="Google Shape;435;g3f251152d7f_0_623"/>
          <p:cNvGrpSpPr/>
          <p:nvPr/>
        </p:nvGrpSpPr>
        <p:grpSpPr>
          <a:xfrm>
            <a:off x="3131280" y="1147115"/>
            <a:ext cx="1835122" cy="5556929"/>
            <a:chOff x="2877505" y="1147115"/>
            <a:chExt cx="1835122" cy="5556929"/>
          </a:xfrm>
        </p:grpSpPr>
        <p:sp>
          <p:nvSpPr>
            <p:cNvPr id="436" name="Google Shape;436;g3f251152d7f_0_623"/>
            <p:cNvSpPr/>
            <p:nvPr/>
          </p:nvSpPr>
          <p:spPr>
            <a:xfrm>
              <a:off x="2877505" y="554844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37" name="Google Shape;437;g3f251152d7f_0_623"/>
            <p:cNvSpPr txBox="1"/>
            <p:nvPr/>
          </p:nvSpPr>
          <p:spPr>
            <a:xfrm>
              <a:off x="2949151" y="5548774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後備軍援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38" name="Google Shape;438;g3f251152d7f_0_623"/>
            <p:cNvSpPr txBox="1"/>
            <p:nvPr/>
          </p:nvSpPr>
          <p:spPr>
            <a:xfrm>
              <a:off x="2970827" y="5867046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整理好自己爆文的連結，以便能夠隨時置入新貼文留言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39" name="Google Shape;439;g3f251152d7f_0_623"/>
            <p:cNvSpPr/>
            <p:nvPr/>
          </p:nvSpPr>
          <p:spPr>
            <a:xfrm>
              <a:off x="2877505" y="4083738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40" name="Google Shape;440;g3f251152d7f_0_623"/>
            <p:cNvSpPr txBox="1"/>
            <p:nvPr/>
          </p:nvSpPr>
          <p:spPr>
            <a:xfrm>
              <a:off x="2949151" y="4084067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無限列車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41" name="Google Shape;441;g3f251152d7f_0_623"/>
            <p:cNvSpPr txBox="1"/>
            <p:nvPr/>
          </p:nvSpPr>
          <p:spPr>
            <a:xfrm>
              <a:off x="2970827" y="4402339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在高度相關的文章下貼上其他篇的連結，引導循環閱讀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42" name="Google Shape;442;g3f251152d7f_0_623"/>
            <p:cNvSpPr/>
            <p:nvPr/>
          </p:nvSpPr>
          <p:spPr>
            <a:xfrm>
              <a:off x="2877505" y="2619031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43" name="Google Shape;443;g3f251152d7f_0_623"/>
            <p:cNvSpPr txBox="1"/>
            <p:nvPr/>
          </p:nvSpPr>
          <p:spPr>
            <a:xfrm>
              <a:off x="2949151" y="2619360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頤指氣使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44" name="Google Shape;444;g3f251152d7f_0_623"/>
            <p:cNvSpPr txBox="1"/>
            <p:nvPr/>
          </p:nvSpPr>
          <p:spPr>
            <a:xfrm>
              <a:off x="2970827" y="2937632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爆紅貼文中引導讀者追蹤，並承諾追蹤後能獲得的價值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45" name="Google Shape;445;g3f251152d7f_0_623"/>
            <p:cNvSpPr/>
            <p:nvPr/>
          </p:nvSpPr>
          <p:spPr>
            <a:xfrm>
              <a:off x="2877505" y="114711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46" name="Google Shape;446;g3f251152d7f_0_623"/>
            <p:cNvSpPr txBox="1"/>
            <p:nvPr/>
          </p:nvSpPr>
          <p:spPr>
            <a:xfrm>
              <a:off x="2949151" y="1147445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連環攻勢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47" name="Google Shape;447;g3f251152d7f_0_623"/>
            <p:cNvSpPr txBox="1"/>
            <p:nvPr/>
          </p:nvSpPr>
          <p:spPr>
            <a:xfrm>
              <a:off x="2970827" y="1465717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複製舊文連結，回在最新貼文底下，引導點擊閱讀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</p:grpSp>
      <p:grpSp>
        <p:nvGrpSpPr>
          <p:cNvPr id="448" name="Google Shape;448;g3f251152d7f_0_623"/>
          <p:cNvGrpSpPr/>
          <p:nvPr/>
        </p:nvGrpSpPr>
        <p:grpSpPr>
          <a:xfrm>
            <a:off x="5378592" y="1147115"/>
            <a:ext cx="1890279" cy="5556929"/>
            <a:chOff x="5331983" y="1147115"/>
            <a:chExt cx="1890279" cy="5556929"/>
          </a:xfrm>
        </p:grpSpPr>
        <p:sp>
          <p:nvSpPr>
            <p:cNvPr id="449" name="Google Shape;449;g3f251152d7f_0_623"/>
            <p:cNvSpPr/>
            <p:nvPr/>
          </p:nvSpPr>
          <p:spPr>
            <a:xfrm>
              <a:off x="5359562" y="554844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50" name="Google Shape;450;g3f251152d7f_0_623"/>
            <p:cNvSpPr txBox="1"/>
            <p:nvPr/>
          </p:nvSpPr>
          <p:spPr>
            <a:xfrm>
              <a:off x="5431208" y="5548774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預埋伏筆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51" name="Google Shape;451;g3f251152d7f_0_623"/>
            <p:cNvSpPr txBox="1"/>
            <p:nvPr/>
          </p:nvSpPr>
          <p:spPr>
            <a:xfrm>
              <a:off x="5452884" y="5867046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慣性加上「下集待續」的伏筆，爆紅就接續、不紅就撤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52" name="Google Shape;452;g3f251152d7f_0_623"/>
            <p:cNvSpPr/>
            <p:nvPr/>
          </p:nvSpPr>
          <p:spPr>
            <a:xfrm>
              <a:off x="5359562" y="4083687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53" name="Google Shape;453;g3f251152d7f_0_623"/>
            <p:cNvSpPr txBox="1"/>
            <p:nvPr/>
          </p:nvSpPr>
          <p:spPr>
            <a:xfrm>
              <a:off x="5431208" y="4084016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雞犬升天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54" name="Google Shape;454;g3f251152d7f_0_623"/>
            <p:cNvSpPr txBox="1"/>
            <p:nvPr/>
          </p:nvSpPr>
          <p:spPr>
            <a:xfrm>
              <a:off x="5452884" y="4402288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貼文爆紅時立刻貼上其他同主題的舊文連結，增加曝光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55" name="Google Shape;455;g3f251152d7f_0_623"/>
            <p:cNvSpPr/>
            <p:nvPr/>
          </p:nvSpPr>
          <p:spPr>
            <a:xfrm>
              <a:off x="5359562" y="2618929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56" name="Google Shape;456;g3f251152d7f_0_623"/>
            <p:cNvSpPr txBox="1"/>
            <p:nvPr/>
          </p:nvSpPr>
          <p:spPr>
            <a:xfrm>
              <a:off x="5431208" y="2619258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無限彈藥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57" name="Google Shape;457;g3f251152d7f_0_623"/>
            <p:cNvSpPr txBox="1"/>
            <p:nvPr/>
          </p:nvSpPr>
          <p:spPr>
            <a:xfrm>
              <a:off x="5452884" y="2937530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爆文可在 2-3 個月後重新發布，形成循環使用的彈藥庫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58" name="Google Shape;458;g3f251152d7f_0_623"/>
            <p:cNvSpPr/>
            <p:nvPr/>
          </p:nvSpPr>
          <p:spPr>
            <a:xfrm>
              <a:off x="5331983" y="114711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59" name="Google Shape;459;g3f251152d7f_0_623"/>
            <p:cNvSpPr txBox="1"/>
            <p:nvPr/>
          </p:nvSpPr>
          <p:spPr>
            <a:xfrm>
              <a:off x="5403629" y="1147445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煽風點火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60" name="Google Shape;460;g3f251152d7f_0_623"/>
            <p:cNvSpPr txBox="1"/>
            <p:nvPr/>
          </p:nvSpPr>
          <p:spPr>
            <a:xfrm>
              <a:off x="5480462" y="1472742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撰寫爭議性話題，並表達強烈觀點，引爆留言區討論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</p:grpSp>
      <p:grpSp>
        <p:nvGrpSpPr>
          <p:cNvPr id="461" name="Google Shape;461;g3f251152d7f_0_623"/>
          <p:cNvGrpSpPr/>
          <p:nvPr/>
        </p:nvGrpSpPr>
        <p:grpSpPr>
          <a:xfrm>
            <a:off x="7681060" y="1147115"/>
            <a:ext cx="1846155" cy="5556929"/>
            <a:chOff x="7786683" y="1147115"/>
            <a:chExt cx="1846155" cy="5556929"/>
          </a:xfrm>
        </p:grpSpPr>
        <p:sp>
          <p:nvSpPr>
            <p:cNvPr id="462" name="Google Shape;462;g3f251152d7f_0_623"/>
            <p:cNvSpPr/>
            <p:nvPr/>
          </p:nvSpPr>
          <p:spPr>
            <a:xfrm>
              <a:off x="7786683" y="554844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63" name="Google Shape;463;g3f251152d7f_0_623"/>
            <p:cNvSpPr txBox="1"/>
            <p:nvPr/>
          </p:nvSpPr>
          <p:spPr>
            <a:xfrm>
              <a:off x="7858329" y="5548774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引蛇出洞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64" name="Google Shape;464;g3f251152d7f_0_623"/>
            <p:cNvSpPr txBox="1"/>
            <p:nvPr/>
          </p:nvSpPr>
          <p:spPr>
            <a:xfrm>
              <a:off x="7853057" y="5867046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主動標註其他 KOL吸引對方來留言互動，借用對方流量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65" name="Google Shape;465;g3f251152d7f_0_623"/>
            <p:cNvSpPr/>
            <p:nvPr/>
          </p:nvSpPr>
          <p:spPr>
            <a:xfrm>
              <a:off x="7786683" y="4083687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66" name="Google Shape;466;g3f251152d7f_0_623"/>
            <p:cNvSpPr txBox="1"/>
            <p:nvPr/>
          </p:nvSpPr>
          <p:spPr>
            <a:xfrm>
              <a:off x="7858329" y="4084016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移花接木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67" name="Google Shape;467;g3f251152d7f_0_623"/>
            <p:cNvSpPr txBox="1"/>
            <p:nvPr/>
          </p:nvSpPr>
          <p:spPr>
            <a:xfrm>
              <a:off x="7891038" y="4402288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發文時先不放銷售連結，等流量擴大後再置入導購連結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68" name="Google Shape;468;g3f251152d7f_0_623"/>
            <p:cNvSpPr/>
            <p:nvPr/>
          </p:nvSpPr>
          <p:spPr>
            <a:xfrm>
              <a:off x="7786683" y="2618929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69" name="Google Shape;469;g3f251152d7f_0_623"/>
            <p:cNvSpPr txBox="1"/>
            <p:nvPr/>
          </p:nvSpPr>
          <p:spPr>
            <a:xfrm>
              <a:off x="7858329" y="2619258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眾星拱月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70" name="Google Shape;470;g3f251152d7f_0_623"/>
            <p:cNvSpPr txBox="1"/>
            <p:nvPr/>
          </p:nvSpPr>
          <p:spPr>
            <a:xfrm>
              <a:off x="7891038" y="2937530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在不同話題的串內大量引用要推廣的貼文，以集中流量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71" name="Google Shape;471;g3f251152d7f_0_623"/>
            <p:cNvSpPr/>
            <p:nvPr/>
          </p:nvSpPr>
          <p:spPr>
            <a:xfrm>
              <a:off x="7786683" y="114711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72" name="Google Shape;472;g3f251152d7f_0_623"/>
            <p:cNvSpPr txBox="1"/>
            <p:nvPr/>
          </p:nvSpPr>
          <p:spPr>
            <a:xfrm>
              <a:off x="7858329" y="1147445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下集待續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73" name="Google Shape;473;g3f251152d7f_0_623"/>
            <p:cNvSpPr txBox="1"/>
            <p:nvPr/>
          </p:nvSpPr>
          <p:spPr>
            <a:xfrm>
              <a:off x="7891038" y="1465717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將核心內容或結局埋在留言區，文末附箭頭指引閱讀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</p:grpSp>
      <p:grpSp>
        <p:nvGrpSpPr>
          <p:cNvPr id="474" name="Google Shape;474;g3f251152d7f_0_623"/>
          <p:cNvGrpSpPr/>
          <p:nvPr/>
        </p:nvGrpSpPr>
        <p:grpSpPr>
          <a:xfrm>
            <a:off x="9939405" y="1147115"/>
            <a:ext cx="1813055" cy="5556929"/>
            <a:chOff x="10241405" y="1147115"/>
            <a:chExt cx="1813055" cy="5556929"/>
          </a:xfrm>
        </p:grpSpPr>
        <p:sp>
          <p:nvSpPr>
            <p:cNvPr id="475" name="Google Shape;475;g3f251152d7f_0_623"/>
            <p:cNvSpPr/>
            <p:nvPr/>
          </p:nvSpPr>
          <p:spPr>
            <a:xfrm>
              <a:off x="10241405" y="554844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76" name="Google Shape;476;g3f251152d7f_0_623"/>
            <p:cNvSpPr txBox="1"/>
            <p:nvPr/>
          </p:nvSpPr>
          <p:spPr>
            <a:xfrm>
              <a:off x="10313051" y="5548774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以量取勝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77" name="Google Shape;477;g3f251152d7f_0_623"/>
            <p:cNvSpPr txBox="1"/>
            <p:nvPr/>
          </p:nvSpPr>
          <p:spPr>
            <a:xfrm>
              <a:off x="10312660" y="5867046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有銷售意圖的貼文觸及低，可採取日更策略以數量取勝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78" name="Google Shape;478;g3f251152d7f_0_623"/>
            <p:cNvSpPr/>
            <p:nvPr/>
          </p:nvSpPr>
          <p:spPr>
            <a:xfrm>
              <a:off x="10241405" y="4083687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79" name="Google Shape;479;g3f251152d7f_0_623"/>
            <p:cNvSpPr txBox="1"/>
            <p:nvPr/>
          </p:nvSpPr>
          <p:spPr>
            <a:xfrm>
              <a:off x="10313051" y="4084016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順勢而為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80" name="Google Shape;480;g3f251152d7f_0_623"/>
            <p:cNvSpPr txBox="1"/>
            <p:nvPr/>
          </p:nvSpPr>
          <p:spPr>
            <a:xfrm>
              <a:off x="10312660" y="4402288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某種類型的貼文爆紅時，立刻微調自介，增加追蹤機率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81" name="Google Shape;481;g3f251152d7f_0_623"/>
            <p:cNvSpPr/>
            <p:nvPr/>
          </p:nvSpPr>
          <p:spPr>
            <a:xfrm>
              <a:off x="10241405" y="2618929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82" name="Google Shape;482;g3f251152d7f_0_623"/>
            <p:cNvSpPr txBox="1"/>
            <p:nvPr/>
          </p:nvSpPr>
          <p:spPr>
            <a:xfrm>
              <a:off x="10313051" y="2619258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一竿進洞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83" name="Google Shape;483;g3f251152d7f_0_623"/>
            <p:cNvSpPr txBox="1"/>
            <p:nvPr/>
          </p:nvSpPr>
          <p:spPr>
            <a:xfrm>
              <a:off x="10312660" y="2937530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貼文爆紅時立刻在置頂留言導購，或導入私域連結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84" name="Google Shape;484;g3f251152d7f_0_623"/>
            <p:cNvSpPr/>
            <p:nvPr/>
          </p:nvSpPr>
          <p:spPr>
            <a:xfrm>
              <a:off x="10241405" y="114711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endParaRPr sz="1234"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85" name="Google Shape;485;g3f251152d7f_0_623"/>
            <p:cNvSpPr txBox="1"/>
            <p:nvPr/>
          </p:nvSpPr>
          <p:spPr>
            <a:xfrm>
              <a:off x="10313051" y="1147445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764" b="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草船借箭</a:t>
              </a:r>
              <a:endParaRPr sz="1764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  <p:sp>
          <p:nvSpPr>
            <p:cNvPr id="486" name="Google Shape;486;g3f251152d7f_0_623"/>
            <p:cNvSpPr txBox="1"/>
            <p:nvPr/>
          </p:nvSpPr>
          <p:spPr>
            <a:xfrm>
              <a:off x="10312660" y="1465717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微軟正黑體"/>
                </a:defRPr>
              </a:pPr>
              <a:r>
                <a:rPr lang="en-US" sz="1411">
                  <a:solidFill>
                    <a:schemeClr val="dk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Proxima Nova"/>
                  <a:sym typeface="Proxima Nova"/>
                </a:rPr>
                <a:t>訓練 AI 模仿自己的風格，再改編書籍乾貨成自己的文</a:t>
              </a:r>
              <a:endParaRPr sz="141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endParaRPr>
            </a:p>
          </p:txBody>
        </p:sp>
      </p:grpSp>
      <p:sp>
        <p:nvSpPr>
          <p:cNvPr id="487" name="Google Shape;487;g3f251152d7f_0_62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833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rPr>
              <a:t>社群操作技巧：軍師實戰策略</a:t>
            </a:r>
            <a:endParaRPr sz="3000" b="1">
              <a:solidFill>
                <a:schemeClr val="dk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Proxima Nova"/>
              <a:sym typeface="Proxima Nova"/>
            </a:endParaRPr>
          </a:p>
        </p:txBody>
      </p:sp>
      <p:sp>
        <p:nvSpPr>
          <p:cNvPr id="488" name="Google Shape;488;g3f251152d7f_0_623"/>
          <p:cNvSpPr txBox="1"/>
          <p:nvPr/>
        </p:nvSpPr>
        <p:spPr>
          <a:xfrm>
            <a:off x="158225" y="234400"/>
            <a:ext cx="23085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25" tIns="80625" rIns="80625" bIns="806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3000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rPr>
              <a:t>社群策略</a:t>
            </a:r>
            <a:endParaRPr sz="3000" b="1">
              <a:solidFill>
                <a:schemeClr val="dk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Proxima Nova"/>
              <a:sym typeface="Proxima Nova"/>
            </a:endParaRPr>
          </a:p>
        </p:txBody>
      </p:sp>
      <p:sp>
        <p:nvSpPr>
          <p:cNvPr id="489" name="Google Shape;489;g3f251152d7f_0_623"/>
          <p:cNvSpPr txBox="1"/>
          <p:nvPr/>
        </p:nvSpPr>
        <p:spPr>
          <a:xfrm>
            <a:off x="2321725" y="234400"/>
            <a:ext cx="23085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25" tIns="80625" rIns="80625" bIns="806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微軟正黑體"/>
              </a:defRPr>
            </a:pPr>
            <a:r>
              <a:rPr lang="en-US" sz="3000" b="1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roxima Nova"/>
                <a:sym typeface="Proxima Nova"/>
              </a:rPr>
              <a:t>X</a:t>
            </a:r>
            <a:endParaRPr sz="3000" b="1">
              <a:solidFill>
                <a:schemeClr val="dk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Proxima Nova"/>
              <a:sym typeface="Proxima Nova"/>
            </a:endParaRPr>
          </a:p>
        </p:txBody>
      </p:sp>
      <p:sp>
        <p:nvSpPr>
          <p:cNvPr id="490" name="Rectangle 489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1" name="Rectangle 490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推廣 6 —— 客從哪來（What）：10 大轉單密碼 ╳ 5 大爆文套路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369A1"/>
                </a:solidFill>
                <a:latin typeface="微軟正黑體"/>
              </a:defRPr>
            </a:pPr>
            <a:r>
              <a:t>10 大轉單密碼</a:t>
            </a:r>
          </a:p>
          <a:p>
            <a:pPr>
              <a:defRPr sz="1400">
                <a:solidFill>
                  <a:srgbClr val="64748B"/>
                </a:solidFill>
                <a:latin typeface="微軟正黑體"/>
              </a:defRPr>
            </a:pPr>
            <a:r>
              <a:t>撬開消費者的心理防線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5544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369A1"/>
                </a:solidFill>
                <a:latin typeface="微軟正黑體"/>
              </a:defRPr>
            </a:pPr>
            <a:r>
              <a:t>5 大爆文套路</a:t>
            </a:r>
          </a:p>
          <a:p>
            <a:pPr>
              <a:defRPr sz="1400">
                <a:solidFill>
                  <a:srgbClr val="64748B"/>
                </a:solidFill>
                <a:latin typeface="微軟正黑體"/>
              </a:defRPr>
            </a:pPr>
            <a:r>
              <a:t>駕馭流量的爆文套路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56032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1. 獨家賣點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377440"/>
            <a:ext cx="256032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6. 成功見證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56032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2. 急迫性 / 稀缺性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108960"/>
            <a:ext cx="256032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7. 踩痛點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256032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3. 談錢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840480"/>
            <a:ext cx="256032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8. 貼標籤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256032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4. 掛保證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572000"/>
            <a:ext cx="256032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9. 給利益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256032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5. 立權威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303520"/>
            <a:ext cx="256032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10. 隱藏的第二標題 (P.S.)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377440"/>
            <a:ext cx="411480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1. 列點文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108960"/>
            <a:ext cx="411480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2. 懶人包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840480"/>
            <a:ext cx="411480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3. 教學文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4572000"/>
            <a:ext cx="411480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4. 搬知識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5303520"/>
            <a:ext cx="411480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5. 說故事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推廣 6 —— 客從哪來（What）：7 大內容主題 ╳ 11 大流量密碼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369A1"/>
                </a:solidFill>
                <a:latin typeface="微軟正黑體"/>
              </a:defRPr>
            </a:pPr>
            <a:r>
              <a:t>7 大內容主題</a:t>
            </a:r>
          </a:p>
          <a:p>
            <a:pPr>
              <a:defRPr sz="1400">
                <a:solidFill>
                  <a:srgbClr val="64748B"/>
                </a:solidFill>
                <a:latin typeface="微軟正黑體"/>
              </a:defRPr>
            </a:pPr>
            <a:r>
              <a:t>打造社群多元價值的內容框架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5544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369A1"/>
                </a:solidFill>
                <a:latin typeface="微軟正黑體"/>
              </a:defRPr>
            </a:pPr>
            <a:r>
              <a:t>11 大流量密碼</a:t>
            </a:r>
          </a:p>
          <a:p>
            <a:pPr>
              <a:defRPr sz="1400">
                <a:solidFill>
                  <a:srgbClr val="64748B"/>
                </a:solidFill>
                <a:latin typeface="微軟正黑體"/>
              </a:defRPr>
            </a:pPr>
            <a:r>
              <a:t>爆發流量的社群密碼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291840" cy="10972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❶ 曬過程</a:t>
            </a:r>
          </a:p>
          <a:p>
            <a:pPr>
              <a:defRPr sz="1100">
                <a:solidFill>
                  <a:srgbClr val="475569"/>
                </a:solidFill>
                <a:latin typeface="微軟正黑體"/>
              </a:defRPr>
            </a:pPr>
            <a:r>
              <a:t>製作過程 · 改造計畫 · 產品測試</a:t>
            </a:r>
            <a:br/>
            <a:r>
              <a:t>體驗分享 · 任務挑戰 · 成就故事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291840" cy="7315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❷ 說故事</a:t>
            </a:r>
          </a:p>
          <a:p>
            <a:pPr>
              <a:defRPr sz="1100">
                <a:solidFill>
                  <a:srgbClr val="475569"/>
                </a:solidFill>
                <a:latin typeface="微軟正黑體"/>
              </a:defRPr>
            </a:pPr>
            <a:r>
              <a:t>案例故事 · 他人故事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3291840" cy="10972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❸ 教知識</a:t>
            </a:r>
          </a:p>
          <a:p>
            <a:pPr>
              <a:defRPr sz="1100">
                <a:solidFill>
                  <a:srgbClr val="475569"/>
                </a:solidFill>
                <a:latin typeface="微軟正黑體"/>
              </a:defRPr>
            </a:pPr>
            <a:r>
              <a:t>行業揭秘 · 乾貨輸出 · 資訊整理</a:t>
            </a:r>
            <a:br/>
            <a:r>
              <a:t>正向推薦 · 反向推薦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377440"/>
            <a:ext cx="3291840" cy="8686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❹ 熬雞湯</a:t>
            </a:r>
          </a:p>
          <a:p>
            <a:pPr>
              <a:defRPr sz="1100">
                <a:solidFill>
                  <a:srgbClr val="475569"/>
                </a:solidFill>
                <a:latin typeface="微軟正黑體"/>
              </a:defRPr>
            </a:pPr>
            <a:r>
              <a:t>自我成長 · 人際關係 · 處事之道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383280"/>
            <a:ext cx="3291840" cy="8686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❺ 選立場</a:t>
            </a:r>
          </a:p>
          <a:p>
            <a:pPr>
              <a:defRPr sz="1100">
                <a:solidFill>
                  <a:srgbClr val="475569"/>
                </a:solidFill>
                <a:latin typeface="微軟正黑體"/>
              </a:defRPr>
            </a:pPr>
            <a:r>
              <a:t>正面觀點 · 反面觀點 · 中立觀點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389120"/>
            <a:ext cx="3291840" cy="8686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❻ 演劇情</a:t>
            </a:r>
          </a:p>
          <a:p>
            <a:pPr>
              <a:defRPr sz="1100">
                <a:solidFill>
                  <a:srgbClr val="475569"/>
                </a:solidFill>
                <a:latin typeface="微軟正黑體"/>
              </a:defRPr>
            </a:pPr>
            <a:r>
              <a:t>POV · 熱門梗 · 生活觀察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5394960"/>
            <a:ext cx="3291840" cy="7315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369A1"/>
                </a:solidFill>
                <a:latin typeface="微軟正黑體"/>
              </a:defRPr>
            </a:pPr>
            <a:r>
              <a:t>❼ 賣產品</a:t>
            </a:r>
          </a:p>
          <a:p>
            <a:pPr>
              <a:defRPr sz="1100">
                <a:solidFill>
                  <a:srgbClr val="475569"/>
                </a:solidFill>
                <a:latin typeface="微軟正黑體"/>
              </a:defRPr>
            </a:pPr>
            <a:r>
              <a:t>展現服務 · 展現產品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286000"/>
            <a:ext cx="3474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475569"/>
                </a:solidFill>
                <a:latin typeface="微軟正黑體"/>
              </a:defRPr>
            </a:pPr>
            <a:r>
              <a:t>✦  1. 成本 (Cost)</a:t>
            </a:r>
          </a:p>
          <a:p>
            <a:pPr>
              <a:spcAft>
                <a:spcPts val="600"/>
              </a:spcAft>
              <a:defRPr sz="1350" b="1">
                <a:solidFill>
                  <a:srgbClr val="475569"/>
                </a:solidFill>
                <a:latin typeface="微軟正黑體"/>
              </a:defRPr>
            </a:pPr>
            <a:r>
              <a:t>✦  2. 受眾 (Audience)</a:t>
            </a:r>
          </a:p>
          <a:p>
            <a:pPr>
              <a:spcAft>
                <a:spcPts val="600"/>
              </a:spcAft>
              <a:defRPr sz="1350" b="1">
                <a:solidFill>
                  <a:srgbClr val="475569"/>
                </a:solidFill>
                <a:latin typeface="微軟正黑體"/>
              </a:defRPr>
            </a:pPr>
            <a:r>
              <a:t>✦  3. 隨機 (Random)</a:t>
            </a:r>
          </a:p>
          <a:p>
            <a:pPr>
              <a:spcAft>
                <a:spcPts val="600"/>
              </a:spcAft>
              <a:defRPr sz="1350" b="1">
                <a:solidFill>
                  <a:srgbClr val="475569"/>
                </a:solidFill>
                <a:latin typeface="微軟正黑體"/>
              </a:defRPr>
            </a:pPr>
            <a:r>
              <a:t>✦  4. 反差 (Contrast)</a:t>
            </a:r>
          </a:p>
          <a:p>
            <a:pPr>
              <a:spcAft>
                <a:spcPts val="600"/>
              </a:spcAft>
              <a:defRPr sz="1350" b="1">
                <a:solidFill>
                  <a:srgbClr val="475569"/>
                </a:solidFill>
                <a:latin typeface="微軟正黑體"/>
              </a:defRPr>
            </a:pPr>
            <a:r>
              <a:t>✦  5. 貼金 (Status/Flexing)</a:t>
            </a:r>
          </a:p>
          <a:p>
            <a:pPr>
              <a:spcAft>
                <a:spcPts val="600"/>
              </a:spcAft>
              <a:defRPr sz="1350" b="1">
                <a:solidFill>
                  <a:srgbClr val="475569"/>
                </a:solidFill>
                <a:latin typeface="微軟正黑體"/>
              </a:defRPr>
            </a:pPr>
            <a:r>
              <a:t>✦  6. 互動 (Interaction)</a:t>
            </a:r>
          </a:p>
          <a:p>
            <a:pPr>
              <a:spcAft>
                <a:spcPts val="600"/>
              </a:spcAft>
              <a:defRPr sz="1350" b="1">
                <a:solidFill>
                  <a:srgbClr val="475569"/>
                </a:solidFill>
                <a:latin typeface="微軟正黑體"/>
              </a:defRPr>
            </a:pPr>
            <a:r>
              <a:t>✦  7. 熱點 (Hotspots)</a:t>
            </a:r>
          </a:p>
          <a:p>
            <a:pPr>
              <a:spcAft>
                <a:spcPts val="600"/>
              </a:spcAft>
              <a:defRPr sz="1350" b="1">
                <a:solidFill>
                  <a:srgbClr val="475569"/>
                </a:solidFill>
                <a:latin typeface="微軟正黑體"/>
              </a:defRPr>
            </a:pPr>
            <a:r>
              <a:t>✦  8. 懷舊 (Nostalgia)</a:t>
            </a:r>
          </a:p>
          <a:p>
            <a:pPr>
              <a:spcAft>
                <a:spcPts val="600"/>
              </a:spcAft>
              <a:defRPr sz="1350" b="1">
                <a:solidFill>
                  <a:srgbClr val="475569"/>
                </a:solidFill>
                <a:latin typeface="微軟正黑體"/>
              </a:defRPr>
            </a:pPr>
            <a:r>
              <a:t>✦  9. 吐槽 (Roasting)</a:t>
            </a:r>
          </a:p>
          <a:p>
            <a:pPr>
              <a:spcAft>
                <a:spcPts val="600"/>
              </a:spcAft>
              <a:defRPr sz="1350" b="1">
                <a:solidFill>
                  <a:srgbClr val="475569"/>
                </a:solidFill>
                <a:latin typeface="微軟正黑體"/>
              </a:defRPr>
            </a:pPr>
            <a:r>
              <a:t>✦  10. 賀爾蒙 (Hormones)</a:t>
            </a:r>
          </a:p>
          <a:p>
            <a:pPr>
              <a:spcAft>
                <a:spcPts val="600"/>
              </a:spcAft>
              <a:defRPr sz="1350" b="1">
                <a:solidFill>
                  <a:srgbClr val="475569"/>
                </a:solidFill>
                <a:latin typeface="微軟正黑體"/>
              </a:defRPr>
            </a:pPr>
            <a:r>
              <a:t>✦  11. 光練不說 (Action only)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251152d7f_2_5"/>
          <p:cNvSpPr/>
          <p:nvPr/>
        </p:nvSpPr>
        <p:spPr>
          <a:xfrm>
            <a:off x="731520" y="594360"/>
            <a:ext cx="73200" cy="5487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f251152d7f_2_5"/>
          <p:cNvSpPr/>
          <p:nvPr/>
        </p:nvSpPr>
        <p:spPr>
          <a:xfrm>
            <a:off x="731520" y="1325880"/>
            <a:ext cx="107259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f251152d7f_2_5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推廣 6 —— 客從哪來（What）</a:t>
            </a:r>
            <a:endParaRPr/>
          </a:p>
        </p:txBody>
      </p:sp>
      <p:sp>
        <p:nvSpPr>
          <p:cNvPr id="533" name="Rectangle 53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Rectangle 53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5" name="TextBox 534"/>
          <p:cNvSpPr txBox="1"/>
          <p:nvPr/>
        </p:nvSpPr>
        <p:spPr>
          <a:xfrm>
            <a:off x="731520" y="1600200"/>
            <a:ext cx="51206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1. 調亮螢幕：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拍攝前如發現觀景螢幕偏暗，請先手動將螢幕亮度調亮，以利準確檢視畫面細節。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2. 改設 60 幀：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將左上角的參數設定（如 HD 30 幀）全部改為 60 幀（60 fps），拍出來的畫面更順暢、沒有延遲感。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3. 自拍用前鏡頭：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自己拍自己時可直接用前鏡頭，雖然畫質稍遜，但只要陽光等光線充足，畫面效果就不受影響。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4. 拍人固定 1x 焦距：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拍攝他人時，焦距務必固定在 1 倍（1x），此時畫面比例與光學效果最好看。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5. 拍攝者自行移動：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需要移動畫面時，請拍攝者自己移動，不要叫主角（被攝者）移動。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6. 景物直接靠過去：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拍風景或樹木時，直接往前走靠過去拍，不要用雙指在螢幕上拉近拉遠變焦。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7. 廣角（0.5x）保持水平：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使用 0.5 倍超廣角拍攝時必須保持手機水平。稍微傾斜會讓主角顯得極矮或極胖。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8. 水平同步跟拍：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主角在行進或移動時，拍攝者請維持與主角水平同步的速度跟著移動拍攝。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9. 開啟相機隔線：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進入手機設定將相機的「格線/隔線」輔助功能打開，便於視覺定位。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10. 主角置中與額頭對齊：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構圖時將主角放在畫面正中間，並讓額頭對齊格線最上方的那條線，比例最為美觀。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6217920" y="1600200"/>
            <a:ext cx="51206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11. 避開穿頭殺（穿駝紗）：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注意被攝者講話時，頭頂後方不要有柱子、樹木或其他雜物穿過，避免干擾聽眾的視覺專注度。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12. 側邊 45 度角拍攝：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幫別人拍攝時，不要直接擋在對方正前方（會給被攝者極大壓力且阻擋前進），應站在 45 度角斜前方拍攝。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13. 對視引導法（鏡頭避讓）：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將手機稍微移到側邊，讓被攝者看著拍攝者的眼睛說話。雖然他是在跟拍攝者對話，但在畫面上看起來就像是自然地對著鏡頭說話，能有效降低被攝者的鏡頭壓力。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14. 句末停頓 1 秒：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念稿或說話時，每講完一句話先停頓 1 秒，再低頭看稿或繼續講下一句，以利後製剪輯時留出前後緩衝。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15. 小指當底座支撐：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手持手機時，用小手指墊在手機底部當作支架。有了支撐點，手持拍攝時間變長且不易手震。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16. 手指避開鏡頭：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現代手機鏡頭越來越多，握持時務必留意手指不要遮擋住任何一顆鏡頭。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17. 背景避開大白牆：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拍攝口播影片時，背景最好不要是單調的大白牆（視覺單調且無法說明所處情境），建議在戶外或畫面有延伸感的環境中拍攝。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18. 外接麥克風必先測音：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如果插上外接麥克風，開拍前一定要先錄音測試（測音），避免整段錄完後才發現聲音根本沒有收進去。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369A1"/>
                </a:solidFill>
                <a:latin typeface="微軟正黑體"/>
              </a:rPr>
              <a:t>✦  19. 一鏡到底不中斷：</a:t>
            </a:r>
            <a:r>
              <a:rPr sz="1150">
                <a:solidFill>
                  <a:srgbClr val="475569"/>
                </a:solidFill>
                <a:latin typeface="微軟正黑體"/>
              </a:rPr>
              <a:t>不論講錯、吃螺絲或頭髮亂了，都不要關掉相機重新開錄。維持一鏡到底錄成一個長檔案。雖然檔案可能很大（如 20 分鐘），但剪輯時只有一個軌道，比整理數十個零碎檔案更容易進行切片與後製。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1386</Words>
  <Application>Microsoft Office PowerPoint</Application>
  <PresentationFormat>寬螢幕</PresentationFormat>
  <Paragraphs>296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微軟正黑體</vt:lpstr>
      <vt:lpstr>Sorts Mill Goudy</vt:lpstr>
      <vt:lpstr>Calibri</vt:lpstr>
      <vt:lpstr>微軟正黑體</vt:lpstr>
      <vt:lpstr>Noto Sans Symbols</vt:lpstr>
      <vt:lpstr>Century Gothic</vt:lpstr>
      <vt:lpstr>Play</vt:lpstr>
      <vt:lpstr>Arial</vt:lpstr>
      <vt:lpstr>自訂設計</vt:lpstr>
      <vt:lpstr>業力法則</vt:lpstr>
      <vt:lpstr>行銷三大要素</vt:lpstr>
      <vt:lpstr>PowerPoint 簡報</vt:lpstr>
      <vt:lpstr>PowerPoint 簡報</vt:lpstr>
      <vt:lpstr>PowerPoint 簡報</vt:lpstr>
      <vt:lpstr>PowerPoint 簡報</vt:lpstr>
      <vt:lpstr>找到定位的方法 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Ivy910</dc:creator>
  <cp:lastModifiedBy>Chen Victor</cp:lastModifiedBy>
  <cp:revision>18</cp:revision>
  <dcterms:created xsi:type="dcterms:W3CDTF">2019-09-22T03:33:37Z</dcterms:created>
  <dcterms:modified xsi:type="dcterms:W3CDTF">2026-06-25T02:19:42Z</dcterms:modified>
</cp:coreProperties>
</file>