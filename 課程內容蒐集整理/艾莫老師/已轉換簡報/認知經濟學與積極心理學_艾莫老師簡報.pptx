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經濟模型大迭代：從商品邏輯到注意力邏輯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 i="0">
                <a:solidFill>
                  <a:srgbClr val="475569"/>
                </a:solidFill>
                <a:latin typeface="Microsoft JhengHei"/>
              </a:defRPr>
            </a:pPr>
            <a:r>
              <a:t>傳統經濟模型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47548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377440"/>
            <a:ext cx="4023360" cy="54864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生產商品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291840"/>
            <a:ext cx="4023360" cy="54864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銷售商品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06240"/>
            <a:ext cx="4023360" cy="54864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賺取利潤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926080"/>
            <a:ext cx="18288" cy="36575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3840480"/>
            <a:ext cx="18288" cy="36575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645920"/>
            <a:ext cx="18288" cy="3657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716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 i="0">
                <a:solidFill>
                  <a:srgbClr val="0EA5E9"/>
                </a:solidFill>
                <a:latin typeface="Microsoft JhengHei"/>
              </a:defRPr>
            </a:pPr>
            <a:r>
              <a:t>注意力經濟學模型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920240"/>
            <a:ext cx="4846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79" y="2103120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0" y="2011680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0" y="2103120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80960" y="2194560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0" y="2240280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rapezoid 21"/>
          <p:cNvSpPr/>
          <p:nvPr/>
        </p:nvSpPr>
        <p:spPr>
          <a:xfrm rot="10800000">
            <a:off x="7132320" y="2377440"/>
            <a:ext cx="1828800" cy="365760"/>
          </a:xfrm>
          <a:prstGeom prst="trapezoid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rapezoid 22"/>
          <p:cNvSpPr/>
          <p:nvPr/>
        </p:nvSpPr>
        <p:spPr>
          <a:xfrm rot="10800000">
            <a:off x="7269480" y="2834640"/>
            <a:ext cx="1554480" cy="365760"/>
          </a:xfrm>
          <a:prstGeom prst="trapezoid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pezoid 23"/>
          <p:cNvSpPr/>
          <p:nvPr/>
        </p:nvSpPr>
        <p:spPr>
          <a:xfrm rot="10800000">
            <a:off x="7406640" y="3291840"/>
            <a:ext cx="1280160" cy="365760"/>
          </a:xfrm>
          <a:prstGeom prst="trapezoid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rapezoid 24"/>
          <p:cNvSpPr/>
          <p:nvPr/>
        </p:nvSpPr>
        <p:spPr>
          <a:xfrm rot="10800000">
            <a:off x="7543800" y="3749039"/>
            <a:ext cx="1005840" cy="365760"/>
          </a:xfrm>
          <a:prstGeom prst="trapezoid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7772400" y="4297680"/>
            <a:ext cx="548640" cy="548640"/>
          </a:xfrm>
          <a:prstGeom prst="diamond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 i="0">
                <a:solidFill>
                  <a:srgbClr val="083344"/>
                </a:solidFill>
                <a:latin typeface="Microsoft JhengHei"/>
              </a:defRPr>
            </a:pPr>
            <a:r>
              <a:t>1. 吸引注意力（入口）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560320"/>
            <a:ext cx="64008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301752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 i="0">
                <a:solidFill>
                  <a:srgbClr val="083344"/>
                </a:solidFill>
                <a:latin typeface="Microsoft JhengHei"/>
              </a:defRPr>
            </a:pPr>
            <a:r>
              <a:t>2. 佔領時間（留存）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3017520"/>
            <a:ext cx="640080" cy="13715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 i="0">
                <a:solidFill>
                  <a:srgbClr val="083344"/>
                </a:solidFill>
                <a:latin typeface="Microsoft JhengHei"/>
              </a:defRPr>
            </a:pPr>
            <a:r>
              <a:t>3. 影響行為（轉化）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3474720"/>
            <a:ext cx="64008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4297679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 i="0">
                <a:solidFill>
                  <a:srgbClr val="083344"/>
                </a:solidFill>
                <a:latin typeface="Microsoft JhengHei"/>
              </a:defRPr>
            </a:pPr>
            <a:r>
              <a:t>4. 創造收益（變現）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931920"/>
            <a:ext cx="640080" cy="5029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Microsoft JhengHei"/>
              </a:defRPr>
            </a:pPr>
            <a:r>
              <a:t>核心財富公式：注意力 ➔ 流量 ➔ 影響力 ➔ 購買力 ➔ 財富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0" i="0">
                <a:solidFill>
                  <a:srgbClr val="0EA5E9"/>
                </a:solidFill>
                <a:latin typeface="Microsoft JhengHei"/>
              </a:defRPr>
            </a:pPr>
            <a:r>
              <a:t>（今天最賺錢的企業，本質上都在經營注意力）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終極注意力武器：演算法革命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Microsoft JhengHei"/>
              </a:defRPr>
            </a:pPr>
            <a:r>
              <a:t>改變全球網際網路格局的不是內容，而是高精度預測機制。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 i="0">
                <a:solidFill>
                  <a:srgbClr val="475569"/>
                </a:solidFill>
                <a:latin typeface="Microsoft JhengHei"/>
              </a:defRPr>
            </a:pPr>
            <a:r>
              <a:t>系統架構 (System Architecture)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474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 i="0">
                <a:solidFill>
                  <a:srgbClr val="083344"/>
                </a:solidFill>
                <a:latin typeface="Microsoft JhengHei"/>
              </a:defRPr>
            </a:pPr>
            <a:r>
              <a:t>用戶行為資料輸入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468880"/>
            <a:ext cx="2926080" cy="41148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 i="0">
                <a:solidFill>
                  <a:srgbClr val="083344"/>
                </a:solidFill>
                <a:latin typeface="Microsoft JhengHei"/>
              </a:defRPr>
            </a:pPr>
            <a:r>
              <a:t>興趣 (Interests)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670048"/>
            <a:ext cx="91440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3063240"/>
            <a:ext cx="2926080" cy="41148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 i="0">
                <a:solidFill>
                  <a:srgbClr val="083344"/>
                </a:solidFill>
                <a:latin typeface="Microsoft JhengHei"/>
              </a:defRPr>
            </a:pPr>
            <a:r>
              <a:t>情緒 (Emotions)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264408"/>
            <a:ext cx="91440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3657600"/>
            <a:ext cx="2926080" cy="41148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 i="0">
                <a:solidFill>
                  <a:srgbClr val="083344"/>
                </a:solidFill>
                <a:latin typeface="Microsoft JhengHei"/>
              </a:defRPr>
            </a:pPr>
            <a:r>
              <a:t>停留時間 (Dwell Time)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858768"/>
            <a:ext cx="91440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4251960"/>
            <a:ext cx="2926080" cy="41148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 i="0">
                <a:solidFill>
                  <a:srgbClr val="083344"/>
                </a:solidFill>
                <a:latin typeface="Microsoft JhengHei"/>
              </a:defRPr>
            </a:pPr>
            <a:r>
              <a:t>滑動速度 (Scroll Speed)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4453128"/>
            <a:ext cx="91440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4846320"/>
            <a:ext cx="2926080" cy="41148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920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 i="0">
                <a:solidFill>
                  <a:srgbClr val="083344"/>
                </a:solidFill>
                <a:latin typeface="Microsoft JhengHei"/>
              </a:defRPr>
            </a:pPr>
            <a:r>
              <a:t>點讚行為 (Likes)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5047488"/>
            <a:ext cx="91440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5440680"/>
            <a:ext cx="2926080" cy="411480"/>
          </a:xfrm>
          <a:prstGeom prst="round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48640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 i="0">
                <a:solidFill>
                  <a:srgbClr val="083344"/>
                </a:solidFill>
                <a:latin typeface="Microsoft JhengHei"/>
              </a:defRPr>
            </a:pPr>
            <a:r>
              <a:t>評論行為 (Comments)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5641848"/>
            <a:ext cx="91440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46320" y="2743200"/>
            <a:ext cx="2926080" cy="274320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926080"/>
            <a:ext cx="29260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Microsoft JhengHei"/>
              </a:defRPr>
            </a:pPr>
            <a:r>
              <a:t>演算法引擎</a:t>
            </a:r>
          </a:p>
          <a:p>
            <a:pPr algn="ctr">
              <a:defRPr sz="1600" b="1" i="0">
                <a:solidFill>
                  <a:srgbClr val="FFFFFF"/>
                </a:solidFill>
                <a:latin typeface="Microsoft JhengHei"/>
              </a:defRPr>
            </a:pPr>
            <a:r>
              <a:t>Algorithmic Engine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3566160"/>
            <a:ext cx="2194559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840480"/>
            <a:ext cx="29260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 i="0">
                <a:solidFill>
                  <a:srgbClr val="0EA5E9"/>
                </a:solidFill>
                <a:latin typeface="Microsoft JhengHei"/>
              </a:defRPr>
            </a:pPr>
            <a:r>
              <a:t>即時分析</a:t>
            </a:r>
          </a:p>
          <a:p>
            <a:pPr algn="ctr">
              <a:defRPr sz="1500" b="1" i="0">
                <a:solidFill>
                  <a:srgbClr val="0EA5E9"/>
                </a:solidFill>
                <a:latin typeface="Microsoft JhengHei"/>
              </a:defRPr>
            </a:pPr>
            <a:r>
              <a:t>➔ 不斷優化推薦</a:t>
            </a:r>
          </a:p>
          <a:p>
            <a:pPr algn="ctr">
              <a:defRPr sz="1500" b="1" i="0">
                <a:solidFill>
                  <a:srgbClr val="0EA5E9"/>
                </a:solidFill>
                <a:latin typeface="Microsoft JhengHei"/>
              </a:defRPr>
            </a:pPr>
            <a:r>
              <a:t>➔ 千人千面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4114800"/>
            <a:ext cx="91440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0" y="320040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34747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EF4444"/>
                </a:solidFill>
                <a:latin typeface="Microsoft JhengHei"/>
              </a:defRPr>
            </a:pPr>
            <a:r>
              <a:t>🔒 鎖定注意力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023360"/>
            <a:ext cx="27432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 i="0">
                <a:solidFill>
                  <a:srgbClr val="083344"/>
                </a:solidFill>
                <a:latin typeface="Microsoft JhengHei"/>
              </a:defRPr>
            </a:pPr>
            <a:r>
              <a:t>最終形成完美的</a:t>
            </a:r>
          </a:p>
          <a:p>
            <a:pPr algn="ctr">
              <a:defRPr sz="1500" b="1" i="0">
                <a:solidFill>
                  <a:srgbClr val="083344"/>
                </a:solidFill>
                <a:latin typeface="Microsoft JhengHei"/>
              </a:defRPr>
            </a:pPr>
            <a:r>
              <a:t>注意力閉環。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3200400"/>
            <a:ext cx="18288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68880" y="1828800"/>
            <a:ext cx="758952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68880" y="1828800"/>
            <a:ext cx="18288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ChatGPT 認知差距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365760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22860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Microsoft JhengHei"/>
              </a:defRPr>
            </a:pPr>
            <a:r>
              <a:t>ChatGPT</a:t>
            </a:r>
          </a:p>
          <a:p>
            <a:pPr algn="ctr">
              <a:defRPr sz="2000" b="1" i="0">
                <a:solidFill>
                  <a:srgbClr val="FFFFFF"/>
                </a:solidFill>
                <a:latin typeface="Microsoft JhengHei"/>
              </a:defRPr>
            </a:pPr>
          </a:p>
          <a:p>
            <a:pPr algn="ctr">
              <a:defRPr sz="2000" b="1" i="0">
                <a:solidFill>
                  <a:srgbClr val="FFFFFF"/>
                </a:solidFill>
                <a:latin typeface="Microsoft JhengHei"/>
              </a:defRPr>
            </a:pPr>
            <a:r>
              <a:t>(相同工具)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0400" y="2377440"/>
            <a:ext cx="1097280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3200400" y="3474720"/>
            <a:ext cx="1097280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3200400" y="4572000"/>
            <a:ext cx="1097280" cy="36576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146304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474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認知差距級別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194560"/>
            <a:ext cx="2926080" cy="7315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286000"/>
            <a:ext cx="29260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475569"/>
                </a:solidFill>
                <a:latin typeface="Microsoft JhengHei"/>
              </a:defRPr>
            </a:pPr>
            <a:r>
              <a:t>低認知</a:t>
            </a:r>
          </a:p>
          <a:p>
            <a:pPr algn="ctr">
              <a:defRPr sz="1400" b="1" i="0">
                <a:solidFill>
                  <a:srgbClr val="475569"/>
                </a:solidFill>
                <a:latin typeface="Microsoft JhengHei"/>
              </a:defRPr>
            </a:pPr>
            <a:r>
              <a:t>(簡單指令/直接複製)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291840"/>
            <a:ext cx="2926080" cy="7315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383280"/>
            <a:ext cx="29260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083344"/>
                </a:solidFill>
                <a:latin typeface="Microsoft JhengHei"/>
              </a:defRPr>
            </a:pPr>
            <a:r>
              <a:t>中認知</a:t>
            </a:r>
          </a:p>
          <a:p>
            <a:pPr algn="ctr">
              <a:defRPr sz="1400" b="1" i="0">
                <a:solidFill>
                  <a:srgbClr val="083344"/>
                </a:solidFill>
                <a:latin typeface="Microsoft JhengHei"/>
              </a:defRPr>
            </a:pPr>
            <a:r>
              <a:t>(結構化提問/任務拆解)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389120"/>
            <a:ext cx="2926080" cy="73152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480560"/>
            <a:ext cx="29260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0EA5E9"/>
                </a:solidFill>
                <a:latin typeface="Microsoft JhengHei"/>
              </a:defRPr>
            </a:pPr>
            <a:r>
              <a:t>高認知</a:t>
            </a:r>
          </a:p>
          <a:p>
            <a:pPr algn="ctr">
              <a:defRPr sz="1400" b="1" i="0">
                <a:solidFill>
                  <a:srgbClr val="0EA5E9"/>
                </a:solidFill>
                <a:latin typeface="Microsoft JhengHei"/>
              </a:defRPr>
            </a:pPr>
            <a:r>
              <a:t>(模型訓練/工作流自動化)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138160" y="2377440"/>
            <a:ext cx="73152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138160" y="3474720"/>
            <a:ext cx="731520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138160" y="4572000"/>
            <a:ext cx="731520" cy="27432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0" y="219456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 i="0">
                <a:solidFill>
                  <a:srgbClr val="475569"/>
                </a:solidFill>
                <a:latin typeface="Microsoft JhengHei"/>
              </a:defRPr>
            </a:pPr>
            <a:r>
              <a:t>賺 100 美元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29184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333756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 i="0">
                <a:solidFill>
                  <a:srgbClr val="083344"/>
                </a:solidFill>
                <a:latin typeface="Microsoft JhengHei"/>
              </a:defRPr>
            </a:pPr>
            <a:r>
              <a:t>賺 100 萬美金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389120"/>
            <a:ext cx="2377440" cy="73152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448056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 i="0">
                <a:solidFill>
                  <a:srgbClr val="22C55E"/>
                </a:solidFill>
                <a:latin typeface="Microsoft JhengHei"/>
              </a:defRPr>
            </a:pPr>
            <a:r>
              <a:t>創造 100 億美金企業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 i="0">
                <a:solidFill>
                  <a:srgbClr val="083344"/>
                </a:solidFill>
                <a:latin typeface="Microsoft JhengHei"/>
              </a:defRPr>
            </a:pPr>
            <a:r>
              <a:t>工具一樣。結果不同。真正改變世界的不是 AI，而是駕馭 AI 的人。</a:t>
            </a:r>
          </a:p>
          <a:p>
            <a:pPr algn="ctr">
              <a:defRPr sz="1500" b="1" i="0">
                <a:solidFill>
                  <a:srgbClr val="083344"/>
                </a:solidFill>
                <a:latin typeface="Microsoft JhengHei"/>
              </a:defRPr>
            </a:pPr>
            <a:r>
              <a:t>未來最大的差距不是工具差距，而是認知差距。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全球科技巨頭到底在爭奪什麼？</a:t>
            </a:r>
          </a:p>
        </p:txBody>
      </p:sp>
      <p:sp>
        <p:nvSpPr>
          <p:cNvPr id="4" name="Oval 3"/>
          <p:cNvSpPr/>
          <p:nvPr/>
        </p:nvSpPr>
        <p:spPr>
          <a:xfrm>
            <a:off x="4754880" y="2743200"/>
            <a:ext cx="2560320" cy="25603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3749039"/>
            <a:ext cx="25603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Microsoft JhengHei"/>
              </a:defRPr>
            </a:pPr>
            <a:r>
              <a:t>認知入口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108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 i="0">
                <a:solidFill>
                  <a:srgbClr val="475569"/>
                </a:solidFill>
                <a:latin typeface="Microsoft JhengHei"/>
              </a:defRPr>
            </a:pPr>
            <a:r>
              <a:t>爭奪：未來知識入口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2194560"/>
            <a:ext cx="914400" cy="914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0" y="1645920"/>
            <a:ext cx="3108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373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 i="0">
                <a:solidFill>
                  <a:srgbClr val="475569"/>
                </a:solidFill>
                <a:latin typeface="Microsoft JhengHei"/>
              </a:defRPr>
            </a:pPr>
            <a:r>
              <a:t>爭奪：資訊入口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3108960"/>
            <a:ext cx="1005839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3108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Apple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 i="0">
                <a:solidFill>
                  <a:srgbClr val="475569"/>
                </a:solidFill>
                <a:latin typeface="Microsoft JhengHei"/>
              </a:defRPr>
            </a:pPr>
            <a:r>
              <a:t>爭奪：用戶體驗入口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4937760"/>
            <a:ext cx="91440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4389120"/>
            <a:ext cx="3108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48056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Meta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8463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 i="0">
                <a:solidFill>
                  <a:srgbClr val="475569"/>
                </a:solidFill>
                <a:latin typeface="Microsoft JhengHei"/>
              </a:defRPr>
            </a:pPr>
            <a:r>
              <a:t>爭奪：社交認知入口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4937759"/>
            <a:ext cx="1005839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全球科技巨頭的深層邏輯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Microsoft JhengHei"/>
              </a:defRPr>
            </a:pPr>
            <a:r>
              <a:t>為什麼爭奪入口？因為控制入口即控制一切。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108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79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 i="0">
                <a:solidFill>
                  <a:srgbClr val="0EA5E9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560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 i="0">
                <a:solidFill>
                  <a:srgbClr val="083344"/>
                </a:solidFill>
                <a:latin typeface="Microsoft JhengHei"/>
              </a:defRPr>
            </a:pPr>
            <a:r>
              <a:t>控制認知入口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3108960"/>
            <a:ext cx="640080" cy="45720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46320" y="2194560"/>
            <a:ext cx="3108960" cy="22860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2468879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 i="0">
                <a:solidFill>
                  <a:srgbClr val="0EA5E9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926080"/>
            <a:ext cx="2560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 i="0">
                <a:solidFill>
                  <a:srgbClr val="083344"/>
                </a:solidFill>
                <a:latin typeface="Microsoft JhengHei"/>
              </a:defRPr>
            </a:pPr>
            <a:r>
              <a:t>控制未來流量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38160" y="3108960"/>
            <a:ext cx="640080" cy="45720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0" y="2194560"/>
            <a:ext cx="3108960" cy="228600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468879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 i="0">
                <a:solidFill>
                  <a:srgbClr val="0EA5E9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926080"/>
            <a:ext cx="2560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Microsoft JhengHei"/>
              </a:defRPr>
            </a:pPr>
            <a:r>
              <a:t>控制未來財富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財富正在發生根本轉移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 i="0">
                <a:solidFill>
                  <a:srgbClr val="475569"/>
                </a:solidFill>
                <a:latin typeface="Microsoft JhengHei"/>
              </a:defRPr>
            </a:pPr>
            <a:r>
              <a:t>過去：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011680"/>
            <a:ext cx="8229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 i="0">
                <a:solidFill>
                  <a:srgbClr val="475569"/>
                </a:solidFill>
                <a:latin typeface="Microsoft JhengHei"/>
              </a:defRPr>
            </a:pPr>
            <a:r>
              <a:t>財富屬於資本家。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698480" cy="10972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 i="0">
                <a:solidFill>
                  <a:srgbClr val="083344"/>
                </a:solidFill>
                <a:latin typeface="Microsoft JhengHei"/>
              </a:defRPr>
            </a:pPr>
            <a:r>
              <a:t>今天：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474720"/>
            <a:ext cx="8229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 i="0">
                <a:solidFill>
                  <a:srgbClr val="083344"/>
                </a:solidFill>
                <a:latin typeface="Microsoft JhengHei"/>
              </a:defRPr>
            </a:pPr>
            <a:r>
              <a:t>財富屬於認知者。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698480" cy="109728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 i="0">
                <a:solidFill>
                  <a:srgbClr val="0EA5E9"/>
                </a:solidFill>
                <a:latin typeface="Microsoft JhengHei"/>
              </a:defRPr>
            </a:pPr>
            <a:r>
              <a:t>未來：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937760"/>
            <a:ext cx="8229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Microsoft JhengHei"/>
              </a:defRPr>
            </a:pPr>
            <a:r>
              <a:t>財富屬於能夠持續升級認知的人。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財富從來不是運氣，而是認知變現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828800" cy="8229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Microsoft JhengHei"/>
              </a:defRPr>
            </a:pPr>
            <a:r>
              <a:t>認知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06039" y="2103120"/>
            <a:ext cx="182880" cy="18288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39" y="2377440"/>
            <a:ext cx="1828800" cy="8229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39" y="260604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決策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09159" y="2834640"/>
            <a:ext cx="182880" cy="18288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37759" y="3108960"/>
            <a:ext cx="1828800" cy="8229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33375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行動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12279" y="3566160"/>
            <a:ext cx="182880" cy="18288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0879" y="3840480"/>
            <a:ext cx="1828800" cy="82296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79" y="40690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475569"/>
                </a:solidFill>
                <a:latin typeface="Microsoft JhengHei"/>
              </a:defRPr>
            </a:pPr>
            <a:r>
              <a:t>結果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15400" y="4297680"/>
            <a:ext cx="182880" cy="18288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4572000"/>
            <a:ext cx="1828800" cy="82296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80060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Microsoft JhengHei"/>
              </a:defRPr>
            </a:pPr>
            <a:r>
              <a:t>財富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5486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400" b="1" i="0">
                <a:solidFill>
                  <a:srgbClr val="083344"/>
                </a:solidFill>
                <a:latin typeface="Microsoft JhengHei"/>
              </a:defRPr>
            </a:pPr>
            <a:r>
              <a:t>財富從來不是運氣。</a:t>
            </a:r>
          </a:p>
          <a:p>
            <a:pPr algn="l">
              <a:defRPr sz="2400" b="1" i="0">
                <a:solidFill>
                  <a:srgbClr val="083344"/>
                </a:solidFill>
                <a:latin typeface="Microsoft JhengHei"/>
              </a:defRPr>
            </a:pPr>
            <a:r>
              <a:t>而是認知變現。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認知時代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0" i="0">
                <a:solidFill>
                  <a:srgbClr val="475569"/>
                </a:solidFill>
                <a:latin typeface="Microsoft JhengHei"/>
              </a:defRPr>
            </a:pPr>
            <a:r>
              <a:t>四大思想巨擘對認知的終極洞察：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182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丹尼爾·卡尼曼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926080"/>
            <a:ext cx="1920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031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 i="0">
                <a:solidFill>
                  <a:srgbClr val="475569"/>
                </a:solidFill>
                <a:latin typeface="Microsoft JhengHei"/>
              </a:defRPr>
            </a:pPr>
            <a:r>
              <a:t>人類並不理性。多數決策來自認知偏差。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68880" cy="1828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2011680"/>
            <a:ext cx="2468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赫伯特·西蒙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2926080"/>
            <a:ext cx="192023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00400"/>
            <a:ext cx="21031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 i="0">
                <a:solidFill>
                  <a:srgbClr val="475569"/>
                </a:solidFill>
                <a:latin typeface="Microsoft JhengHei"/>
              </a:defRPr>
            </a:pPr>
            <a:r>
              <a:t>資訊太多。注意力才是稀缺資源。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468880" cy="1828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2468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286000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納西姆·塔勒布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926080"/>
            <a:ext cx="192023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1031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 i="0">
                <a:solidFill>
                  <a:srgbClr val="475569"/>
                </a:solidFill>
                <a:latin typeface="Microsoft JhengHei"/>
              </a:defRPr>
            </a:pPr>
            <a:r>
              <a:t>未來屬於能夠從不確定性中獲利的人。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828800"/>
            <a:ext cx="2468880" cy="1828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61120" y="2011680"/>
            <a:ext cx="2468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2286000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尤瓦爾·赫拉利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926080"/>
            <a:ext cx="1920239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200400"/>
            <a:ext cx="21031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 i="0">
                <a:solidFill>
                  <a:srgbClr val="475569"/>
                </a:solidFill>
                <a:latin typeface="Microsoft JhengHei"/>
              </a:defRPr>
            </a:pPr>
            <a:r>
              <a:t>未來最大的競爭，是數據與認知控制權之爭。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為什麼認知會成為新貨幣？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 i="0">
                <a:solidFill>
                  <a:srgbClr val="475569"/>
                </a:solidFill>
                <a:latin typeface="Microsoft JhengHei"/>
              </a:defRPr>
            </a:pPr>
            <a:r>
              <a:t>過去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468880"/>
            <a:ext cx="2560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9260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貨幣交換商品。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9260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0" i="0">
                <a:solidFill>
                  <a:srgbClr val="475569"/>
                </a:solidFill>
                <a:latin typeface="Microsoft JhengHei"/>
              </a:defRPr>
            </a:pPr>
            <a:r>
              <a:t>第一生產力：</a:t>
            </a:r>
          </a:p>
          <a:p>
            <a:pPr algn="ctr">
              <a:defRPr sz="1600" b="0" i="0">
                <a:solidFill>
                  <a:srgbClr val="475569"/>
                </a:solidFill>
                <a:latin typeface="Microsoft JhengHei"/>
              </a:defRPr>
            </a:pPr>
            <a:r>
              <a:t>土地、工廠、資本、AI。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920240"/>
            <a:ext cx="32918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 i="0">
                <a:solidFill>
                  <a:srgbClr val="0EA5E9"/>
                </a:solidFill>
                <a:latin typeface="Microsoft JhengHei"/>
              </a:defRPr>
            </a:pPr>
            <a:r>
              <a:t>未來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468880"/>
            <a:ext cx="256032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29260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認知交換價值。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40480"/>
            <a:ext cx="29260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 i="0">
                <a:solidFill>
                  <a:srgbClr val="0EA5E9"/>
                </a:solidFill>
                <a:latin typeface="Microsoft JhengHei"/>
              </a:defRPr>
            </a:pPr>
            <a:r>
              <a:t>第一生產力：</a:t>
            </a:r>
          </a:p>
          <a:p>
            <a:pPr algn="ctr">
              <a:defRPr sz="1600" b="1" i="0">
                <a:solidFill>
                  <a:srgbClr val="0EA5E9"/>
                </a:solidFill>
                <a:latin typeface="Microsoft JhengHei"/>
              </a:defRPr>
            </a:pPr>
            <a:r>
              <a:t>認知。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38328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Microsoft JhengHei"/>
              </a:defRPr>
            </a:pPr>
            <a:r>
              <a:t>誰擁有更好的理解力、</a:t>
            </a:r>
          </a:p>
          <a:p>
            <a:pPr algn="ctr">
              <a:defRPr sz="1800" b="1" i="0">
                <a:solidFill>
                  <a:srgbClr val="FFFFFF"/>
                </a:solidFill>
                <a:latin typeface="Microsoft JhengHei"/>
              </a:defRPr>
            </a:pPr>
            <a:r>
              <a:t>更強的學習力、</a:t>
            </a:r>
          </a:p>
          <a:p>
            <a:pPr algn="ctr">
              <a:defRPr sz="1800" b="1" i="0">
                <a:solidFill>
                  <a:srgbClr val="FFFFFF"/>
                </a:solidFill>
                <a:latin typeface="Microsoft JhengHei"/>
              </a:defRPr>
            </a:pPr>
            <a:r>
              <a:t>更高的判斷力、</a:t>
            </a:r>
          </a:p>
          <a:p>
            <a:pPr algn="ctr">
              <a:defRPr sz="1800" b="1" i="0">
                <a:solidFill>
                  <a:srgbClr val="FFFFFF"/>
                </a:solidFill>
                <a:latin typeface="Microsoft JhengHei"/>
              </a:defRPr>
            </a:pPr>
            <a:r>
              <a:t>更深的洞察力，</a:t>
            </a:r>
          </a:p>
          <a:p>
            <a:pPr algn="ctr">
              <a:defRPr sz="1800" b="1" i="0">
                <a:solidFill>
                  <a:srgbClr val="FFFFFF"/>
                </a:solidFill>
                <a:latin typeface="Microsoft JhengHei"/>
              </a:defRPr>
            </a:pPr>
          </a:p>
          <a:p>
            <a:pPr algn="ctr">
              <a:defRPr sz="1800" b="1" i="0">
                <a:solidFill>
                  <a:srgbClr val="FFFFFF"/>
                </a:solidFill>
                <a:latin typeface="Microsoft JhengHei"/>
              </a:defRPr>
            </a:pPr>
            <a:r>
              <a:t>誰就擁有更大的</a:t>
            </a:r>
          </a:p>
          <a:p>
            <a:pPr algn="ctr">
              <a:defRPr sz="1800" b="1" i="0">
                <a:solidFill>
                  <a:srgbClr val="FFFFFF"/>
                </a:solidFill>
                <a:latin typeface="Microsoft JhengHei"/>
              </a:defRPr>
            </a:pPr>
            <a:r>
              <a:t>財富創造能力。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未來十年，最大的貧富差距：認知差距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400" b="1" i="0">
                <a:solidFill>
                  <a:srgbClr val="0EA5E9"/>
                </a:solidFill>
                <a:latin typeface="Microsoft JhengHei"/>
              </a:defRPr>
            </a:pPr>
            <a:r>
              <a:t>不是：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651760"/>
            <a:ext cx="4297680" cy="54864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475569"/>
                </a:solidFill>
                <a:latin typeface="Microsoft JhengHei"/>
              </a:defRPr>
            </a:pPr>
            <a:r>
              <a:t>收入差距。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474720"/>
            <a:ext cx="4297680" cy="54864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475569"/>
                </a:solidFill>
                <a:latin typeface="Microsoft JhengHei"/>
              </a:defRPr>
            </a:pPr>
            <a:r>
              <a:t>學歷差距。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97680"/>
            <a:ext cx="4297680" cy="54864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475569"/>
                </a:solidFill>
                <a:latin typeface="Microsoft JhengHei"/>
              </a:defRPr>
            </a:pPr>
            <a:r>
              <a:t>資源差距。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194560"/>
            <a:ext cx="4297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 i="0">
                <a:solidFill>
                  <a:srgbClr val="0EA5E9"/>
                </a:solidFill>
                <a:latin typeface="Microsoft JhengHei"/>
              </a:defRPr>
            </a:pPr>
            <a:r>
              <a:t>而是：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926080"/>
            <a:ext cx="42976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5400" b="1" i="0">
                <a:solidFill>
                  <a:srgbClr val="083344"/>
                </a:solidFill>
                <a:latin typeface="Microsoft JhengHei"/>
              </a:defRPr>
            </a:pPr>
            <a:r>
              <a:t>認知差距。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未來最重要的投資：投資自己的認知升級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400" b="1" i="0">
                <a:solidFill>
                  <a:srgbClr val="475569"/>
                </a:solidFill>
                <a:latin typeface="Microsoft JhengHei"/>
              </a:defRPr>
            </a:pPr>
            <a:r>
              <a:t>不是這些投資：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651760"/>
            <a:ext cx="4297680" cy="5486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475569"/>
                </a:solidFill>
                <a:latin typeface="Microsoft JhengHei"/>
              </a:defRPr>
            </a:pPr>
            <a:r>
              <a:t>股票。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474720"/>
            <a:ext cx="4297680" cy="5486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475569"/>
                </a:solidFill>
                <a:latin typeface="Microsoft JhengHei"/>
              </a:defRPr>
            </a:pPr>
            <a:r>
              <a:t>房地產。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97680"/>
            <a:ext cx="4297680" cy="5486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475569"/>
                </a:solidFill>
                <a:latin typeface="Microsoft JhengHei"/>
              </a:defRPr>
            </a:pPr>
            <a:r>
              <a:t>黃金。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194560"/>
            <a:ext cx="4297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400" b="1" i="0">
                <a:solidFill>
                  <a:srgbClr val="0EA5E9"/>
                </a:solidFill>
                <a:latin typeface="Microsoft JhengHei"/>
              </a:defRPr>
            </a:pPr>
            <a:r>
              <a:t>而是投資：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926080"/>
            <a:ext cx="42976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Microsoft JhengHei"/>
              </a:defRPr>
            </a:pPr>
            <a:r>
              <a:t>自己的認知升級。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未來最昂貴的資源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85039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 i="0">
                <a:solidFill>
                  <a:srgbClr val="475569"/>
                </a:solidFill>
                <a:latin typeface="Microsoft JhengHei"/>
              </a:defRPr>
            </a:pPr>
            <a:r>
              <a:t>未來最昂貴的資源，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85039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 i="0">
                <a:solidFill>
                  <a:srgbClr val="083344"/>
                </a:solidFill>
                <a:latin typeface="Microsoft JhengHei"/>
              </a:defRPr>
            </a:pPr>
            <a:r>
              <a:t>不是石油。</a:t>
            </a:r>
          </a:p>
          <a:p>
            <a:pPr algn="ctr">
              <a:defRPr sz="2200" b="1" i="0">
                <a:solidFill>
                  <a:srgbClr val="083344"/>
                </a:solidFill>
                <a:latin typeface="Microsoft JhengHei"/>
              </a:defRPr>
            </a:pPr>
            <a:r>
              <a:t>不是黃金。</a:t>
            </a:r>
          </a:p>
          <a:p>
            <a:pPr algn="ctr">
              <a:defRPr sz="2200" b="1" i="0">
                <a:solidFill>
                  <a:srgbClr val="083344"/>
                </a:solidFill>
                <a:latin typeface="Microsoft JhengHei"/>
              </a:defRPr>
            </a:pPr>
            <a:r>
              <a:t>不是 AI。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931920"/>
            <a:ext cx="301752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206240"/>
            <a:ext cx="8503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200" b="1" i="0">
                <a:solidFill>
                  <a:srgbClr val="0EA5E9"/>
                </a:solidFill>
                <a:latin typeface="Microsoft JhengHei"/>
              </a:defRPr>
            </a:pPr>
            <a:r>
              <a:t>而是：人類的認知。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認知經濟學：未來世界真正的第一生產力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 i="0">
                <a:solidFill>
                  <a:srgbClr val="0EA5E9"/>
                </a:solidFill>
                <a:latin typeface="Microsoft JhengHei"/>
              </a:defRPr>
            </a:pPr>
            <a:r>
              <a:t>1. 認知學科與人類躍遷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260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認知經濟學是一門改變未來百年的新學科，悄然影響財富與家庭。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人類文明四次躍遷：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• 農業時代 (土地與勞動力)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• 工業時代 (機器與資本)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• 資訊時代 (網際網路與流量)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• 認知時代 (演算法與決策)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 i="0">
                <a:solidFill>
                  <a:srgbClr val="083344"/>
                </a:solidFill>
                <a:latin typeface="Microsoft JhengHei"/>
              </a:defRPr>
            </a:pPr>
            <a:r>
              <a:t>2. 認知定義與 AI 挑戰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9260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認知，即你如何理解世界，它決定你看到什麼與最終成為什麼。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AI 時代最值錢的不是 AI，而是駕馭 AI 的人。工具一樣，因認知不同而結果迥異。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全球科技巨頭爭奪的終極目標是「認知入口」。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 i="0">
                <a:solidFill>
                  <a:srgbClr val="0EA5E9"/>
                </a:solidFill>
                <a:latin typeface="Microsoft JhengHei"/>
              </a:defRPr>
            </a:pPr>
            <a:r>
              <a:t>3. 財富轉移與新貨幣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  <a:r>
              <a:t>財富正從資本家轉移到認知者。財富從來不是運氣，而是認知變現。</a:t>
            </a: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  <a:r>
              <a:t>財富閉環公式：</a:t>
            </a: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  <a:r>
              <a:t>認知 ➔ 決策 ➔ 行動 ➔ 結果 ➔ 財富。</a:t>
            </a: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  <a:r>
              <a:t>理解力、學習力、判斷力與洞察力是未來真正的核心資產。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系統四 &amp; 五：意義與成長 —— 驅動前行的引擎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389120"/>
            <a:ext cx="3657600" cy="18288"/>
          </a:xfrm>
          <a:prstGeom prst="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18288" cy="2743200"/>
          </a:xfrm>
          <a:prstGeom prst="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 i="0">
                <a:solidFill>
                  <a:srgbClr val="475569"/>
                </a:solidFill>
                <a:latin typeface="Microsoft JhengHei"/>
              </a:defRPr>
            </a:pPr>
            <a:r>
              <a:t>成長 (突破與升級)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57200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 i="0">
                <a:solidFill>
                  <a:srgbClr val="475569"/>
                </a:solidFill>
                <a:latin typeface="Microsoft JhengHei"/>
              </a:defRPr>
            </a:pPr>
            <a:r>
              <a:t>意義 (知道為什麼而活)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2011680" cy="20116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20116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Microsoft JhengHei"/>
              </a:defRPr>
            </a:pPr>
            <a:r>
              <a:t>深層滿足</a:t>
            </a:r>
          </a:p>
          <a:p>
            <a:pPr algn="ctr">
              <a:defRPr sz="1600" b="1" i="0">
                <a:solidFill>
                  <a:srgbClr val="FFFFFF"/>
                </a:solidFill>
                <a:latin typeface="Microsoft JhengHei"/>
              </a:defRPr>
            </a:pPr>
            <a:r>
              <a:t>與</a:t>
            </a:r>
          </a:p>
          <a:p>
            <a:pPr algn="ctr">
              <a:defRPr sz="1600" b="1" i="0">
                <a:solidFill>
                  <a:srgbClr val="FFFFFF"/>
                </a:solidFill>
                <a:latin typeface="Microsoft JhengHei"/>
              </a:defRPr>
            </a:pPr>
            <a:r>
              <a:t>持續前進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4864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 i="0">
                <a:solidFill>
                  <a:srgbClr val="0EA5E9"/>
                </a:solidFill>
                <a:latin typeface="Microsoft JhengHei"/>
              </a:defRPr>
            </a:pPr>
            <a:r>
              <a:t>• 意義：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572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 i="0">
                <a:solidFill>
                  <a:srgbClr val="083344"/>
                </a:solidFill>
                <a:latin typeface="Microsoft JhengHei"/>
              </a:defRPr>
            </a:pPr>
            <a:r>
              <a:t>幸福不僅是舒服。沒有意義感，即使輕鬆也容易空虛；有意義感，即使辛苦也能持續前進。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47472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 i="0">
                <a:solidFill>
                  <a:srgbClr val="0EA5E9"/>
                </a:solidFill>
                <a:latin typeface="Microsoft JhengHei"/>
              </a:defRPr>
            </a:pPr>
            <a:r>
              <a:t>• 成長：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45720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 i="0">
                <a:solidFill>
                  <a:srgbClr val="083344"/>
                </a:solidFill>
                <a:latin typeface="Microsoft JhengHei"/>
              </a:defRPr>
            </a:pPr>
            <a:r>
              <a:t>當大腦感知到你在進步、突破、升級時，會產生最深層的快樂感。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系統二：運動系統 —— 大腦化學物質的重置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 i="0">
                <a:solidFill>
                  <a:srgbClr val="475569"/>
                </a:solidFill>
                <a:latin typeface="Microsoft JhengHei"/>
              </a:defRPr>
            </a:pPr>
            <a:r>
              <a:t>神經傳導物質主控制台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18288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01168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083344"/>
                </a:solidFill>
                <a:latin typeface="Microsoft JhengHei"/>
              </a:defRPr>
            </a:pPr>
            <a:r>
              <a:t>血清素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377440"/>
            <a:ext cx="18288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23160" y="292608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93776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083344"/>
                </a:solidFill>
                <a:latin typeface="Microsoft JhengHei"/>
              </a:defRPr>
            </a:pPr>
            <a:r>
              <a:t>內啡肽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377440"/>
            <a:ext cx="18288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03320" y="182880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493776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083344"/>
                </a:solidFill>
                <a:latin typeface="Microsoft JhengHei"/>
              </a:defRPr>
            </a:pPr>
            <a:r>
              <a:t>多巴胺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645920"/>
            <a:ext cx="5486400" cy="41148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 i="0">
                <a:solidFill>
                  <a:srgbClr val="0EA5E9"/>
                </a:solidFill>
                <a:latin typeface="Microsoft JhengHei"/>
              </a:defRPr>
            </a:pPr>
            <a:r>
              <a:t>💡 洞察：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4572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 i="0">
                <a:solidFill>
                  <a:srgbClr val="083344"/>
                </a:solidFill>
                <a:latin typeface="Microsoft JhengHei"/>
              </a:defRPr>
            </a:pPr>
            <a:r>
              <a:t>很多情緒問題，本質上是身體能量問題。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9184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 i="0">
                <a:solidFill>
                  <a:srgbClr val="0EA5E9"/>
                </a:solidFill>
                <a:latin typeface="Microsoft JhengHei"/>
              </a:defRPr>
            </a:pPr>
            <a:r>
              <a:t>⚙️ 機制：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45720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 i="0">
                <a:solidFill>
                  <a:srgbClr val="083344"/>
                </a:solidFill>
                <a:latin typeface="Microsoft JhengHei"/>
              </a:defRPr>
            </a:pPr>
            <a:r>
              <a:t>運動不僅改變肌肉結構，它直接重塑大腦化學系統，強制平衡內分泌。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系統一：感恩訓練 —— 注意力的機械重定向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292608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 i="0">
                <a:solidFill>
                  <a:srgbClr val="0EA5E9"/>
                </a:solidFill>
                <a:latin typeface="Microsoft JhengHei"/>
              </a:defRPr>
            </a:pPr>
            <a:r>
              <a:t>預設關注 (負面偏好)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1828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Microsoft JhengHei"/>
              </a:defRPr>
            </a:pPr>
            <a:r>
              <a:t>• 缺失</a:t>
            </a:r>
          </a:p>
          <a:p>
            <a:pPr algn="l">
              <a:defRPr sz="1800" b="1" i="0">
                <a:solidFill>
                  <a:srgbClr val="FFFFFF"/>
                </a:solidFill>
                <a:latin typeface="Microsoft JhengHei"/>
              </a:defRPr>
            </a:pPr>
            <a:r>
              <a:t>• 焦慮</a:t>
            </a:r>
          </a:p>
          <a:p>
            <a:pPr algn="l">
              <a:defRPr sz="1800" b="1" i="0">
                <a:solidFill>
                  <a:srgbClr val="FFFFFF"/>
                </a:solidFill>
                <a:latin typeface="Microsoft JhengHei"/>
              </a:defRPr>
            </a:pPr>
            <a:r>
              <a:t>• 不足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4389120" y="2194560"/>
            <a:ext cx="2560320" cy="2560320"/>
          </a:xfrm>
          <a:prstGeom prst="triangl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365760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icrosoft JhengHei"/>
              </a:defRPr>
            </a:pPr>
            <a:r>
              <a:t>感恩訓練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3474720"/>
            <a:ext cx="1097279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3474720"/>
            <a:ext cx="1097280" cy="182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94560"/>
            <a:ext cx="2560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 i="0">
                <a:solidFill>
                  <a:srgbClr val="22C55E"/>
                </a:solidFill>
                <a:latin typeface="Microsoft JhengHei"/>
              </a:defRPr>
            </a:pPr>
            <a:r>
              <a:t>重定向關注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34640"/>
            <a:ext cx="1828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• 已擁有</a:t>
            </a:r>
          </a:p>
          <a:p>
            <a:pPr algn="l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• 被支持</a:t>
            </a:r>
          </a:p>
          <a:p>
            <a:pPr algn="l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• 被愛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 i="0">
                <a:solidFill>
                  <a:srgbClr val="083344"/>
                </a:solidFill>
                <a:latin typeface="Microsoft JhengHei"/>
              </a:defRPr>
            </a:pPr>
            <a:r>
              <a:t>機制：感恩會直接改變大腦的注意力方向。它迫使神經系統從「搜尋威脅」的生存模式，切換到「確認資源」的安全模式。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操作系統升級：幸福訓練的五大核心系統</a:t>
            </a:r>
          </a:p>
        </p:txBody>
      </p:sp>
      <p:sp>
        <p:nvSpPr>
          <p:cNvPr id="4" name="Oval 3"/>
          <p:cNvSpPr/>
          <p:nvPr/>
        </p:nvSpPr>
        <p:spPr>
          <a:xfrm>
            <a:off x="4846320" y="2560320"/>
            <a:ext cx="2194560" cy="21945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0" y="3291839"/>
            <a:ext cx="21945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Microsoft JhengHei"/>
              </a:defRPr>
            </a:pPr>
            <a:r>
              <a:t>穩定的</a:t>
            </a:r>
          </a:p>
          <a:p>
            <a:pPr algn="ctr">
              <a:defRPr sz="1600" b="1" i="0">
                <a:solidFill>
                  <a:srgbClr val="FFFFFF"/>
                </a:solidFill>
                <a:latin typeface="Microsoft JhengHei"/>
              </a:defRPr>
            </a:pPr>
            <a:r>
              <a:t>神經系統</a:t>
            </a:r>
          </a:p>
        </p:txBody>
      </p:sp>
      <p:sp>
        <p:nvSpPr>
          <p:cNvPr id="6" name="Oval 5"/>
          <p:cNvSpPr/>
          <p:nvPr/>
        </p:nvSpPr>
        <p:spPr>
          <a:xfrm>
            <a:off x="5394960" y="914400"/>
            <a:ext cx="1097280" cy="1097280"/>
          </a:xfrm>
          <a:prstGeom prst="ellipse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32588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Microsoft JhengHei"/>
              </a:defRPr>
            </a:pPr>
            <a:r>
              <a:t>感恩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011680"/>
            <a:ext cx="18288" cy="54863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79" y="2011680"/>
            <a:ext cx="1097280" cy="1097280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242316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083344"/>
                </a:solidFill>
                <a:latin typeface="Microsoft JhengHei"/>
              </a:defRPr>
            </a:pPr>
            <a:r>
              <a:t>運動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3108960"/>
            <a:ext cx="822959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393192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34340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083344"/>
                </a:solidFill>
                <a:latin typeface="Microsoft JhengHei"/>
              </a:defRPr>
            </a:pPr>
            <a:r>
              <a:t>關係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114800"/>
            <a:ext cx="365759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14800" y="393192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434340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083344"/>
                </a:solidFill>
                <a:latin typeface="Microsoft JhengHei"/>
              </a:defRPr>
            </a:pPr>
            <a:r>
              <a:t>意義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4114800"/>
            <a:ext cx="36576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91840" y="2011680"/>
            <a:ext cx="1097280" cy="1097280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42316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083344"/>
                </a:solidFill>
                <a:latin typeface="Microsoft JhengHei"/>
              </a:defRPr>
            </a:pPr>
            <a:r>
              <a:t>成長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108960"/>
            <a:ext cx="18288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 i="0">
                <a:solidFill>
                  <a:srgbClr val="083344"/>
                </a:solidFill>
                <a:latin typeface="Microsoft JhengHei"/>
              </a:defRPr>
            </a:pPr>
            <a:r>
              <a:t>幸福不是一種運氣，而是一套需要每日維護的精密機械系統。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現代危機：高刺激超載與注意力崩潰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7373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737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 i="0">
                <a:solidFill>
                  <a:srgbClr val="083344"/>
                </a:solidFill>
                <a:latin typeface="Microsoft JhengHei"/>
              </a:defRPr>
            </a:pPr>
            <a:r>
              <a:t>AI資訊流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2011680"/>
            <a:ext cx="1783080" cy="54863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0" y="1463040"/>
            <a:ext cx="17373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554480"/>
            <a:ext cx="1737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 i="0">
                <a:solidFill>
                  <a:srgbClr val="083344"/>
                </a:solidFill>
                <a:latin typeface="Microsoft JhengHei"/>
              </a:defRPr>
            </a:pPr>
            <a:r>
              <a:t>短影音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2011680"/>
            <a:ext cx="18288" cy="54863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80" y="1463040"/>
            <a:ext cx="17373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54480"/>
            <a:ext cx="1737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 i="0">
                <a:solidFill>
                  <a:srgbClr val="083344"/>
                </a:solidFill>
                <a:latin typeface="Microsoft JhengHei"/>
              </a:defRPr>
            </a:pPr>
            <a:r>
              <a:t>社交/財富/外貌比較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2011680"/>
            <a:ext cx="18288" cy="54863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rapezoid 12"/>
          <p:cNvSpPr/>
          <p:nvPr/>
        </p:nvSpPr>
        <p:spPr>
          <a:xfrm>
            <a:off x="2286000" y="2560320"/>
            <a:ext cx="2194560" cy="1463040"/>
          </a:xfrm>
          <a:prstGeom prst="trapezoid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3017520"/>
            <a:ext cx="21945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Microsoft JhengHei"/>
              </a:defRPr>
            </a:pPr>
            <a:r>
              <a:t>人類神經系統頻寬</a:t>
            </a:r>
          </a:p>
          <a:p>
            <a:pPr algn="ctr">
              <a:defRPr sz="1200" b="1" i="0">
                <a:solidFill>
                  <a:srgbClr val="FFFFFF"/>
                </a:solidFill>
                <a:latin typeface="Microsoft JhengHei"/>
              </a:defRPr>
            </a:pPr>
            <a:r>
              <a:t>(超載)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023360"/>
            <a:ext cx="18288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800" y="4480560"/>
            <a:ext cx="31089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57200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 i="0">
                <a:solidFill>
                  <a:srgbClr val="EF4444"/>
                </a:solidFill>
                <a:latin typeface="Microsoft JhengHei"/>
              </a:defRPr>
            </a:pPr>
            <a:r>
              <a:t>⚠️ 多巴胺失衡 &amp; 焦慮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4572000" cy="1097280"/>
          </a:xfrm>
          <a:prstGeom prst="round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6126480"/>
            <a:ext cx="3657600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303520"/>
            <a:ext cx="18288" cy="82296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6035040"/>
            <a:ext cx="320040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521208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 i="0">
                <a:solidFill>
                  <a:srgbClr val="EF4444"/>
                </a:solidFill>
                <a:latin typeface="Microsoft JhengHei"/>
              </a:defRPr>
            </a:pPr>
            <a:r>
              <a:t>科技升級速度 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6035040"/>
            <a:ext cx="3200400" cy="182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5852160"/>
            <a:ext cx="2011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 i="0">
                <a:solidFill>
                  <a:srgbClr val="0EA5E9"/>
                </a:solidFill>
                <a:latin typeface="Microsoft JhengHei"/>
              </a:defRPr>
            </a:pPr>
            <a:r>
              <a:t>人類心理進化速度 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1463040"/>
            <a:ext cx="4846320" cy="4389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82880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 i="0">
                <a:solidFill>
                  <a:srgbClr val="0EA5E9"/>
                </a:solidFill>
                <a:latin typeface="Microsoft JhengHei"/>
              </a:defRPr>
            </a:pPr>
            <a:r>
              <a:t>🩺 診斷：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286000"/>
            <a:ext cx="40233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0" i="0">
                <a:solidFill>
                  <a:srgbClr val="083344"/>
                </a:solidFill>
                <a:latin typeface="Microsoft JhengHei"/>
              </a:defRPr>
            </a:pPr>
            <a:r>
              <a:t>真正起因不是人生越來越差，而是科技升級速度遠超心理進化速度，導致神經系統長期超載。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56616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 i="0">
                <a:solidFill>
                  <a:srgbClr val="EF4444"/>
                </a:solidFill>
                <a:latin typeface="Microsoft JhengHei"/>
              </a:defRPr>
            </a:pPr>
            <a:r>
              <a:t>🚨 症狀：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023360"/>
            <a:ext cx="40233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 i="0">
                <a:solidFill>
                  <a:srgbClr val="083344"/>
                </a:solidFill>
                <a:latin typeface="Microsoft JhengHei"/>
              </a:defRPr>
            </a:pPr>
            <a:r>
              <a:t>情緒疲勞 / 空虛感 / 內耗 / 無法專注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積極心理學：人類文明的一次認知革命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 i="0">
                <a:solidFill>
                  <a:srgbClr val="0EA5E9"/>
                </a:solidFill>
                <a:latin typeface="Microsoft JhengHei"/>
              </a:defRPr>
            </a:pPr>
            <a:r>
              <a:t>1. 時代困境與腦科學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260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物質極大豐富，但焦慮指數歷史最高，面臨意義、情緒與認知三大危機。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大腦是為「生存」而非「幸福」設計的，天生具備負面偏好（焦慮、防範危險）。因此，幸福需要系統性「訓練」而非等待。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 i="0">
                <a:solidFill>
                  <a:srgbClr val="083344"/>
                </a:solidFill>
                <a:latin typeface="Microsoft JhengHei"/>
              </a:defRPr>
            </a:pPr>
            <a:r>
              <a:t>2. 積極心理學與 PERMA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9260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積極心理學研究如何讓人真正繁榮 (Flourishing)。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PERMA 經典模型：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• P (Positive Emotion) 積極情緒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• E (Engagement) 投入感/心流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• R (Relationship) 關係質量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• M (Meaning) 意義感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• A (Achievement) 成就感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幸福是這五維度的平衡系統。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 i="0">
                <a:solidFill>
                  <a:srgbClr val="0EA5E9"/>
                </a:solidFill>
                <a:latin typeface="Microsoft JhengHei"/>
              </a:defRPr>
            </a:pPr>
            <a:r>
              <a:t>3. 頂級研究與終極覺醒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  <a:r>
              <a:t>哈佛、耶魯熱門課程。未來真正的競爭不是知識或體力，而是「心理能量競爭」。</a:t>
            </a: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  <a:r>
              <a:t>AI 時代無法替代情感連接、創造力與精神力量。未來最稀缺的是情緒穩定、有意義感並能給予他人希望的人。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習得性樂觀：改變命運的心理技術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 i="0">
                <a:solidFill>
                  <a:srgbClr val="0EA5E9"/>
                </a:solidFill>
                <a:latin typeface="Microsoft JhengHei"/>
              </a:defRPr>
            </a:pPr>
            <a:r>
              <a:t>1. 解釋風格與無助感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260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決定命運的不是發生了什麼，而是你如何解釋它。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「習得性無助」指出：當動物長期經歷無法逃脫的挫折，即使未來機會來臨也會直接放棄，形成「努力無用」的負面認知。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 i="0">
                <a:solidFill>
                  <a:srgbClr val="083344"/>
                </a:solidFill>
                <a:latin typeface="Microsoft JhengHei"/>
              </a:defRPr>
            </a:pPr>
            <a:r>
              <a:t>2. 悲觀陷阱與樂觀定義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29260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悲觀者的致命解釋模式：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• 永久化 (一次失敗代表永遠不行)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• 普遍化 (一個領域失敗代表整個人生完了)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• 人格化 (所有挫折都怪自己沒價值)</a:t>
            </a: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</a:p>
          <a:p>
            <a:pPr algn="l">
              <a:defRPr sz="1300" b="0" i="0">
                <a:solidFill>
                  <a:srgbClr val="083344"/>
                </a:solidFill>
                <a:latin typeface="Microsoft JhengHei"/>
              </a:defRPr>
            </a:pPr>
            <a:r>
              <a:t>樂觀不是盲目積極，而是一種解釋能力，不把困難當作終局。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017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 i="0">
                <a:solidFill>
                  <a:srgbClr val="0EA5E9"/>
                </a:solidFill>
                <a:latin typeface="Microsoft JhengHei"/>
              </a:defRPr>
            </a:pPr>
            <a:r>
              <a:t>3. 樂觀訓練法與覺醒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  <a:r>
              <a:t>如何訓練習得性樂觀：</a:t>
            </a: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  <a:r>
              <a:t>1. 改變提問 (問如何優化)</a:t>
            </a: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  <a:r>
              <a:t>2. 失敗事件化 (不代表人失敗)</a:t>
            </a: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  <a:r>
              <a:t>3. 成長型思維 (「暫時還不會」)</a:t>
            </a: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  <a:r>
              <a:t>4. 小勝利循環 (小行動累積信心)</a:t>
            </a: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  <a:r>
              <a:t>5. 遠離負面環境。</a:t>
            </a: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</a:p>
          <a:p>
            <a:pPr algn="l">
              <a:defRPr sz="1300" b="0" i="0">
                <a:solidFill>
                  <a:srgbClr val="FFFFFF"/>
                </a:solidFill>
                <a:latin typeface="Microsoft JhengHei"/>
              </a:defRPr>
            </a:pPr>
            <a:r>
              <a:t>決定高度的是跌倒後是否前行。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083344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Microsoft JhengHei"/>
              </a:defRPr>
            </a:pPr>
            <a:r>
              <a:t>幸福可以被訓練嗎？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291840"/>
            <a:ext cx="7619695" cy="914400"/>
          </a:xfrm>
          <a:prstGeom prst="roundRect">
            <a:avLst/>
          </a:prstGeom>
          <a:solidFill>
            <a:srgbClr val="08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566160"/>
            <a:ext cx="76196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 i="0">
                <a:solidFill>
                  <a:srgbClr val="0EA5E9"/>
                </a:solidFill>
                <a:latin typeface="Microsoft JhengHei"/>
              </a:defRPr>
            </a:pPr>
            <a:r>
              <a:t>重構你的神經控制台：AI時代下的高階心理能量管理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為什麼「條件很好」，卻依然感到內耗？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 i="0">
                <a:solidFill>
                  <a:srgbClr val="EF4444"/>
                </a:solidFill>
                <a:latin typeface="Microsoft JhengHei"/>
              </a:defRPr>
            </a:pPr>
            <a:r>
              <a:t>📈 高成就 / 高內耗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560320"/>
            <a:ext cx="45720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2926080"/>
            <a:ext cx="45720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2286000"/>
            <a:ext cx="457200" cy="82295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3108960"/>
            <a:ext cx="45720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2468880"/>
            <a:ext cx="457200" cy="54863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3017520"/>
            <a:ext cx="45720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2651760"/>
            <a:ext cx="457200" cy="274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383280"/>
            <a:ext cx="3657600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Microsoft JhengHei"/>
              </a:defRPr>
            </a:pPr>
            <a:r>
              <a:t>• 長期焦慮</a:t>
            </a:r>
          </a:p>
          <a:p>
            <a:pPr>
              <a:defRPr sz="1500">
                <a:solidFill>
                  <a:srgbClr val="475569"/>
                </a:solidFill>
                <a:latin typeface="Microsoft JhengHei"/>
              </a:defRPr>
            </a:pPr>
            <a:r>
              <a:t>• 容易悲觀</a:t>
            </a:r>
          </a:p>
          <a:p>
            <a:pPr>
              <a:defRPr sz="1500">
                <a:solidFill>
                  <a:srgbClr val="475569"/>
                </a:solidFill>
                <a:latin typeface="Microsoft JhengHei"/>
              </a:defRPr>
            </a:pPr>
            <a:r>
              <a:t>• 內耗嚴重</a:t>
            </a:r>
          </a:p>
          <a:p>
            <a:pPr>
              <a:defRPr sz="1500">
                <a:solidFill>
                  <a:srgbClr val="475569"/>
                </a:solidFill>
                <a:latin typeface="Microsoft JhengHei"/>
              </a:defRPr>
            </a:pPr>
            <a:r>
              <a:t>• 感覺人生很累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5029200" cy="34747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 i="0">
                <a:solidFill>
                  <a:srgbClr val="22C55E"/>
                </a:solidFill>
                <a:latin typeface="Microsoft JhengHei"/>
              </a:defRPr>
            </a:pPr>
            <a:r>
              <a:t>🟢 高能量 / 高穩定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2743200"/>
            <a:ext cx="457199" cy="182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2468880"/>
            <a:ext cx="457200" cy="54863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3017520"/>
            <a:ext cx="457200" cy="182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2468880"/>
            <a:ext cx="457200" cy="54863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3017520"/>
            <a:ext cx="457200" cy="182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2468880"/>
            <a:ext cx="457200" cy="54863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84080" y="3017520"/>
            <a:ext cx="457200" cy="182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383280"/>
            <a:ext cx="3657600" cy="13716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defRPr sz="1500">
                <a:solidFill>
                  <a:srgbClr val="083344"/>
                </a:solidFill>
                <a:latin typeface="Microsoft JhengHei"/>
              </a:defRPr>
            </a:pPr>
            <a:r>
              <a:t>• 很容易快樂</a:t>
            </a:r>
          </a:p>
          <a:p>
            <a:pPr>
              <a:defRPr sz="1500">
                <a:solidFill>
                  <a:srgbClr val="083344"/>
                </a:solidFill>
                <a:latin typeface="Microsoft JhengHei"/>
              </a:defRPr>
            </a:pPr>
            <a:r>
              <a:t>• 容易滿足</a:t>
            </a:r>
          </a:p>
          <a:p>
            <a:pPr>
              <a:defRPr sz="1500">
                <a:solidFill>
                  <a:srgbClr val="083344"/>
                </a:solidFill>
                <a:latin typeface="Microsoft JhengHei"/>
              </a:defRPr>
            </a:pPr>
            <a:r>
              <a:t>• 情緒穩定</a:t>
            </a:r>
          </a:p>
          <a:p>
            <a:pPr>
              <a:defRPr sz="1500">
                <a:solidFill>
                  <a:srgbClr val="083344"/>
                </a:solidFill>
                <a:latin typeface="Microsoft JhengHei"/>
              </a:defRPr>
            </a:pPr>
            <a:r>
              <a:t>• 能量很高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 i="0">
                <a:solidFill>
                  <a:srgbClr val="083344"/>
                </a:solidFill>
                <a:latin typeface="Microsoft JhengHei"/>
              </a:defRPr>
            </a:pPr>
            <a:r>
              <a:t>很多人誤以為性格、命運或環境決定了幸福。但科學給出了完全不同的答案。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積極心理學的核心代碼：H = G + C +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23390" y="2011680"/>
            <a:ext cx="4572000" cy="73152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5390" y="2011680"/>
            <a:ext cx="914400" cy="7315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09790" y="2011680"/>
            <a:ext cx="365760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3390" y="3108960"/>
            <a:ext cx="4389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291840"/>
            <a:ext cx="4114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0" i="0">
                <a:solidFill>
                  <a:srgbClr val="475569"/>
                </a:solidFill>
                <a:latin typeface="Microsoft JhengHei"/>
              </a:defRPr>
            </a:pPr>
            <a:r>
              <a:t>G (Genetics / 基因)：50%</a:t>
            </a:r>
          </a:p>
          <a:p>
            <a:pPr algn="l">
              <a:defRPr sz="1400" b="0" i="0">
                <a:solidFill>
                  <a:srgbClr val="475569"/>
                </a:solidFill>
                <a:latin typeface="Microsoft JhengHei"/>
              </a:defRPr>
            </a:pPr>
            <a:r>
              <a:t>• 來自基因傾向</a:t>
            </a:r>
          </a:p>
          <a:p>
            <a:pPr algn="l">
              <a:defRPr sz="1400" b="0" i="0">
                <a:solidFill>
                  <a:srgbClr val="475569"/>
                </a:solidFill>
                <a:latin typeface="Microsoft JhengHei"/>
              </a:defRPr>
            </a:pPr>
            <a:r>
              <a:t>• 決定幸福感的基礎起點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108960"/>
            <a:ext cx="2011680" cy="16459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291840"/>
            <a:ext cx="1828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 i="0">
                <a:solidFill>
                  <a:srgbClr val="083344"/>
                </a:solidFill>
                <a:latin typeface="Microsoft JhengHei"/>
              </a:defRPr>
            </a:pPr>
            <a:r>
              <a:t>C (Circumstances)：10%</a:t>
            </a:r>
          </a:p>
          <a:p>
            <a:pPr algn="l">
              <a:defRPr sz="1200" b="0" i="0">
                <a:solidFill>
                  <a:srgbClr val="083344"/>
                </a:solidFill>
                <a:latin typeface="Microsoft JhengHei"/>
              </a:defRPr>
            </a:pPr>
            <a:r>
              <a:t>• 環境、財富、房子</a:t>
            </a:r>
          </a:p>
          <a:p>
            <a:pPr algn="l">
              <a:defRPr sz="1200" b="0" i="0">
                <a:solidFill>
                  <a:srgbClr val="083344"/>
                </a:solidFill>
                <a:latin typeface="Microsoft JhengHei"/>
              </a:defRPr>
            </a:pPr>
            <a:r>
              <a:t>• 外貌、地位等外部條件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108960"/>
            <a:ext cx="2377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291840"/>
            <a:ext cx="2194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 i="0">
                <a:solidFill>
                  <a:srgbClr val="22C55E"/>
                </a:solidFill>
                <a:latin typeface="Microsoft JhengHei"/>
              </a:defRPr>
            </a:pPr>
            <a:r>
              <a:t>V (Voluntary)：40%</a:t>
            </a:r>
          </a:p>
          <a:p>
            <a:pPr algn="l">
              <a:defRPr sz="1300" b="0" i="0">
                <a:solidFill>
                  <a:srgbClr val="22C55E"/>
                </a:solidFill>
                <a:latin typeface="Microsoft JhengHei"/>
              </a:defRPr>
            </a:pPr>
            <a:r>
              <a:t>• 主動行為與日常習慣</a:t>
            </a:r>
          </a:p>
          <a:p>
            <a:pPr algn="l">
              <a:defRPr sz="1300" b="0" i="0">
                <a:solidFill>
                  <a:srgbClr val="22C55E"/>
                </a:solidFill>
                <a:latin typeface="Microsoft JhengHei"/>
              </a:defRPr>
            </a:pPr>
            <a:r>
              <a:t>• 這是你唯一可以</a:t>
            </a:r>
          </a:p>
          <a:p>
            <a:pPr algn="l">
              <a:defRPr sz="1300" b="0" i="0">
                <a:solidFill>
                  <a:srgbClr val="22C55E"/>
                </a:solidFill>
                <a:latin typeface="Microsoft JhengHei"/>
              </a:defRPr>
            </a:pPr>
            <a:r>
              <a:t>  控制與刻意訓練的部分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即使基因無法改變，幸福依然是一項可被刻意練習的技能。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83344"/>
                </a:solidFill>
                <a:latin typeface="Microsoft JhengHei"/>
              </a:defRPr>
            </a:pPr>
            <a:r>
              <a:t>幸福的真正底層邏輯：神經系統狀態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 i="0">
                <a:solidFill>
                  <a:srgbClr val="475569"/>
                </a:solidFill>
                <a:latin typeface="Microsoft JhengHei"/>
              </a:defRPr>
            </a:pPr>
            <a:r>
              <a:t>🟤 生存模式 (Threat/Survival)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560320"/>
            <a:ext cx="4297680" cy="914400"/>
          </a:xfrm>
          <a:prstGeom prst="round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 i="0">
                <a:solidFill>
                  <a:srgbClr val="475569"/>
                </a:solidFill>
                <a:latin typeface="Microsoft JhengHei"/>
              </a:defRPr>
            </a:pPr>
            <a:r>
              <a:t>狀態：焦慮、緊張、高度警惕、失眠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657600"/>
            <a:ext cx="4297680" cy="914400"/>
          </a:xfrm>
          <a:prstGeom prst="round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 i="0">
                <a:solidFill>
                  <a:srgbClr val="475569"/>
                </a:solidFill>
                <a:latin typeface="Microsoft JhengHei"/>
              </a:defRPr>
            </a:pPr>
            <a:r>
              <a:t>表現：即使非常成功，依然缺乏安全感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029200" cy="34747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 i="0">
                <a:solidFill>
                  <a:srgbClr val="22C55E"/>
                </a:solidFill>
                <a:latin typeface="Microsoft JhengHei"/>
              </a:defRPr>
            </a:pPr>
            <a:r>
              <a:t>🟢 安全/繁榮模式 (Safe/Flourish)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560320"/>
            <a:ext cx="4297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83464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 i="0">
                <a:solidFill>
                  <a:srgbClr val="083344"/>
                </a:solidFill>
                <a:latin typeface="Microsoft JhengHei"/>
              </a:defRPr>
            </a:pPr>
            <a:r>
              <a:t>狀態：安全、放鬆、平衡、有連接感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657600"/>
            <a:ext cx="4297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93192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 i="0">
                <a:solidFill>
                  <a:srgbClr val="083344"/>
                </a:solidFill>
                <a:latin typeface="Microsoft JhengHei"/>
              </a:defRPr>
            </a:pPr>
            <a:r>
              <a:t>表現：即使極其普通，也能感知快樂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 i="0">
                <a:solidFill>
                  <a:srgbClr val="083344"/>
                </a:solidFill>
                <a:latin typeface="Microsoft JhengHei"/>
              </a:defRPr>
            </a:pPr>
            <a:r>
              <a:t>真正決定幸福的，不是外部擁有多少，而是你的神經系統是否穩定。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