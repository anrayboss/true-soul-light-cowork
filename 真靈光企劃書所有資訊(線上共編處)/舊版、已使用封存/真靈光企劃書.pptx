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26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981FE5-083D-43C3-8895-4485BFF8D635}" type="datetimeFigureOut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DE274-D940-493F-9A15-525654FAA82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4664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80" name="Google Shape;2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86" name="Google Shape;2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 userDrawn="1">
  <p:cSld name="內文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" name="Google Shape;285;p22">
            <a:extLst>
              <a:ext uri="{FF2B5EF4-FFF2-40B4-BE49-F238E27FC236}">
                <a16:creationId xmlns:a16="http://schemas.microsoft.com/office/drawing/2014/main" id="{A826BCB8-D620-B8B5-E187-B00A203D9637}"/>
              </a:ext>
            </a:extLst>
          </p:cNvPr>
          <p:cNvSpPr/>
          <p:nvPr userDrawn="1"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87;p22">
            <a:extLst>
              <a:ext uri="{FF2B5EF4-FFF2-40B4-BE49-F238E27FC236}">
                <a16:creationId xmlns:a16="http://schemas.microsoft.com/office/drawing/2014/main" id="{E78EAB9C-E0F0-663F-D956-4091F682FD6B}"/>
              </a:ext>
            </a:extLst>
          </p:cNvPr>
          <p:cNvSpPr/>
          <p:nvPr userDrawn="1"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54;p62">
            <a:extLst>
              <a:ext uri="{FF2B5EF4-FFF2-40B4-BE49-F238E27FC236}">
                <a16:creationId xmlns:a16="http://schemas.microsoft.com/office/drawing/2014/main" id="{80C635D7-9393-CB33-0CE9-1DAA528319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8586" y="594360"/>
            <a:ext cx="1047884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3200" b="1">
                <a:solidFill>
                  <a:srgbClr val="083344"/>
                </a:solidFill>
                <a:latin typeface="Microsoft JhengHei"/>
                <a:ea typeface="Microsoft JhengHei"/>
                <a:cs typeface="Microsoft JhengHei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lvl="0" indent="0" algn="l">
              <a:buClr>
                <a:srgbClr val="000000"/>
              </a:buClr>
              <a:buFont typeface="Arial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889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>
  <p:cSld name="标题幻灯片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3" descr="图片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4140" y="201929"/>
            <a:ext cx="1466218" cy="57531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3"/>
          <p:cNvSpPr txBox="1">
            <a:spLocks noGrp="1"/>
          </p:cNvSpPr>
          <p:nvPr>
            <p:ph type="title"/>
          </p:nvPr>
        </p:nvSpPr>
        <p:spPr>
          <a:xfrm>
            <a:off x="2667000" y="1122362"/>
            <a:ext cx="6858000" cy="238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body" idx="1"/>
          </p:nvPr>
        </p:nvSpPr>
        <p:spPr>
          <a:xfrm>
            <a:off x="2667000" y="3602037"/>
            <a:ext cx="6858000" cy="1655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ldNum" idx="12"/>
          </p:nvPr>
        </p:nvSpPr>
        <p:spPr>
          <a:xfrm>
            <a:off x="7981950" y="6356351"/>
            <a:ext cx="258620" cy="24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 sz="1000"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</p:spTree>
    <p:extLst>
      <p:ext uri="{BB962C8B-B14F-4D97-AF65-F5344CB8AC3E}">
        <p14:creationId xmlns:p14="http://schemas.microsoft.com/office/powerpoint/2010/main" val="4058396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>
  <p:cSld name="兩項物件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>
            <a:spLocks noGrp="1"/>
          </p:cNvSpPr>
          <p:nvPr>
            <p:ph type="title"/>
          </p:nvPr>
        </p:nvSpPr>
        <p:spPr>
          <a:xfrm>
            <a:off x="10" y="0"/>
            <a:ext cx="12191990" cy="1247056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1188700" tIns="45700" rIns="2743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5400" b="1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5554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jp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11" Type="http://schemas.openxmlformats.org/officeDocument/2006/relationships/image" Target="../media/image15.jpg"/><Relationship Id="rId5" Type="http://schemas.openxmlformats.org/officeDocument/2006/relationships/image" Target="../media/image9.jpg"/><Relationship Id="rId10" Type="http://schemas.openxmlformats.org/officeDocument/2006/relationships/image" Target="../media/image14.jp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g"/><Relationship Id="rId5" Type="http://schemas.openxmlformats.org/officeDocument/2006/relationships/image" Target="../media/image17.png"/><Relationship Id="rId4" Type="http://schemas.openxmlformats.org/officeDocument/2006/relationships/image" Target="../media/image10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83344"/>
                </a:solidFill>
                <a:latin typeface="微軟正黑體"/>
              </a:defRPr>
            </a:pPr>
            <a:r>
              <a:t>「真靈光」全球身心靈科技生態系 — 黃金三年戰略企劃書</a:t>
            </a:r>
          </a:p>
          <a:p>
            <a:pPr algn="ctr">
              <a:spcBef>
                <a:spcPts val="4000"/>
              </a:spcBef>
              <a:defRPr sz="1800">
                <a:solidFill>
                  <a:srgbClr val="0369A1"/>
                </a:solidFill>
                <a:latin typeface="微軟正黑體"/>
              </a:defRPr>
            </a:pPr>
            <a:r>
              <a:t>呈報：陳老師 | 提案人：陳仲豪（操盤手） | 核心理念：聚焦專長、分工明確、建立系統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017520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目錄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[一、願景與核心定位]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[二、操盤手資歷]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[三、黃金三年最高戰略目標]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[四、徹底根除過去六大亂象]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[五、三大系統權責分工]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[六、兩層樓變現漏斗（獲利閉環模型）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[七、四大財務分潤引擎]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[八、雙公司防火牆機制]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[九、練習生海選與菁英孵化制度]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[十、第一年季度執行甘特圖]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目錄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[十一、第一年預算精算總表]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[十二、三年獲利與擴張時程]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[十三、企業成長路徑藍圖]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[十四、財政最高防禦機制]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[十五、向陳老師的三個問題Q&amp;A]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一、願景與核心定位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核心定位：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身心靈一站式服務平台 — 身心靈界的嚴選蝦皮、身心靈界的全聯/SOGO。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經營目的：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幫助更多人身心健康與靈性提升，同時幫助身心靈從業者安身立命。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服務內涵：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涵蓋診所、運動教室、咖啡廳、AI 量測區、諮詢室、整脊室，提供身心靈一站式服務。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服務流程：定 → 清 → 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一、願景與核心定位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陳老師的立場與目標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定位：萬王之王，處理無形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目標：拯救靈魂、一年機會培養、傳承徒弟靈性能力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三年目標：三年功成身退，帶師母自由自在雲遊四海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一、願景與核心定位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5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5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5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endParaRPr/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身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心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靈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財富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檢測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AI 量子身心靈量測儀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endParaRPr/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線上照片出報告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endParaRPr/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定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整脊、經絡整復、按摩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諮詢、算命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諮詢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諮詢、行銷業務課程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清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能量艙、甕蒸、運動課程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鈦缽、心靈課程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鈦缽、音療課程、法會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行銷業務課程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營養補充、葉醫師產品、能量咖啡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心靈課程、學員社群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量子能量補充卡（晶圓鍊）、能量水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行銷業務課程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二、操盤手資歷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陳仲豪 — 全案操盤手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學習身心健康 30年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身心靈健康產業 21 年經驗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身心靈相關投入超過 NT$ 500 萬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台灣六萬名經銷商推薦 第一名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拿過三家身心健康產業 第一名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拿過 20 個以上 銷售冠軍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經營過 14家 身心健康相關實體店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學員超過 10,000人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三、黃金三年最高戰略目標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六大最高目標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三年階段總覽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三、黃金三年最高戰略目標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628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5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5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01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編號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戰略目標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說明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①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明星老師與核心決策團隊完全就位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嚴選並培育最具感恩心性、鋼鐵紀律的核心明星導師及專業決策團隊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②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建立並固化三大系統核心齒輪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全面建立【靈性標準系統】、【行銷自媒體系統】與【運營客服系統】，形成自動化流程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陳老師三年內功成身退圓滿交棒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黃金三年內完成核心系統與文化交棒，移交核心決策團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④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實現平台全自動化去中心化運營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透過天網 APP、AI 量測出報告與儀器，標準化轉介分流，擺脫對單一大師的依賴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真正大面積提升身心靈健康與靈性提升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用科學大健康及真實調理破除怪力亂神偏見、真正全方位幫助海量人群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⑥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圓滿顯化全台 22 家連鎖據點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以連鎖加盟深耕台灣五大縣市與全球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年度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主題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核心任務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第一年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培訓 · 練兵練功 建構系統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培養身心靈老師偶像團體，建立三大系統，試營運旗艦店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01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第二年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培訓 + 產品 · 賺錢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大量招募代理商，開說明會，連鎖加盟啟動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0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第三年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培訓 + 產品 + 大量開店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全台 22 家店全面展開，陳老師圓滿交棒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四、徹底根除過去六大亂象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針對過去亂象解決方案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四、徹底根除過去六大亂象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2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亂象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解決方案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① 嫉妒與傲慢和無中生有與抱怨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核心靈性課程 100%由 決策團隊親自操刀主導，&lt;br&gt;統一「感恩、真、善、愛」共同文化，並聚焦於感恩，他人優點， 與嚴格篩選制度，&lt;br&gt;真為真誠與只講真實存在有根據的話語 &lt;br&gt;善是善意與為他人著想&lt;br&gt;愛是感恩與肯定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② 情緒管理失控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大量海選有正確態度、感恩、優質的人，1000 個選 100 個即可&lt;br&gt;解決老師基本生存問題與建立好文化與作好的制度，越有產能收入越高，會簽合約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③ 團隊內耗、彼此批判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抱怨、負面、影響公司法律與名聲者，一律開除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④ 覺得沒看到行銷結果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行銷火力聚焦，全力捧紅「中醫師團隊、嚴美瑜、紫昀、仲豪」四大明星&lt;br&gt;並且把咖啡廳與運動教室用滿，產品銷售好之後看到行銷成果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⑤ 沒有個案練習、缺乏實戰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一樓高頻日常剛需顧客與代理商爆滿；總部實施「消費滿額免費尊榮送諮詢」，個案源源不絕分流給實習生，讓實習生有大量個案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⑥ 嚴重影響創辦人（陳老師）時間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總經理包攬一樓咖啡店長營運、二樓診所日常行政；芊邑、紫昀制定技術 SOP，完全自動化培訓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五、三大系統權責分工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三大獨立齒輪互不干涉、權責嚴密嚙合。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1. 🏢 內部運營系統 — 總經理（紅塵鐵血大管家）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2. 🎬 行銷業務系統 — 陳仲豪（操盤手）＆ 自媒體拍片團隊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3. 🔮 靈性系統 — 陳老師 ＆ 芊邑 ＆ 紫昀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五、三大系統權責分工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2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職責範疇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具體內容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內部營運流程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制定旗艦基地兩層樓日常行政流程、標準出勤、核心宿舍自律規範及日常考核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咖啡廳與店長管理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一層「輕食能量咖啡廳」的店長招聘、人事考核、物料收銷存盤點與櫃台收銀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運動教室行政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一層「動態修煉教室」的行政與老師排班、場地營運與器材維護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客戶服務系統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建立一條龍客戶服務與反饋流程，確保高頻消費顧客的服務滿意度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診所常規管理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統籌二樓中醫診所的醫事合規行政、醫護人員排班、自費項目行政盤點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人才招募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招聘資深會計師、前線店長、合規中西醫師、護理師與營養師等專才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職責範疇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具體內容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自媒體流量矩陣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帶領剪輯、企劃、美編、工程師團隊，每日內容會議，掌控短影音引流池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四大IP火力捧紅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針對「診所醫師團隊、嚴美瑜、紫昀、陳仲豪」四大核心 IP 全面短影音包裝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研發變現課程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研發行銷與業務實戰線上影音課程，驅動全台代理商裂變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紀實節目跟拍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全程跟拍練習生特訓、面試篩選、考核與蛻變過程，做成高黏著自媒體紀實節目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網頁技術控管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主導身心靈的平台，主要是透過免費的靈性課程引導人來不斷學習，學習之後再透過網站慢慢引導到諮詢、課程與產品、名單與資訊流的控管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職責範疇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具體內容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靈性統一系統（芊邑主導）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編撰修煉指南與教育手冊，定調「真、善、愛」核心文化，把關心性修煉與宿舍考核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靈性技術SOP化（紫昀主導）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統一接訊、調頻與觀念，高階個案諮詢、前世回溯、專利晶圓與能量缽能量調度手法標準化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初期課程設計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所有靈性課程 100% 由決策團隊親自操刀設計，定調核心文化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大量面試靈性老師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網路大面積海選，篩選具備感恩正面特質的菁英練習生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六、兩層樓變現漏斗（獲利閉環模型）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先以專家分工合法做生意 → 日常高頻消費鎖定常客與代理商 → 尊榮回饋免費送諮詢孵化練習生 →培養練習生成為專業身心靈老師打造 IP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🧱 一層：身（動態引流與日常高頻消費剛需）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高頻日常容器：設立輕食能量咖啡廳與運動教室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美體引流 IP：嚴美瑜導師與其他瑜珈老師坐鎮，結合皮拉提斯、瑜珈與國家級合規營養師專業，主打科學美體與體態管理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獲利與黏著機制：「喝咖啡、上瑜珈課、體態管理」是每週重複消費的高頻剛需，全用科學體態與大健康量測引流，迅速累積大批死忠客戶與前線代理商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六、兩層樓變現漏斗（獲利閉環模型）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🧱 二層：心、靈與頂層戰略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客戶在一樓產生極致信任後，無縫導流至二樓精準階梯轉化：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👑 總裁辦公室（頂層戰略決策室）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純白極簡高維大格局（落地玻璃景觀）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配備 NT$ 10 萬禪意頂級茶桌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小型會議室與決策團隊開會區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四步閉環獲利精髓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【第一步】二樓醫療相關專家（合法護城河）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↓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【第二步】一樓高頻日常消費剛需（累積忠誠顧客）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六、兩層樓變現漏斗（獲利閉環模型）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↓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【第三步】消費滿額免費送諮詢（練習生合法練兵）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↓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【第四步】分潤與產品創造代理商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六、兩層樓變現漏斗（獲利閉環模型）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5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5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功能區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負責人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服務內容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醫學護城河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葉醫師中西醫團隊與護理師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專業醫師服務與科學醫檢，為全棟合法性築起醫療防火牆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心靈修復區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專業心理諮商師團隊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國家級諮商執照合規梳理個案情緒創傷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身體整復區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物理治療師與整復師團隊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高質感骨骼結構與能量整脊調理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靈性諮詢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紫昀導師與芊邑老師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服務個案靈魂相關問題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七、四大財務分潤引擎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精準對接法規與總部行銷成本，落實「彼此共好、能量一致」的大愛磁場。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七、四大財務分潤引擎 - 1、一對一諮詢、按摩與整脊調理（由診所公司發放）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840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特點：極度依賴老師靈性專業與體力付出，給予老師最尊榮分配。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0" y="1691640"/>
          <a:ext cx="6492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角色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分潤比例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老師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70%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顧問（代理商）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10%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間接推薦人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2.5%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店家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7.5%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客戶現金回饋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1%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平台總部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9%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七、四大財務分潤引擎 - 2、線上課程類型（由實業公司發放）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840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特點：老師一次性錄製，後續由平台承擔行銷、系統架設與稅務成本。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0" y="1691640"/>
          <a:ext cx="6492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角色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分潤比例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老師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30%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顧問（業務）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40%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間接推薦人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10%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店家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平台總部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15%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七、四大財務分潤引擎 - 3、一對多教室團課（由實業公司發放）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840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特點：實體團課極度消耗櫃台人力與場地維護成本。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0" y="1691640"/>
          <a:ext cx="6492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角色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分潤比例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老師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顧問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間接推薦人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店家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10%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客戶現金回饋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平台總部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七、四大財務分潤引擎 - 4、大宗產品與能量設備（由實業公司發放）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840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適用：十萬里日常用品、葉醫師產品、甕蒸（NT$399）、能量艙（NT$800）等高重購率項目。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💡 醫護人員不重疊分潤：醫護年薪已全額由旗艦店頂層人事預算保障。醫護績效分潤來自二樓診所獨立自費醫療項目的跨公司合法拆帳。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0" y="1691640"/>
          <a:ext cx="6492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角色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分潤比例</a:t>
                      </a:r>
                    </a:p>
                  </a:txBody>
                  <a:tcPr marL="45720" marR="45720" marT="91440" marB="91440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產品成本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30%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顧問（代理商）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間接推薦人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店家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客戶現金回饋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5%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平台總部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300" b="0">
                          <a:solidFill>
                            <a:srgbClr val="334155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 marL="45720" marR="45720" marT="91440" marB="91440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八、雙公司防火牆機制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徹底在法律上破除多層次傳直銷嫌疑，規避醫療法重疊地帶。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真靈光實業有限公司（天網 · 人網 · 地網體驗設備）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業務範疇：真靈光 APP 營運、自媒體引流、線上課程、日常與大健康產品進貨物流、一樓硬體體驗設備（甕蒸、能量艙、E 棒）營運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發錢機制：外面萬名代理商（顧問）與推薦人分潤 100% 只由實業公司發放並開立發票，代理商純粹從事商務推廣與導流，徹底不碰醫療行為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八、雙公司防火牆機制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真靈光中醫診所 / 大健康醫療機構（地網合法醫療）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業務範疇：由葉醫師團隊負責，掌管二樓合法中西醫診所醫療行為、心理諮商、高端自費點滴、高階靈性諮詢與整脊調理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發錢機制：只發錢給具備專業國家執照的醫師、治療師、護理師、營養師，以及考核通過的身心靈老師，與外部代理商獎金制度完全隔絕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跨公司合規閉環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代理商「只要介紹人來喝咖啡、做 AI 檢測、做運動、或看醫生或分享好網頁上的內容就好。」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九、練習生海選與菁英孵化制度 (1/4)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新世紀身心靈老師培訓系統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主要交給芊邑、紫昀、陳老師決定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六大禁忌高壓電線（觸犯者立即開除）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補充計畫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必須實習，經歷過很多社會歷練、在社會上打滾過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並且要能夠為個案提供正確的建議，為言行負責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實際作為(大綱)：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(一)、(二) 休息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(三) 內部會議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(四) 個案日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九、練習生海選與菁英孵化制度 (2/4)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(五) 整理課程與個案練習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(六) 個案日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(日) 整理課程與個案練習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0700 吃早餐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0800 ~ 0900 一起運動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0900 ~ 1000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正向特質概述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真：誠實面對自己每個起心動念、不自欺欺人，一言一行皆做到心口合一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九、練習生海選與菁英孵化制度 (3/4)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善：利他心態。明白自己身為社會/宇宙的一部份，時刻受天地/宇宙滋養，因此透過利他回報世界，同時見證自己的價值、建立自信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愛：接納一切，讓萬物如其所是。當放下腦中投射出的幻象、接納萬物的真實，即是空與愛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感恩：時刻受天地萬物滋養、享受各種豐盛，當以謙虛的心感恩自己所能擁有的一切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當責：自己的責任自己扛、為自己的所有起心動念負責。承認自己能進步的地方並自律成長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反向特質概述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九、練習生海選與菁英孵化制度 (4/4)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貪、嗔、癡、慢、疑一律避免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九、練習生海選與菁英孵化制度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2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3508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步驟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內容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① 大量選、嚴格篩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透過網路大面積海選面試 1000 人，嚴格過濾篩選出 100 位具備感恩、正面特質的菁英，進駐宿舍集中調頻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② 捧紅四大明星 IP 示範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中醫師團隊（科學理性醫學）、嚴美瑜（皮拉提斯/瑜珈/營養師前端引流）、紫昀（高階靈性諮詢核武）、陳仲豪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③ 累積海量顧客數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利用一層能量咖啡廳與美瑜教室，創造週週重複進店的高頻獲利漏斗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④ 靈性課程系統化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決策團隊初期親自操作，將 100 個真實調理個案錄影教材、個案推薦文、基礎心性內容固化為標準影片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⑤ 創造高收入結果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幫助簽約並且品格好的老師成為標竿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⑥ 複製自動化培訓系統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新進老師透過影音教材與行政SOP自我演化，運營與行銷系統全面自動化運轉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禁忌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說明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🚫 遲到與不自律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三次無故遲到、說一動才做一動者，直接取消實習與生活費資格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🚫 自我太強、極度負面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傲慢自大、不聽從決策團隊指導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🚫 口是心非與違背尊師重道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私下對陳老師的法、核心理念口是心非不相信者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🚫 自私自利、不合群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凡事只打個人算盤，拒絕配合「彼此共好」之大愛心念者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🚫 情緒極差、愛抱怨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頻率崩潰始作俑者，在基地或私下傳播情緒垃圾者，一律切割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3516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🚫 過度固執與拉幫結派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背後無中生有、嫉妒攻擊，試圖污染其他練習生者，依法追究破壞商譽責任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十、第一年季度執行甘特圖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1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1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1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季度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🏢 運營系統（總經理）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🎬 行銷業務系統（操盤手/拍片團隊）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🔮 靈性系統（陳老師/芊邑/紫昀）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Q1&lt;br&gt;1 ~3個月 &lt;br&gt;基礎建設&lt;br&gt;實體&amp;行銷&amp;靈性系統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徵特助與總經理與法務&lt;br&gt;● 設立雙公司法人，進駐資深會計師&lt;br&gt;● 購入台北核心地段兩億元自有物業&lt;br&gt;● 核心宿舍建置，總裁辦公室規劃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招募「剪輯與企劃與行銷」拍片鐵三角&lt;br&gt;● 研發行銷/業務線上實戰課程&lt;br&gt;● 主力捧紅醫師、美瑜、紫昀、仲豪四大 IP&lt;br&gt;● 建設官網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決策團隊親自研發身心靈核心課程&lt;br&gt;● 定調「感恩、真、善、愛」文化&lt;br&gt;● 芊邑制定千人海選面試標準與六大禁忌條約&lt;br&gt;● 介紹身邊人給陳老師做個案，要錄影做 100 個案教材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Q2&lt;br&gt;4~6個月 &lt;br&gt;海選特訓&lt;br&gt;大量徵選找出對的人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招聘咖啡廳店長與專家： 營養師 &lt;br&gt;● 內部演練系統&lt;br&gt;● 督導兩層樓極致坪效裝潢工程&lt;br&gt;● 首批十萬里與咖啡與花草茶引流物料入庫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大量宣傳海選練習生，選少量菁英&lt;br&gt;● 進駐宿舍跟拍練習生紀實秀&lt;br&gt;● 準備店的行銷工作&lt;br&gt;● 基礎靈性與行銷內容放在網站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大量面試有靈性的練習生&lt;br&gt;● 少量菁英練習生進駐宿舍封閉式特訓&lt;br&gt;● 紫昀與老師將 E 棒及晶圓/能量缽手法SOP標準化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Q3 &lt;br&gt;7~9個月旗艦店試營運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兩層樓旗艦店試營運，請熟客給意見修正&lt;br&gt;● 全面控管行政、運動教室、咖啡廳&lt;br&gt;● 會計師直屬總裁室嚴審雙公司開銷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透過前半年的結果製作行銷與業務線上課程見證&lt;br&gt;● 啟動代理引流&lt;br&gt;● 內部熟客開始進來封測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持續建立個案教材與課程內容&lt;br&gt;● 高頻消費常客免費贈送靈性諮詢，合法練兵&lt;br&gt;● 每三個月考核一次，不適合的停止供薪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Q4  &lt;br&gt;10~12個月 &lt;br&gt;內部封測寫出運營與行銷系統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固化兩層樓整體行政與服務 SOP&lt;br&gt;● 不斷進步服務品質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開始銷售對外行銷與業務課程&lt;br&gt;● 流量全開：透過之前培養的 IP 和塞滿一樓運動課與咖啡廳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自動化培訓複製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第二年Q1&lt;br&gt;1~3個月&lt;br&gt;做出店與診所績效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會計師出具後半年度「單店淨利破百萬」鋼鐵財報&lt;br&gt;●做成連鎖加盟系統(包括手冊 裝潢 培訓)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準備招商說明會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做出整套教材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第二年Q2&lt;br&gt;4~6個月&lt;br&gt;開始開招商會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●準備招商會行政支持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舉辦全台招商加盟大會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●讓培養好的老師對外接個案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第二年Q3~第三年&lt;br&gt;大量招商&lt;br&gt;建立內部決策團隊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●建立決策團隊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 自媒體紀實秀引爆網路巨量關注&lt;br&gt;● 行銷已經考核成功的老師&lt;br&gt;● 大量開店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●建立複製老師團隊與決策團隊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十一、第一年預算精算總表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脂肪全面砍除，資金高度保值。2 億元房產屬於活固定資產，非平白消耗的費用。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⚡ 重點提醒：其中 NT$ 200,000,000 / US$ 6,250,000 為全資購入商辦永久固定資產，本質為資產保存而非耗損費用，具備極高保值與銀行融資實力。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十一、第一年預算精算總表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1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1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1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預算科目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用途說明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金額 (NTD)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金額 (USD)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1. 永久固定資產購置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全資購入台北信義/大安區精華商辦物業（120-160坪），永久基地，最高保值與抗通膨融資實力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200,000,000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6,250,000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2. E棒全台獨家總代理權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一次性買斷全台獨家貨源，鎖定斷貨源，奠定連鎖招商最堅固的產品護城河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15,000,000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468,750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3. 專利晶圓與能量缽量產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首批頂級開模與高質感包裝製作、技術固化，二樓高階調理核心法器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10,000,000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312,500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4. 旗艦基地裝潢工程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兩層樓極致坪效隔間（800萬）、診所與醫療硬體（350萬）、AI身心靈量測硬體（180萬）、首期營運週轉金與規費（210萬）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15,300,000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478,125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5. 頂層人事與六星團隊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總經理、芊邑、光華、特助法務薪資；持牌六星級大團隊（醫師、護理、心理諮商師、物理治療師、整復師、營養師）全年度全薪保障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12,600,000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393,750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6. 天網技術與流量行銷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真靈光APP、「AI免費丟照片出報告系統」開發；組建專業自媒體拍片團隊，全力拍短影音與紀實秀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20,000,000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625,000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7. 法規與變數安全基金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直屬總裁室，因應法規風險與突發變數的純安全墊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10,000,000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312,500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8. 核心團隊/醫護宿舍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據點周邊核心宿舍首年租押金與管理，提供純淨磁場集中練兵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600,000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18,750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9. 輕食能量咖啡廳物料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一層引流專用，首批大宗能量咖啡、特調花草茶研發與進貨物料款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1,000,000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31,250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10. 總裁辦公室頂級茶桌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二樓總裁室禪意聯誼專用頂級茶桌，茶桌外交高階加盟成交用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3,125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💰 第一年總預算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聚焦「身心靈合法破局與資產永久自有」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NT$ 304,700,000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US$ 9,521,875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十二、三年獲利與擴張時程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第一年（業績破局期）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前半年：自有房產購置、專家就位、總經理建立行政與客服流程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後半年：行銷與高頻消費流量全開，每月引流500位新客進店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目標：會計師出具「單店淨利破百萬」的鋼鐵財報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第二年（幾何裂變期）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手握第一年「自有 2 億物業產權 + 單店淨利百萬」鋼鐵財報召開加盟大會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代理商暴增至 1,000個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全台加盟店擴張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第三年（全面複製期）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十二、三年獲利與擴張時程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22 家店全面展開（6間旗艦店 + 16間加盟店）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全球代理商部隊突破 5,000 至 10,000 名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年營業額突破 NT$ 3.5億 / US$ 10，937，500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陳老師圓滿功成身退，正式移交核心決策團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代理商與店家成長預估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旗艦店 vs 加盟店配置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十二、三年獲利與擴張時程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1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1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1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年度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代理商數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店家數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說明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第一年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1（旗艦店）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旗艦店含診所，同時是平台與店家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第二年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1,000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含旗艦店 + 加盟店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第三年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3,000+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22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五縣市各一旗艦店，其餘為加盟店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類型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配置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旗艦店（直營）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診所 + 運動教室 + 咖啡廳 + 諮詢室 + AI量測區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加盟店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諮詢室 + 咖啡廳（運動教室 + 小房間為選配）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十三、企業成長路徑藍圖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6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7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76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76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76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層次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定位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預計時間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條件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收入模式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成長方向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靈性老師 / 個人顧問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2024/7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以自身能力開課或做個案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課程費、諮詢費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打造個人品牌、累積口碑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專業個體戶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2025/1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有穩定學員與回頭客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一對多課程、套裝服務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介紹個案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微型工作室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2025/9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大量尋找老師與業務團隊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課程＋產品銷售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培養老師與業務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公司化經營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2026/7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租下辦公室做培訓與內部測試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B2C課程＋B2B企業方案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建立培訓系統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小型品牌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2026/12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建立規模組織與大量曝光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會員制、訂閱制、品牌產品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打造店面營收樣板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連鎖 / 擴張中心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2027/10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多個實體據點，加盟模式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加盟金、授權費、分店營收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建立標準化課程＋加盟SOP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全國品牌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2028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全台多地區佈局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大型活動、出版、品牌合作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與政府、企業、學校合作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9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平台型企業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2029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建立「真靈光平台」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平台抽成、廣告、流量變現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打造身心靈版「蝦皮＋全聯」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生態系統企業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2030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完整「身心靈生態圈」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多元收入（平台＋實體＋科技＋投資）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成為全球第一身心靈生態系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十四、向陳老師的三個核心直球答辯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❓ 花多少錢？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「我們第一年投入 NT$ 3.047億，其中 NT$ 2 億 是在台北買下自有產權物業，這是保值的固定資產、不是消耗品，隨時能變現或向銀行融資，立於不敗之地。其餘資金全部卡在 E 棒獨家代理、專利晶圓與自媒體流量等核心變現資產上，拒絕任何養生村的重資產大坑。」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❓ 要做什麼？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十四、向陳老師的三個核心直球答辯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「我們徹底做好專業分工：總經理做『鐵血大管家』，管咖啡廳店長、運動教室客服、宿舍自律和診所行政；我和自媒體團隊專職用短影音流量把醫師、美瑜、紫昀、仲豪捧紅，解決外界對個案數與行銷實力的懷疑；芊邑和紫昀專門管理練習生心性，定調『感恩、真善愛』的核心文化，並把靈性諮詢SOP化，確保品質。」</a:t>
            </a:r>
          </a:p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❓ 怎麼做出一個系統，讓身心靈老師拯救很多人？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十四、向陳老師的三個核心直球答辯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「我們一樓用高頻日常的咖啡與美體運動把客流量倒滿。二樓配備中西醫診所、心理諮商師、物理治療師與整復師，做好合法防火牆，不給同行檢舉機會。接著把一樓的熟客與代理商，滿額免費贈送二樓的靈性諮詢！這在法律上百分之百安全，又為練習生送去海量案例合法練兵。第一年砸出百萬淨利報表，第二年直接把這套『兩層樓極致坪效 SOP』複製到全台 22 家加盟店，裂變上萬代理商，這才叫拯救眾生的標準化商業系統！」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企業獨特優勢總覽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5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5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5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面向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獨特優勢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競爭壁壘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公司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身心健康優質品牌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創辦人的故事（不為利益）+ 實體據點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產品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量子能量與其他結合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專利產品、高利潤、日常用品取代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制度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解決所有直銷無法解決的問題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傳統制度，不會被「傳直銷」三個字影響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系統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免費引流、完整系統、趨勢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身心靈老師培訓 + 業務系統培訓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行銷模式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多通路布局（天地人）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只要分享 APP，後面收入就有關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品牌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培養很多身心靈老師推薦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最多身心靈老師推薦的品牌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技術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靈性技術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免費教學，建立信任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(1/9)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600"/>
              </a:spcBef>
              <a:defRPr sz="2400" b="1">
                <a:solidFill>
                  <a:srgbClr val="083344"/>
                </a:solidFill>
                <a:latin typeface="微軟正黑體"/>
              </a:defRPr>
            </a:pPr>
            <a:r>
              <a:t>人才觀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要人才及專才，不要奴才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希望自動自發，不是說一動做一動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每個人都是老闆、主要的人才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不養寄生蟲、米蟲、巨嬰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待辦事項列表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1. 內部運營： 交給總經理或特助，主要負責徵人、行政、內部流程制定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(2/9)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2. 行銷相關： 交給我和徵的自媒體拍片團隊有剪輯與企畫作討論，還有製作行銷與業務相關課程，還有跟拍所有靈性練習生的過程做成節目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3. 靈性相關： 交給靈性培訓部總經理，做內部靈性統一系統和靈性相關 SOP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：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1. 簽約法務，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2. 徵特助－陳政詠＆另外一位，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3. 找我表妹成為內部法務助理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4. 找到辦公室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(3/9)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5. 徵到總經理- 年薪 300 萬起跳，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6. 請會計助理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7. 簽約紫昀、樂樂成為老師以及初期的決策團隊與培訓老師人員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8. 開始製作靈性課程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9. 十萬里一次進 1000 0盒 1000 元總共 1000 萬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10. 葉醫師產品全部先開始製作 1000 萬，後面診所運營要用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(4/9)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11. 徵芊邑成為培訓部總經理 一年 300 萬  負責所有教育事務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12. 徵光華成為業務經理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13. 簽約嚴美瑜成為旗下老師，一年一百萬、簽三年，中間要有分潤 3：7分，或者請 AI 建議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14. 申請所有台北市可以申請的補助，把錢拿回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15. 申請體育署的運動好人才、企業動起來專案，可以有運動經費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-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(5/9)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1. 開始裝潢，裝潢要兩層樓包含運動教室、咖啡廳、診所、諮詢房和攝影棚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2. 徵到醫師與護理師等等，全部人事開銷大概 60 萬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3. 透過專業團隊評比產品進入商業模式，好的儀器、健康食品我們都接受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4. 徵到自媒體運營團隊開始拍片，一位剪片與製課師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5. 探討運用過去我前妻狀況和蔡總監的狀況，告他們增加流量與錢的可能，增加我的流量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6. 內聘運動老師與咖啡廳店長與櫃台(跟練習生一起上課)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7. 捧紅嚴美瑜、紫昀、聘請的中醫師和我自己，和瑜珈老師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(6/9)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8. 每天討論靈性標準課程，做出標準課程綱要，一定要讓大家實踐真誠、善良、與愛 ，常常感恩、不要抱怨 ，並且以品牌為榮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第六個月到第九個月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1. 透過試營運建立內部系統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2. 補店長與店內服務人員(盡全力做到五星好評)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3. 自媒體團隊用來大量引流人來讓診所、運動教室和咖啡廳爆滿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4. 網路上大量面試來跟我們學習的練習生，面試500位，篩選出100位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(7/9)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這時候進來會看到我們團隊已經有醫師、營養師、護理師、商業模式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會比較乖，不會像之前陳靖蓁、Lana 和羅丹彌一樣 根本不會服從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可以相信我們真的可以幫他們引流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剛開始嚴美瑜和紫昀就是很好的標的與示範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(每一位要花 50 萬學費培養加上治裝費，和每個月三萬的零用錢，隨著考核級別和個案數量提升增加收入)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5. 每位練習生培養身心靈基礎，固定三個月考核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(8/9)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6. 大量邀請個案，可以免費處理靈性問題，由陳老師親自處理，複製個案經驗 100 位變成標準教材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7. 建設一個網站，主要是做身心靈一站式服務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裡面有很多正確的身心靈內容，用來引流，然後一進去就可以有一個地方可以免費讓人來量測 AI 身心靈指數來做引流，然後有一個畫面可以丟一張照片進來，我們的老師就可以直接出報告，要幫每個我們面試的專業人員拍藝術照，放在網站上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1. 建立內部系統手冊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2. 內部培訓業務系統成功之後開始招募代理商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 (9/9)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725912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3. 系統完全內部封測成功，服務品質足夠好的時候，開始新聞媒體報導(大致上要半年)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：</a:t>
            </a:r>
          </a:p>
          <a:p>
            <a:pPr>
              <a:spcBef>
                <a:spcPts val="1200"/>
              </a:spcBef>
              <a:defRPr sz="2000" b="0">
                <a:solidFill>
                  <a:srgbClr val="334155"/>
                </a:solidFill>
                <a:latin typeface="微軟正黑體"/>
              </a:defRPr>
            </a:pPr>
            <a:r>
              <a:t>， ，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200" b="1">
                <a:solidFill>
                  <a:srgbClr val="083344"/>
                </a:solidFill>
                <a:latin typeface="微軟正黑體"/>
              </a:defRPr>
            </a:pPr>
            <a:r>
              <a:t>徵才需求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591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2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2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職缺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微軟正黑體"/>
                        </a:rPr>
                        <a:t>條件/說明</a:t>
                      </a:r>
                    </a:p>
                  </a:txBody>
                  <a:tcPr marL="45720" marR="45720" marT="109728" marB="109728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身心靈老師或想學習者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透過座談會招募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特助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細心、主動積極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財稅專業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會計師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醫療專業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醫師/護理師/營養師/醫檢師/藥師/心理師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行銷專業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小編/拍攝/剪片/經紀人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法律專業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latin typeface="微軟正黑體"/>
                        </a:defRPr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微軟正黑體"/>
                        </a:rPr>
                        <a:t>法務助理</a:t>
                      </a:r>
                    </a:p>
                  </a:txBody>
                  <a:tcPr marL="45720" marR="45720" marT="109728" marB="109728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"/>
          <p:cNvSpPr txBox="1">
            <a:spLocks noGrp="1"/>
          </p:cNvSpPr>
          <p:nvPr>
            <p:ph type="body" idx="4294967295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陳仲豪</a:t>
            </a:r>
            <a:endParaRPr sz="2800" b="1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endParaRPr sz="2800" b="1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經歷：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學習身心健康30年</a:t>
            </a:r>
            <a:endParaRPr sz="24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身心靈健康產業21年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身心靈相關花超過400萬</a:t>
            </a:r>
            <a:endParaRPr sz="24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台灣六萬名經銷商推薦第一名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拿過三家身心健康產業第一名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拿過20個以上銷售冠軍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經營過14家身心健康相關實體店，</a:t>
            </a:r>
            <a:endParaRPr sz="24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學員超過10000人</a:t>
            </a:r>
            <a:endParaRPr sz="2200"/>
          </a:p>
        </p:txBody>
      </p:sp>
      <p:pic>
        <p:nvPicPr>
          <p:cNvPr id="283" name="Google Shape;283;p1" descr="C:\Users\ASUS-w10\Desktop\大頭照片\FB大頭貼\1.jpg"/>
          <p:cNvPicPr preferRelativeResize="0"/>
          <p:nvPr/>
        </p:nvPicPr>
        <p:blipFill rotWithShape="1">
          <a:blip r:embed="rId3">
            <a:alphaModFix/>
          </a:blip>
          <a:srcRect l="2546" t="11140" r="-2535" b="8171"/>
          <a:stretch/>
        </p:blipFill>
        <p:spPr>
          <a:xfrm>
            <a:off x="6205960" y="123984"/>
            <a:ext cx="5986040" cy="6440761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Rectangle 283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     18歲上心靈課程訂下人生目標</a:t>
            </a:r>
            <a:endParaRPr sz="5000" b="1"/>
          </a:p>
        </p:txBody>
      </p:sp>
      <p:sp>
        <p:nvSpPr>
          <p:cNvPr id="289" name="Google Shape;289;p2"/>
          <p:cNvSpPr txBox="1">
            <a:spLocks noGrp="1"/>
          </p:cNvSpPr>
          <p:nvPr>
            <p:ph type="body" idx="1"/>
          </p:nvPr>
        </p:nvSpPr>
        <p:spPr>
          <a:xfrm>
            <a:off x="0" y="2182653"/>
            <a:ext cx="11641394" cy="3225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143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一、身心靈健康整合平台(亞健康)</a:t>
            </a:r>
            <a:endParaRPr sz="3600">
              <a:solidFill>
                <a:srgbClr val="FF0000"/>
              </a:solidFill>
            </a:endParaRPr>
          </a:p>
          <a:p>
            <a:pPr marL="342900" lvl="0" indent="-11430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二、身心靈療癒中心(重症)</a:t>
            </a:r>
            <a:endParaRPr sz="3600"/>
          </a:p>
          <a:p>
            <a:pPr marL="342900" lvl="0" indent="-11430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三、身心靈學校&amp;養生村(根本解)</a:t>
            </a:r>
            <a:endParaRPr sz="3600"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2400"/>
              <a:buNone/>
              <a:defRPr>
                <a:latin typeface="微軟正黑體"/>
              </a:defRPr>
            </a:pPr>
            <a:endParaRPr sz="3600"/>
          </a:p>
          <a:p>
            <a:pPr marL="342900" lvl="0" indent="-11430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endParaRPr/>
          </a:p>
        </p:txBody>
      </p:sp>
      <p:pic>
        <p:nvPicPr>
          <p:cNvPr id="290" name="Google Shape;29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2475" y="2973550"/>
            <a:ext cx="5399525" cy="322568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Rectangle 290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平台創立動機</a:t>
            </a:r>
            <a:endParaRPr/>
          </a:p>
        </p:txBody>
      </p:sp>
      <p:sp>
        <p:nvSpPr>
          <p:cNvPr id="296" name="Google Shape;296;p3"/>
          <p:cNvSpPr txBox="1">
            <a:spLocks noGrp="1"/>
          </p:cNvSpPr>
          <p:nvPr>
            <p:ph type="body" idx="4294967295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消費者:幫助更多人身心靈的健康 快樂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從業者:幫助從業者安身立命,進而幫助更多人 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核心:身心靈一站式的服務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Char char="●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包含診所 運動教室 諮詢室 整脊室</a:t>
            </a: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None/>
              <a:defRPr>
                <a:latin typeface="微軟正黑體"/>
              </a:defRPr>
            </a:pP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016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None/>
              <a:defRPr>
                <a:latin typeface="微軟正黑體"/>
              </a:defRPr>
            </a:pP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None/>
              <a:defRPr>
                <a:latin typeface="微軟正黑體"/>
              </a:defRPr>
            </a:pP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2500"/>
              <a:buFont typeface="Noto Sans Symbols"/>
              <a:buNone/>
              <a:defRPr>
                <a:latin typeface="微軟正黑體"/>
              </a:defRPr>
            </a:pPr>
            <a:endParaRPr sz="32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7" name="Rectangle 296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ectangle 297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遇到大師指點 做出規劃</a:t>
            </a:r>
            <a:endParaRPr/>
          </a:p>
        </p:txBody>
      </p:sp>
      <p:sp>
        <p:nvSpPr>
          <p:cNvPr id="302" name="Google Shape;302;p5"/>
          <p:cNvSpPr txBox="1">
            <a:spLocks noGrp="1"/>
          </p:cNvSpPr>
          <p:nvPr>
            <p:ph type="body" idx="4294967295"/>
          </p:nvPr>
        </p:nvSpPr>
        <p:spPr>
          <a:xfrm>
            <a:off x="153987" y="1450975"/>
            <a:ext cx="11884025" cy="540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身心靈界的嚴選蝦皮，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身心靈界的全聯/SOGO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身心靈一站式的服務(諮詢 課程 產品)-定心 定靈</a:t>
            </a:r>
            <a:endParaRPr sz="2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/發掘天賦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業力處理/ 前世回溯/ 身體處理/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靈性定位，處理靈的問題</a:t>
            </a:r>
            <a:endParaRPr sz="2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真正幫助更多人身心靈的提升</a:t>
            </a:r>
            <a:endParaRPr sz="28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8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靈魂導引/接引，連接主神，身心靈老師提升靈性 </a:t>
            </a:r>
            <a:endParaRPr sz="28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03" name="Google Shape;30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3843" y="1450975"/>
            <a:ext cx="3435075" cy="1374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59986" y="2959143"/>
            <a:ext cx="3435075" cy="257629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Rectangle 304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ectangle 305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身心靈流程</a:t>
            </a:r>
            <a:endParaRPr/>
          </a:p>
        </p:txBody>
      </p:sp>
      <p:sp>
        <p:nvSpPr>
          <p:cNvPr id="323" name="Rectangle 32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Rectangle 323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Rounded Rectangle 324"/>
          <p:cNvSpPr/>
          <p:nvPr/>
        </p:nvSpPr>
        <p:spPr>
          <a:xfrm>
            <a:off x="731520" y="1828800"/>
            <a:ext cx="3108960" cy="5486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600" b="1">
                <a:solidFill>
                  <a:srgbClr val="FFFFFF"/>
                </a:solidFill>
                <a:latin typeface="微軟正黑體"/>
              </a:rPr>
              <a:t>流量</a:t>
            </a:r>
          </a:p>
        </p:txBody>
      </p:sp>
      <p:sp>
        <p:nvSpPr>
          <p:cNvPr id="326" name="Rounded Rectangle 325"/>
          <p:cNvSpPr/>
          <p:nvPr/>
        </p:nvSpPr>
        <p:spPr>
          <a:xfrm>
            <a:off x="731520" y="2514600"/>
            <a:ext cx="3108960" cy="3291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天：網站、自媒體、新聞、SEO</a:t>
            </a:r>
          </a:p>
          <a:p>
            <a:pPr algn="l">
              <a:defRPr>
                <a:latin typeface="微軟正黑體"/>
              </a:defRPr>
            </a:pPr>
            <a:endParaRPr sz="1400" b="0">
              <a:solidFill>
                <a:srgbClr val="334155"/>
              </a:solidFill>
              <a:latin typeface="微軟正黑體"/>
            </a:endParaRPr>
          </a:p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地：店面</a:t>
            </a:r>
          </a:p>
          <a:p>
            <a:pPr algn="l">
              <a:defRPr>
                <a:latin typeface="微軟正黑體"/>
              </a:defRPr>
            </a:pPr>
            <a:endParaRPr sz="1400" b="0">
              <a:solidFill>
                <a:srgbClr val="334155"/>
              </a:solidFill>
              <a:latin typeface="微軟正黑體"/>
            </a:endParaRPr>
          </a:p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人：代理商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4343400" y="1828800"/>
            <a:ext cx="3108960" cy="5486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600" b="1">
                <a:solidFill>
                  <a:srgbClr val="FFFFFF"/>
                </a:solidFill>
                <a:latin typeface="微軟正黑體"/>
              </a:rPr>
              <a:t>變現</a:t>
            </a:r>
          </a:p>
        </p:txBody>
      </p:sp>
      <p:sp>
        <p:nvSpPr>
          <p:cNvPr id="328" name="Rounded Rectangle 327"/>
          <p:cNvSpPr/>
          <p:nvPr/>
        </p:nvSpPr>
        <p:spPr>
          <a:xfrm>
            <a:off x="4343400" y="2514600"/>
            <a:ext cx="3108960" cy="3291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諮詢或一對一 (靈氣、諮詢)</a:t>
            </a:r>
          </a:p>
          <a:p>
            <a:pPr algn="l">
              <a:defRPr>
                <a:latin typeface="微軟正黑體"/>
              </a:defRPr>
            </a:pPr>
            <a:endParaRPr sz="1400" b="0">
              <a:solidFill>
                <a:srgbClr val="334155"/>
              </a:solidFill>
              <a:latin typeface="微軟正黑體"/>
            </a:endParaRPr>
          </a:p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課程 (身心靈課程)</a:t>
            </a:r>
          </a:p>
          <a:p>
            <a:pPr algn="l">
              <a:defRPr>
                <a:latin typeface="微軟正黑體"/>
              </a:defRPr>
            </a:pPr>
            <a:endParaRPr sz="1400" b="0">
              <a:solidFill>
                <a:srgbClr val="334155"/>
              </a:solidFill>
              <a:latin typeface="微軟正黑體"/>
            </a:endParaRPr>
          </a:p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產品 (健康食品、儀器)</a:t>
            </a:r>
          </a:p>
        </p:txBody>
      </p:sp>
      <p:sp>
        <p:nvSpPr>
          <p:cNvPr id="329" name="Rounded Rectangle 328"/>
          <p:cNvSpPr/>
          <p:nvPr/>
        </p:nvSpPr>
        <p:spPr>
          <a:xfrm>
            <a:off x="7955280" y="1828800"/>
            <a:ext cx="3108960" cy="54864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600" b="1">
                <a:solidFill>
                  <a:srgbClr val="FFFFFF"/>
                </a:solidFill>
                <a:latin typeface="微軟正黑體"/>
              </a:rPr>
              <a:t>倍增</a:t>
            </a:r>
          </a:p>
        </p:txBody>
      </p:sp>
      <p:sp>
        <p:nvSpPr>
          <p:cNvPr id="330" name="Rounded Rectangle 329"/>
          <p:cNvSpPr/>
          <p:nvPr/>
        </p:nvSpPr>
        <p:spPr>
          <a:xfrm>
            <a:off x="7955280" y="2514600"/>
            <a:ext cx="3108960" cy="32918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代理商</a:t>
            </a:r>
          </a:p>
          <a:p>
            <a:pPr algn="l">
              <a:defRPr>
                <a:latin typeface="微軟正黑體"/>
              </a:defRPr>
            </a:pPr>
            <a:endParaRPr sz="1400" b="0">
              <a:solidFill>
                <a:srgbClr val="334155"/>
              </a:solidFill>
              <a:latin typeface="微軟正黑體"/>
            </a:endParaRPr>
          </a:p>
          <a:p>
            <a:pPr algn="l">
              <a:defRPr>
                <a:latin typeface="微軟正黑體"/>
              </a:defRPr>
            </a:pPr>
            <a:r>
              <a:rPr sz="1400" b="0">
                <a:solidFill>
                  <a:srgbClr val="334155"/>
                </a:solidFill>
                <a:latin typeface="微軟正黑體"/>
              </a:rPr>
              <a:t>加盟店</a:t>
            </a:r>
          </a:p>
        </p:txBody>
      </p:sp>
      <p:sp>
        <p:nvSpPr>
          <p:cNvPr id="331" name="Right Arrow 330"/>
          <p:cNvSpPr/>
          <p:nvPr/>
        </p:nvSpPr>
        <p:spPr>
          <a:xfrm>
            <a:off x="3977639" y="1874519"/>
            <a:ext cx="320040" cy="45720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Right Arrow 331"/>
          <p:cNvSpPr/>
          <p:nvPr/>
        </p:nvSpPr>
        <p:spPr>
          <a:xfrm>
            <a:off x="7589520" y="1874519"/>
            <a:ext cx="320040" cy="457200"/>
          </a:xfrm>
          <a:prstGeom prst="right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Sorts Mill Goudy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半自動化循環流程</a:t>
            </a:r>
            <a:endParaRPr/>
          </a:p>
        </p:txBody>
      </p:sp>
      <p:grpSp>
        <p:nvGrpSpPr>
          <p:cNvPr id="328" name="Google Shape;328;p7"/>
          <p:cNvGrpSpPr/>
          <p:nvPr/>
        </p:nvGrpSpPr>
        <p:grpSpPr>
          <a:xfrm>
            <a:off x="1509904" y="1549400"/>
            <a:ext cx="7606373" cy="4781549"/>
            <a:chOff x="1509904" y="0"/>
            <a:chExt cx="7606373" cy="4781549"/>
          </a:xfrm>
        </p:grpSpPr>
        <p:sp>
          <p:nvSpPr>
            <p:cNvPr id="329" name="Google Shape;329;p7"/>
            <p:cNvSpPr/>
            <p:nvPr/>
          </p:nvSpPr>
          <p:spPr>
            <a:xfrm>
              <a:off x="6466679" y="3251453"/>
              <a:ext cx="2362085" cy="1530096"/>
            </a:xfrm>
            <a:prstGeom prst="roundRect">
              <a:avLst>
                <a:gd name="adj" fmla="val 10000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 txBox="1"/>
            <p:nvPr/>
          </p:nvSpPr>
          <p:spPr>
            <a:xfrm>
              <a:off x="7208916" y="3667588"/>
              <a:ext cx="1586237" cy="1080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200" b="0" i="0" u="none" strike="noStrike" cap="non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儀器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200" b="0" i="0" u="none" strike="noStrike" cap="non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課程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200" b="0" i="0" u="none" strike="noStrike" cap="non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諮詢 </a:t>
              </a:r>
              <a:endParaRPr/>
            </a:p>
            <a:p>
              <a:pPr marL="228600" marR="0" lvl="1" indent="-101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  <a:defRPr>
                  <a:latin typeface="微軟正黑體"/>
                </a:defRPr>
              </a:pP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228600" marR="0" lvl="1" indent="-101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  <a:defRPr>
                  <a:latin typeface="微軟正黑體"/>
                </a:defRPr>
              </a:pP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1509904" y="2486834"/>
              <a:ext cx="3801517" cy="1530096"/>
            </a:xfrm>
            <a:prstGeom prst="roundRect">
              <a:avLst>
                <a:gd name="adj" fmla="val 10000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 txBox="1"/>
            <p:nvPr/>
          </p:nvSpPr>
          <p:spPr>
            <a:xfrm>
              <a:off x="1543515" y="2902969"/>
              <a:ext cx="2593839" cy="1080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228600" marR="0" lvl="1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100" b="0" i="0" u="none" strike="noStrike" cap="non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健康食品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100" b="0" i="0" u="none" strike="noStrike" cap="non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美容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100" b="0" i="0" u="none" strike="noStrike" cap="non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保養品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100" b="0" i="0" u="none" strike="noStrike" cap="non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能量產品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100" b="0" i="0" u="none" strike="noStrike" cap="non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炁的食衣住行育樂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100" b="0" i="0" u="none" strike="noStrike" cap="non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代餐 咖啡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100" b="0" i="0" u="none" strike="noStrike" cap="non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日常用品</a:t>
              </a:r>
              <a:endParaRPr/>
            </a:p>
            <a:p>
              <a:pPr marL="228600" marR="0" lvl="1" indent="-101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  <a:defRPr>
                  <a:latin typeface="微軟正黑體"/>
                </a:defRPr>
              </a:pPr>
              <a:endParaRPr sz="20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6179166" y="0"/>
              <a:ext cx="2937111" cy="1530096"/>
            </a:xfrm>
            <a:prstGeom prst="roundRect">
              <a:avLst>
                <a:gd name="adj" fmla="val 10000"/>
              </a:avLst>
            </a:prstGeom>
            <a:solidFill>
              <a:srgbClr val="F0F9FF">
                <a:alpha val="90196"/>
              </a:srgbClr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 txBox="1"/>
            <p:nvPr/>
          </p:nvSpPr>
          <p:spPr>
            <a:xfrm>
              <a:off x="7093911" y="33611"/>
              <a:ext cx="1988756" cy="1080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200" b="0" i="0" u="none" strike="noStrike" cap="non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量測</a:t>
              </a:r>
              <a:endParaRPr/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200" b="0" i="0" u="none" strike="noStrike" cap="none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量測後分類</a:t>
              </a:r>
              <a:endParaRPr/>
            </a:p>
          </p:txBody>
        </p:sp>
        <p:sp>
          <p:nvSpPr>
            <p:cNvPr id="335" name="Google Shape;335;p7"/>
            <p:cNvSpPr/>
            <p:nvPr/>
          </p:nvSpPr>
          <p:spPr>
            <a:xfrm flipH="1">
              <a:off x="2566606" y="0"/>
              <a:ext cx="2454372" cy="1530096"/>
            </a:xfrm>
            <a:prstGeom prst="roundRect">
              <a:avLst>
                <a:gd name="adj" fmla="val 10000"/>
              </a:avLst>
            </a:prstGeom>
            <a:solidFill>
              <a:srgbClr val="F0F9FF"/>
            </a:solidFill>
            <a:ln w="19050" cap="flat" cmpd="sng">
              <a:solidFill>
                <a:srgbClr val="BAE6F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7"/>
            <p:cNvSpPr txBox="1"/>
            <p:nvPr/>
          </p:nvSpPr>
          <p:spPr>
            <a:xfrm>
              <a:off x="2600217" y="33611"/>
              <a:ext cx="1650838" cy="10803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200" b="0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自媒體</a:t>
              </a:r>
              <a:endParaRPr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200" b="0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IP</a:t>
              </a:r>
              <a:endParaRPr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Microsoft JhengHei"/>
                <a:buChar char="•"/>
                <a:defRPr>
                  <a:latin typeface="微軟正黑體"/>
                </a:defRPr>
              </a:pPr>
              <a:r>
                <a:rPr lang="zh-TW" sz="1200" b="0">
                  <a:solidFill>
                    <a:srgbClr val="334155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實體宣傳</a:t>
              </a:r>
              <a:endParaRPr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3386429" y="272548"/>
              <a:ext cx="2070411" cy="20704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F0F9FF"/>
            </a:solidFill>
            <a:ln w="19050">
              <a:solidFill>
                <a:srgbClr val="BAE6FD"/>
              </a:solidFill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 txBox="1"/>
            <p:nvPr/>
          </p:nvSpPr>
          <p:spPr>
            <a:xfrm>
              <a:off x="3992838" y="878957"/>
              <a:ext cx="1464002" cy="1464002"/>
            </a:xfrm>
            <a:prstGeom prst="rect">
              <a:avLst/>
            </a:prstGeom>
            <a:solidFill>
              <a:srgbClr val="E0F2FE"/>
            </a:solidFill>
            <a:ln w="19050">
              <a:solidFill>
                <a:srgbClr val="7DD3FC"/>
              </a:solidFill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  <a:defRPr>
                  <a:latin typeface="微軟正黑體"/>
                </a:defRPr>
              </a:pPr>
              <a:r>
                <a:rPr lang="zh-TW" sz="1800" b="1" i="0" u="none" strike="noStrike" cap="none">
                  <a:solidFill>
                    <a:srgbClr val="083344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宣傳</a:t>
              </a: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 rot="5400000">
              <a:off x="5552472" y="272548"/>
              <a:ext cx="2070411" cy="20704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F0F9FF"/>
            </a:solidFill>
            <a:ln w="19050">
              <a:solidFill>
                <a:srgbClr val="BAE6FD"/>
              </a:solidFill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7"/>
            <p:cNvSpPr txBox="1"/>
            <p:nvPr/>
          </p:nvSpPr>
          <p:spPr>
            <a:xfrm>
              <a:off x="5552472" y="878957"/>
              <a:ext cx="1464002" cy="1464002"/>
            </a:xfrm>
            <a:prstGeom prst="rect">
              <a:avLst/>
            </a:prstGeom>
            <a:solidFill>
              <a:srgbClr val="E0F2FE"/>
            </a:solidFill>
            <a:ln w="19050">
              <a:solidFill>
                <a:srgbClr val="7DD3FC"/>
              </a:solidFill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  <a:defRPr>
                  <a:latin typeface="微軟正黑體"/>
                </a:defRPr>
              </a:pPr>
              <a:r>
                <a:rPr lang="zh-TW" sz="1800" b="1" i="0" u="none" strike="noStrike" cap="none">
                  <a:solidFill>
                    <a:srgbClr val="083344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量測</a:t>
              </a: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 rot="10800000">
              <a:off x="5552472" y="2438590"/>
              <a:ext cx="2070411" cy="20704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F0F9FF"/>
            </a:solidFill>
            <a:ln w="19050">
              <a:solidFill>
                <a:srgbClr val="BAE6FD"/>
              </a:solidFill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7"/>
            <p:cNvSpPr txBox="1"/>
            <p:nvPr/>
          </p:nvSpPr>
          <p:spPr>
            <a:xfrm>
              <a:off x="5552472" y="2438590"/>
              <a:ext cx="1464002" cy="1464002"/>
            </a:xfrm>
            <a:prstGeom prst="rect">
              <a:avLst/>
            </a:prstGeom>
            <a:solidFill>
              <a:srgbClr val="E0F2FE"/>
            </a:solidFill>
            <a:ln w="19050">
              <a:solidFill>
                <a:srgbClr val="7DD3FC"/>
              </a:solidFill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  <a:defRPr>
                  <a:latin typeface="微軟正黑體"/>
                </a:defRPr>
              </a:pPr>
              <a:r>
                <a:rPr lang="zh-TW" sz="1800" b="1" i="0" u="none" strike="noStrike" cap="none">
                  <a:solidFill>
                    <a:srgbClr val="083344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課程</a:t>
              </a: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 rot="-5400000">
              <a:off x="3386429" y="2438590"/>
              <a:ext cx="2070411" cy="207041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cubicBezTo>
                    <a:pt x="0" y="53726"/>
                    <a:pt x="53726" y="0"/>
                    <a:pt x="120000" y="0"/>
                  </a:cubicBezTo>
                  <a:lnTo>
                    <a:pt x="120000" y="120000"/>
                  </a:lnTo>
                  <a:close/>
                </a:path>
              </a:pathLst>
            </a:custGeom>
            <a:solidFill>
              <a:srgbClr val="F0F9FF"/>
            </a:solidFill>
            <a:ln w="19050">
              <a:solidFill>
                <a:srgbClr val="BAE6FD"/>
              </a:solidFill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 txBox="1"/>
            <p:nvPr/>
          </p:nvSpPr>
          <p:spPr>
            <a:xfrm>
              <a:off x="3992838" y="2438590"/>
              <a:ext cx="1464002" cy="1464002"/>
            </a:xfrm>
            <a:prstGeom prst="rect">
              <a:avLst/>
            </a:prstGeom>
            <a:solidFill>
              <a:srgbClr val="E0F2FE"/>
            </a:solidFill>
            <a:ln w="19050">
              <a:solidFill>
                <a:srgbClr val="7DD3FC"/>
              </a:solidFill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3600"/>
                <a:buFont typeface="Microsoft JhengHei"/>
                <a:buNone/>
                <a:defRPr>
                  <a:latin typeface="微軟正黑體"/>
                </a:defRPr>
              </a:pPr>
              <a:r>
                <a:rPr lang="zh-TW" sz="1800" b="1" i="0" u="none" strike="noStrike" cap="none">
                  <a:solidFill>
                    <a:srgbClr val="083344"/>
                  </a:solidFill>
                  <a:latin typeface="微軟正黑體"/>
                  <a:ea typeface="Microsoft JhengHei"/>
                  <a:cs typeface="Microsoft JhengHei"/>
                  <a:sym typeface="Microsoft JhengHei"/>
                </a:rPr>
                <a:t>產品</a:t>
              </a: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5147235" y="1960435"/>
              <a:ext cx="714841" cy="62160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522" y="60000"/>
                  </a:move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F0F9FF"/>
            </a:solidFill>
            <a:ln w="19050">
              <a:solidFill>
                <a:srgbClr val="BAE6FD"/>
              </a:solidFill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10800000">
              <a:off x="5147235" y="2199513"/>
              <a:ext cx="714841" cy="621601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522" y="60000"/>
                  </a:moveTo>
                  <a:cubicBezTo>
                    <a:pt x="6522" y="34374"/>
                    <a:pt x="25367" y="12492"/>
                    <a:pt x="51107" y="8231"/>
                  </a:cubicBezTo>
                  <a:cubicBezTo>
                    <a:pt x="76848" y="3970"/>
                    <a:pt x="101961" y="18574"/>
                    <a:pt x="110521" y="42783"/>
                  </a:cubicBezTo>
                  <a:lnTo>
                    <a:pt x="116427" y="42783"/>
                  </a:lnTo>
                  <a:lnTo>
                    <a:pt x="106957" y="60000"/>
                  </a:lnTo>
                  <a:lnTo>
                    <a:pt x="90340" y="42783"/>
                  </a:lnTo>
                  <a:lnTo>
                    <a:pt x="95921" y="42783"/>
                  </a:lnTo>
                  <a:cubicBezTo>
                    <a:pt x="87358" y="27416"/>
                    <a:pt x="68572" y="19475"/>
                    <a:pt x="50448" y="23561"/>
                  </a:cubicBezTo>
                  <a:cubicBezTo>
                    <a:pt x="32324" y="27648"/>
                    <a:pt x="19565" y="42702"/>
                    <a:pt x="19565" y="60000"/>
                  </a:cubicBezTo>
                  <a:close/>
                </a:path>
              </a:pathLst>
            </a:custGeom>
            <a:solidFill>
              <a:srgbClr val="F0F9FF"/>
            </a:solidFill>
            <a:ln w="19050">
              <a:solidFill>
                <a:srgbClr val="BAE6FD"/>
              </a:solidFill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7" name="Google Shape;347;p7" descr="一張含有 文字, 室內, 地板, 門 的圖片&#10;&#10;AI 產生的內容可能不正確。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6125" y="4056276"/>
            <a:ext cx="2237576" cy="237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7"/>
          <p:cNvPicPr preferRelativeResize="0"/>
          <p:nvPr/>
        </p:nvPicPr>
        <p:blipFill rotWithShape="1">
          <a:blip r:embed="rId4">
            <a:alphaModFix/>
          </a:blip>
          <a:srcRect l="6387" r="5404" b="-5514"/>
          <a:stretch/>
        </p:blipFill>
        <p:spPr>
          <a:xfrm rot="158417">
            <a:off x="9277527" y="773983"/>
            <a:ext cx="1009056" cy="2852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7" descr="一張含有 螢幕擷取畫面, 鮮豔, 圖形 的圖片&#10;&#10;AI 產生的內容可能不正確。"/>
          <p:cNvPicPr preferRelativeResize="0"/>
          <p:nvPr/>
        </p:nvPicPr>
        <p:blipFill rotWithShape="1">
          <a:blip r:embed="rId5">
            <a:alphaModFix/>
          </a:blip>
          <a:srcRect t="26385" r="-1196"/>
          <a:stretch/>
        </p:blipFill>
        <p:spPr>
          <a:xfrm>
            <a:off x="211521" y="1121098"/>
            <a:ext cx="2115793" cy="861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1521" y="2107705"/>
            <a:ext cx="1415584" cy="1415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7" descr="一張含有 符號, 象徵物, 標誌, 圓形 的圖片&#10;&#10;AI 產生的內容可能不正確。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6889" y="5370467"/>
            <a:ext cx="642424" cy="702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1521" y="3647982"/>
            <a:ext cx="1098873" cy="1464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7" descr="一張含有 文字, 箱子, 紅色, 設計 的圖片&#10;&#10;AI 產生的內容可能不正確。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98580" y="5112816"/>
            <a:ext cx="1706067" cy="1168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7" title="689193441_857769703341717_1973727767636507083_n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776423" y="3949927"/>
            <a:ext cx="1415575" cy="2123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7" title="2408280913306687194200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447850" y="1151400"/>
            <a:ext cx="3163373" cy="237252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Rectangle 355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Rectangle 356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8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身心靈一站式服務培訓系統</a:t>
            </a:r>
            <a:endParaRPr/>
          </a:p>
        </p:txBody>
      </p:sp>
      <p:sp>
        <p:nvSpPr>
          <p:cNvPr id="411" name="Rectangle 410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Rectangle 411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Rounded Rectangle 412"/>
          <p:cNvSpPr/>
          <p:nvPr/>
        </p:nvSpPr>
        <p:spPr>
          <a:xfrm>
            <a:off x="4032504" y="1508760"/>
            <a:ext cx="4114800" cy="594360"/>
          </a:xfrm>
          <a:prstGeom prst="round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500" b="1">
                <a:solidFill>
                  <a:srgbClr val="FFFFFF"/>
                </a:solidFill>
                <a:latin typeface="微軟正黑體"/>
              </a:rPr>
              <a:t>身心靈整合平台</a:t>
            </a:r>
          </a:p>
        </p:txBody>
      </p:sp>
      <p:sp>
        <p:nvSpPr>
          <p:cNvPr id="414" name="Rounded Rectangle 413"/>
          <p:cNvSpPr/>
          <p:nvPr/>
        </p:nvSpPr>
        <p:spPr>
          <a:xfrm>
            <a:off x="4489704" y="2194560"/>
            <a:ext cx="3200400" cy="3657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整合一致性</a:t>
            </a:r>
          </a:p>
        </p:txBody>
      </p:sp>
      <p:sp>
        <p:nvSpPr>
          <p:cNvPr id="415" name="Rectangle 414"/>
          <p:cNvSpPr/>
          <p:nvPr/>
        </p:nvSpPr>
        <p:spPr>
          <a:xfrm>
            <a:off x="1943100" y="2697480"/>
            <a:ext cx="8311896" cy="2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Rectangle 415"/>
          <p:cNvSpPr/>
          <p:nvPr/>
        </p:nvSpPr>
        <p:spPr>
          <a:xfrm>
            <a:off x="6095390" y="2560320"/>
            <a:ext cx="2540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Rectangle 416"/>
          <p:cNvSpPr/>
          <p:nvPr/>
        </p:nvSpPr>
        <p:spPr>
          <a:xfrm>
            <a:off x="1943100" y="2697480"/>
            <a:ext cx="2540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Rounded Rectangle 417"/>
          <p:cNvSpPr/>
          <p:nvPr/>
        </p:nvSpPr>
        <p:spPr>
          <a:xfrm>
            <a:off x="731520" y="2834640"/>
            <a:ext cx="2423160" cy="4572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宣傳</a:t>
            </a:r>
          </a:p>
        </p:txBody>
      </p:sp>
      <p:sp>
        <p:nvSpPr>
          <p:cNvPr id="419" name="Down Arrow 418"/>
          <p:cNvSpPr/>
          <p:nvPr/>
        </p:nvSpPr>
        <p:spPr>
          <a:xfrm>
            <a:off x="1833372" y="333756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Rounded Rectangle 419"/>
          <p:cNvSpPr/>
          <p:nvPr/>
        </p:nvSpPr>
        <p:spPr>
          <a:xfrm>
            <a:off x="731520" y="356616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334155"/>
                </a:solidFill>
                <a:latin typeface="微軟正黑體"/>
              </a:rPr>
              <a:t>流量</a:t>
            </a:r>
          </a:p>
        </p:txBody>
      </p:sp>
      <p:sp>
        <p:nvSpPr>
          <p:cNvPr id="421" name="Down Arrow 420"/>
          <p:cNvSpPr/>
          <p:nvPr/>
        </p:nvSpPr>
        <p:spPr>
          <a:xfrm>
            <a:off x="1833372" y="411480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Rounded Rectangle 421"/>
          <p:cNvSpPr/>
          <p:nvPr/>
        </p:nvSpPr>
        <p:spPr>
          <a:xfrm>
            <a:off x="731520" y="4343400"/>
            <a:ext cx="24231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行銷與業務培訓</a:t>
            </a:r>
          </a:p>
        </p:txBody>
      </p:sp>
      <p:sp>
        <p:nvSpPr>
          <p:cNvPr id="423" name="Down Arrow 422"/>
          <p:cNvSpPr/>
          <p:nvPr/>
        </p:nvSpPr>
        <p:spPr>
          <a:xfrm>
            <a:off x="1833372" y="4983480"/>
            <a:ext cx="219456" cy="22860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Rounded Rectangle 423"/>
          <p:cNvSpPr/>
          <p:nvPr/>
        </p:nvSpPr>
        <p:spPr>
          <a:xfrm>
            <a:off x="731520" y="525780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0">
                <a:solidFill>
                  <a:srgbClr val="334155"/>
                </a:solidFill>
                <a:latin typeface="微軟正黑體"/>
              </a:rPr>
              <a:t>流量變現</a:t>
            </a:r>
          </a:p>
        </p:txBody>
      </p:sp>
      <p:sp>
        <p:nvSpPr>
          <p:cNvPr id="425" name="Rectangle 424"/>
          <p:cNvSpPr/>
          <p:nvPr/>
        </p:nvSpPr>
        <p:spPr>
          <a:xfrm>
            <a:off x="4713732" y="2697480"/>
            <a:ext cx="2540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Rounded Rectangle 425"/>
          <p:cNvSpPr/>
          <p:nvPr/>
        </p:nvSpPr>
        <p:spPr>
          <a:xfrm>
            <a:off x="3502152" y="2834640"/>
            <a:ext cx="2423160" cy="4572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量測</a:t>
            </a:r>
          </a:p>
        </p:txBody>
      </p:sp>
      <p:sp>
        <p:nvSpPr>
          <p:cNvPr id="427" name="Down Arrow 426"/>
          <p:cNvSpPr/>
          <p:nvPr/>
        </p:nvSpPr>
        <p:spPr>
          <a:xfrm>
            <a:off x="4604004" y="333756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Rounded Rectangle 427"/>
          <p:cNvSpPr/>
          <p:nvPr/>
        </p:nvSpPr>
        <p:spPr>
          <a:xfrm>
            <a:off x="3502152" y="356616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334155"/>
                </a:solidFill>
                <a:latin typeface="微軟正黑體"/>
              </a:rPr>
              <a:t>可數據化</a:t>
            </a:r>
          </a:p>
        </p:txBody>
      </p:sp>
      <p:sp>
        <p:nvSpPr>
          <p:cNvPr id="429" name="Down Arrow 428"/>
          <p:cNvSpPr/>
          <p:nvPr/>
        </p:nvSpPr>
        <p:spPr>
          <a:xfrm>
            <a:off x="4604004" y="411480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Rounded Rectangle 429"/>
          <p:cNvSpPr/>
          <p:nvPr/>
        </p:nvSpPr>
        <p:spPr>
          <a:xfrm>
            <a:off x="3502152" y="4343400"/>
            <a:ext cx="24231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AI身心靈檢測</a:t>
            </a:r>
          </a:p>
        </p:txBody>
      </p:sp>
      <p:sp>
        <p:nvSpPr>
          <p:cNvPr id="431" name="Down Arrow 430"/>
          <p:cNvSpPr/>
          <p:nvPr/>
        </p:nvSpPr>
        <p:spPr>
          <a:xfrm>
            <a:off x="4604004" y="4983480"/>
            <a:ext cx="219456" cy="22860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Rounded Rectangle 431"/>
          <p:cNvSpPr/>
          <p:nvPr/>
        </p:nvSpPr>
        <p:spPr>
          <a:xfrm>
            <a:off x="3502152" y="525780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0">
                <a:solidFill>
                  <a:srgbClr val="334155"/>
                </a:solidFill>
                <a:latin typeface="微軟正黑體"/>
              </a:rPr>
              <a:t>身心靈量測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7484363" y="2697480"/>
            <a:ext cx="2540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Rounded Rectangle 433"/>
          <p:cNvSpPr/>
          <p:nvPr/>
        </p:nvSpPr>
        <p:spPr>
          <a:xfrm>
            <a:off x="6272783" y="2834640"/>
            <a:ext cx="2423160" cy="4572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諮詢 / 課程</a:t>
            </a:r>
          </a:p>
        </p:txBody>
      </p:sp>
      <p:sp>
        <p:nvSpPr>
          <p:cNvPr id="435" name="Down Arrow 434"/>
          <p:cNvSpPr/>
          <p:nvPr/>
        </p:nvSpPr>
        <p:spPr>
          <a:xfrm>
            <a:off x="7374635" y="333756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Rounded Rectangle 435"/>
          <p:cNvSpPr/>
          <p:nvPr/>
        </p:nvSpPr>
        <p:spPr>
          <a:xfrm>
            <a:off x="6272783" y="356616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334155"/>
                </a:solidFill>
                <a:latin typeface="微軟正黑體"/>
              </a:rPr>
              <a:t>獨特技術諮詢</a:t>
            </a:r>
          </a:p>
        </p:txBody>
      </p:sp>
      <p:sp>
        <p:nvSpPr>
          <p:cNvPr id="437" name="Down Arrow 436"/>
          <p:cNvSpPr/>
          <p:nvPr/>
        </p:nvSpPr>
        <p:spPr>
          <a:xfrm>
            <a:off x="7374635" y="411480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Rounded Rectangle 437"/>
          <p:cNvSpPr/>
          <p:nvPr/>
        </p:nvSpPr>
        <p:spPr>
          <a:xfrm>
            <a:off x="6272783" y="4343400"/>
            <a:ext cx="24231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身心靈老師培訓</a:t>
            </a:r>
          </a:p>
        </p:txBody>
      </p:sp>
      <p:sp>
        <p:nvSpPr>
          <p:cNvPr id="439" name="Down Arrow 438"/>
          <p:cNvSpPr/>
          <p:nvPr/>
        </p:nvSpPr>
        <p:spPr>
          <a:xfrm>
            <a:off x="7374635" y="4983480"/>
            <a:ext cx="219456" cy="22860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Rounded Rectangle 439"/>
          <p:cNvSpPr/>
          <p:nvPr/>
        </p:nvSpPr>
        <p:spPr>
          <a:xfrm>
            <a:off x="6272783" y="525780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0">
                <a:solidFill>
                  <a:srgbClr val="334155"/>
                </a:solidFill>
                <a:latin typeface="微軟正黑體"/>
              </a:rPr>
              <a:t>可複製靈性提升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10254996" y="2697480"/>
            <a:ext cx="25400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Rounded Rectangle 441"/>
          <p:cNvSpPr/>
          <p:nvPr/>
        </p:nvSpPr>
        <p:spPr>
          <a:xfrm>
            <a:off x="9043416" y="2834640"/>
            <a:ext cx="2423160" cy="4572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產品</a:t>
            </a:r>
          </a:p>
        </p:txBody>
      </p:sp>
      <p:sp>
        <p:nvSpPr>
          <p:cNvPr id="443" name="Down Arrow 442"/>
          <p:cNvSpPr/>
          <p:nvPr/>
        </p:nvSpPr>
        <p:spPr>
          <a:xfrm>
            <a:off x="10145268" y="333756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Rounded Rectangle 443"/>
          <p:cNvSpPr/>
          <p:nvPr/>
        </p:nvSpPr>
        <p:spPr>
          <a:xfrm>
            <a:off x="9043416" y="356616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334155"/>
                </a:solidFill>
                <a:latin typeface="微軟正黑體"/>
              </a:rPr>
              <a:t>建議顧客所需</a:t>
            </a:r>
          </a:p>
        </p:txBody>
      </p:sp>
      <p:sp>
        <p:nvSpPr>
          <p:cNvPr id="445" name="Down Arrow 444"/>
          <p:cNvSpPr/>
          <p:nvPr/>
        </p:nvSpPr>
        <p:spPr>
          <a:xfrm>
            <a:off x="10145268" y="4114800"/>
            <a:ext cx="219456" cy="1828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Rounded Rectangle 445"/>
          <p:cNvSpPr/>
          <p:nvPr/>
        </p:nvSpPr>
        <p:spPr>
          <a:xfrm>
            <a:off x="9043416" y="4343400"/>
            <a:ext cx="24231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產品培訓</a:t>
            </a:r>
          </a:p>
        </p:txBody>
      </p:sp>
      <p:sp>
        <p:nvSpPr>
          <p:cNvPr id="447" name="Down Arrow 446"/>
          <p:cNvSpPr/>
          <p:nvPr/>
        </p:nvSpPr>
        <p:spPr>
          <a:xfrm>
            <a:off x="10145268" y="4983480"/>
            <a:ext cx="219456" cy="22860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Rounded Rectangle 447"/>
          <p:cNvSpPr/>
          <p:nvPr/>
        </p:nvSpPr>
        <p:spPr>
          <a:xfrm>
            <a:off x="9043416" y="5257800"/>
            <a:ext cx="242316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0">
                <a:solidFill>
                  <a:srgbClr val="334155"/>
                </a:solidFill>
                <a:latin typeface="微軟正黑體"/>
              </a:rPr>
              <a:t>獨特產品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9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代理商的收入來源</a:t>
            </a:r>
            <a:endParaRPr/>
          </a:p>
        </p:txBody>
      </p:sp>
      <p:sp>
        <p:nvSpPr>
          <p:cNvPr id="416" name="Google Shape;416;p9"/>
          <p:cNvSpPr txBox="1">
            <a:spLocks noGrp="1"/>
          </p:cNvSpPr>
          <p:nvPr>
            <p:ph type="body" idx="1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/>
          </a:p>
        </p:txBody>
      </p:sp>
      <p:graphicFrame>
        <p:nvGraphicFramePr>
          <p:cNvPr id="417" name="Google Shape;417;p9"/>
          <p:cNvGraphicFramePr/>
          <p:nvPr/>
        </p:nvGraphicFramePr>
        <p:xfrm>
          <a:off x="483079" y="112143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1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1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b="1" u="none" strike="noStrike" cap="none">
                          <a:solidFill>
                            <a:srgbClr val="FFFFFF"/>
                          </a:solidFill>
                          <a:latin typeface="微軟正黑體"/>
                        </a:rPr>
                        <a:t>權利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b="1">
                          <a:solidFill>
                            <a:srgbClr val="FFFFFF"/>
                          </a:solidFill>
                          <a:latin typeface="微軟正黑體"/>
                        </a:rPr>
                        <a:t>利潤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b="1">
                          <a:solidFill>
                            <a:srgbClr val="FFFFFF"/>
                          </a:solidFill>
                          <a:latin typeface="微軟正黑體"/>
                        </a:rPr>
                        <a:t>IFEEL 量測儀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7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一．所有產品代理權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一．產品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一.單機版 20萬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二．所有課程與系統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二．課程</a:t>
                      </a:r>
                      <a:endParaRPr sz="18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endParaRPr sz="1800"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二.雲端版 2,8萬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endParaRPr sz="1800"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三．諮詢</a:t>
                      </a:r>
                      <a:endParaRPr sz="18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endParaRPr sz="1800"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 三.連鎖通路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三．經紀人的權限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四．直播主流量</a:t>
                      </a:r>
                      <a:endParaRPr sz="180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endParaRPr sz="1800"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四.國家政府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5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endParaRPr sz="1800"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entury Gothic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五．ＯＤＭ訂單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endParaRPr sz="1800"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五.報告收入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7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endParaRPr sz="1800"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六.廣告方案 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六.結合產品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7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endParaRPr sz="1800"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七.行銷方案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endParaRPr sz="1800"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18" name="Rectangle 417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Rectangle 418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0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 三年計畫 </a:t>
            </a:r>
            <a:endParaRPr/>
          </a:p>
        </p:txBody>
      </p:sp>
      <p:sp>
        <p:nvSpPr>
          <p:cNvPr id="423" name="Google Shape;423;p10"/>
          <p:cNvSpPr txBox="1">
            <a:spLocks noGrp="1"/>
          </p:cNvSpPr>
          <p:nvPr>
            <p:ph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第一年,培訓,練兵練功,就像培養一個身心靈老師偶像團體一樣</a:t>
            </a:r>
            <a:endParaRPr/>
          </a:p>
          <a:p>
            <a:pPr marL="45720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第二年,培訓+產品, 賺錢 開說明會 </a:t>
            </a:r>
            <a:endParaRPr/>
          </a:p>
          <a:p>
            <a:pPr marL="4572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>
                <a:latin typeface="微軟正黑體"/>
              </a:defRPr>
            </a:pPr>
            <a:endParaRPr sz="3600"/>
          </a:p>
          <a:p>
            <a:pPr marL="457200" lvl="0" indent="-355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Char char="·"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第三年,培訓+產品+大量開店</a:t>
            </a:r>
            <a:endParaRPr sz="3600"/>
          </a:p>
        </p:txBody>
      </p:sp>
      <p:sp>
        <p:nvSpPr>
          <p:cNvPr id="424" name="Rectangle 423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Rectangle 42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Rounded Rectangle 427"/>
          <p:cNvSpPr/>
          <p:nvPr/>
        </p:nvSpPr>
        <p:spPr>
          <a:xfrm>
            <a:off x="4901184" y="1645920"/>
            <a:ext cx="2377440" cy="594360"/>
          </a:xfrm>
          <a:prstGeom prst="round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400" b="1">
                <a:solidFill>
                  <a:srgbClr val="FFFFFF"/>
                </a:solidFill>
                <a:latin typeface="微軟正黑體"/>
              </a:rPr>
              <a:t>CEO</a:t>
            </a:r>
          </a:p>
        </p:txBody>
      </p:sp>
      <p:sp>
        <p:nvSpPr>
          <p:cNvPr id="429" name="Rounded Rectangle 428"/>
          <p:cNvSpPr/>
          <p:nvPr/>
        </p:nvSpPr>
        <p:spPr>
          <a:xfrm>
            <a:off x="1645920" y="1645920"/>
            <a:ext cx="237744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真XX集團</a:t>
            </a:r>
          </a:p>
        </p:txBody>
      </p:sp>
      <p:sp>
        <p:nvSpPr>
          <p:cNvPr id="430" name="Rounded Rectangle 429"/>
          <p:cNvSpPr/>
          <p:nvPr/>
        </p:nvSpPr>
        <p:spPr>
          <a:xfrm>
            <a:off x="8138160" y="1645920"/>
            <a:ext cx="2377440" cy="5943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陳老師</a:t>
            </a:r>
          </a:p>
          <a:p>
            <a:pPr algn="ctr">
              <a:defRPr>
                <a:latin typeface="微軟正黑體"/>
              </a:defRPr>
            </a:pPr>
            <a:r>
              <a:rPr sz="1200" b="1">
                <a:solidFill>
                  <a:srgbClr val="083344"/>
                </a:solidFill>
                <a:latin typeface="微軟正黑體"/>
              </a:rPr>
              <a:t>(最高隱藏顧問)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4023360" y="1938528"/>
            <a:ext cx="877824" cy="2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Rectangle 431"/>
          <p:cNvSpPr/>
          <p:nvPr/>
        </p:nvSpPr>
        <p:spPr>
          <a:xfrm>
            <a:off x="7278624" y="1938528"/>
            <a:ext cx="859536" cy="2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Rectangle 432"/>
          <p:cNvSpPr/>
          <p:nvPr/>
        </p:nvSpPr>
        <p:spPr>
          <a:xfrm>
            <a:off x="1691640" y="2743200"/>
            <a:ext cx="8778240" cy="2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Rectangle 433"/>
          <p:cNvSpPr/>
          <p:nvPr/>
        </p:nvSpPr>
        <p:spPr>
          <a:xfrm>
            <a:off x="6089904" y="2240280"/>
            <a:ext cx="25400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Rectangle 434"/>
          <p:cNvSpPr/>
          <p:nvPr/>
        </p:nvSpPr>
        <p:spPr>
          <a:xfrm>
            <a:off x="1691640" y="2743200"/>
            <a:ext cx="254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Rounded Rectangle 435"/>
          <p:cNvSpPr/>
          <p:nvPr/>
        </p:nvSpPr>
        <p:spPr>
          <a:xfrm>
            <a:off x="731520" y="3108960"/>
            <a:ext cx="1920240" cy="1097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TIKTOK公會</a:t>
            </a:r>
          </a:p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(流量來源)</a:t>
            </a:r>
          </a:p>
        </p:txBody>
      </p:sp>
      <p:sp>
        <p:nvSpPr>
          <p:cNvPr id="437" name="Down Arrow 436"/>
          <p:cNvSpPr/>
          <p:nvPr/>
        </p:nvSpPr>
        <p:spPr>
          <a:xfrm>
            <a:off x="1581912" y="4343400"/>
            <a:ext cx="219456" cy="4114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Rounded Rectangle 437"/>
          <p:cNvSpPr/>
          <p:nvPr/>
        </p:nvSpPr>
        <p:spPr>
          <a:xfrm>
            <a:off x="731520" y="4846320"/>
            <a:ext cx="192024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400" b="1">
                <a:solidFill>
                  <a:srgbClr val="FFFFFF"/>
                </a:solidFill>
                <a:latin typeface="微軟正黑體"/>
              </a:rPr>
              <a:t>流量</a:t>
            </a:r>
          </a:p>
        </p:txBody>
      </p:sp>
      <p:sp>
        <p:nvSpPr>
          <p:cNvPr id="439" name="Rectangle 438"/>
          <p:cNvSpPr/>
          <p:nvPr/>
        </p:nvSpPr>
        <p:spPr>
          <a:xfrm>
            <a:off x="3886200" y="2743200"/>
            <a:ext cx="254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Rounded Rectangle 439"/>
          <p:cNvSpPr/>
          <p:nvPr/>
        </p:nvSpPr>
        <p:spPr>
          <a:xfrm>
            <a:off x="2926080" y="3108960"/>
            <a:ext cx="1920240" cy="1097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真XX身心靈平台</a:t>
            </a:r>
          </a:p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(第一品牌)</a:t>
            </a:r>
          </a:p>
        </p:txBody>
      </p:sp>
      <p:sp>
        <p:nvSpPr>
          <p:cNvPr id="441" name="Down Arrow 440"/>
          <p:cNvSpPr/>
          <p:nvPr/>
        </p:nvSpPr>
        <p:spPr>
          <a:xfrm>
            <a:off x="3776472" y="4343400"/>
            <a:ext cx="219456" cy="4114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Rounded Rectangle 441"/>
          <p:cNvSpPr/>
          <p:nvPr/>
        </p:nvSpPr>
        <p:spPr>
          <a:xfrm>
            <a:off x="2926080" y="4846320"/>
            <a:ext cx="192024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400" b="1">
                <a:solidFill>
                  <a:srgbClr val="FFFFFF"/>
                </a:solidFill>
                <a:latin typeface="微軟正黑體"/>
              </a:rPr>
              <a:t>存量</a:t>
            </a:r>
          </a:p>
        </p:txBody>
      </p:sp>
      <p:sp>
        <p:nvSpPr>
          <p:cNvPr id="443" name="Rectangle 442"/>
          <p:cNvSpPr/>
          <p:nvPr/>
        </p:nvSpPr>
        <p:spPr>
          <a:xfrm>
            <a:off x="6080760" y="2743200"/>
            <a:ext cx="254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Rounded Rectangle 443"/>
          <p:cNvSpPr/>
          <p:nvPr/>
        </p:nvSpPr>
        <p:spPr>
          <a:xfrm>
            <a:off x="5120640" y="3108960"/>
            <a:ext cx="1920240" cy="1097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真XX社群媒體</a:t>
            </a:r>
          </a:p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(真的facebook)</a:t>
            </a:r>
          </a:p>
        </p:txBody>
      </p:sp>
      <p:sp>
        <p:nvSpPr>
          <p:cNvPr id="445" name="Down Arrow 444"/>
          <p:cNvSpPr/>
          <p:nvPr/>
        </p:nvSpPr>
        <p:spPr>
          <a:xfrm>
            <a:off x="5971032" y="4343400"/>
            <a:ext cx="219456" cy="4114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Rounded Rectangle 445"/>
          <p:cNvSpPr/>
          <p:nvPr/>
        </p:nvSpPr>
        <p:spPr>
          <a:xfrm>
            <a:off x="5120640" y="4846320"/>
            <a:ext cx="192024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400" b="1">
                <a:solidFill>
                  <a:srgbClr val="FFFFFF"/>
                </a:solidFill>
                <a:latin typeface="微軟正黑體"/>
              </a:rPr>
              <a:t>大量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8275319" y="2743200"/>
            <a:ext cx="254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Rounded Rectangle 447"/>
          <p:cNvSpPr/>
          <p:nvPr/>
        </p:nvSpPr>
        <p:spPr>
          <a:xfrm>
            <a:off x="7315199" y="3108960"/>
            <a:ext cx="1920240" cy="1097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產品製造</a:t>
            </a:r>
          </a:p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(量子能量&amp;訊息製造廠)</a:t>
            </a:r>
          </a:p>
        </p:txBody>
      </p:sp>
      <p:sp>
        <p:nvSpPr>
          <p:cNvPr id="449" name="Down Arrow 448"/>
          <p:cNvSpPr/>
          <p:nvPr/>
        </p:nvSpPr>
        <p:spPr>
          <a:xfrm>
            <a:off x="8165591" y="4343400"/>
            <a:ext cx="219456" cy="4114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Rounded Rectangle 449"/>
          <p:cNvSpPr/>
          <p:nvPr/>
        </p:nvSpPr>
        <p:spPr>
          <a:xfrm>
            <a:off x="7315199" y="4846320"/>
            <a:ext cx="192024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400" b="1">
                <a:solidFill>
                  <a:srgbClr val="FFFFFF"/>
                </a:solidFill>
                <a:latin typeface="微軟正黑體"/>
              </a:rPr>
              <a:t>能量</a:t>
            </a:r>
          </a:p>
        </p:txBody>
      </p:sp>
      <p:sp>
        <p:nvSpPr>
          <p:cNvPr id="451" name="Rectangle 450"/>
          <p:cNvSpPr/>
          <p:nvPr/>
        </p:nvSpPr>
        <p:spPr>
          <a:xfrm>
            <a:off x="10469880" y="2743200"/>
            <a:ext cx="25400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Rounded Rectangle 451"/>
          <p:cNvSpPr/>
          <p:nvPr/>
        </p:nvSpPr>
        <p:spPr>
          <a:xfrm>
            <a:off x="9509760" y="3108960"/>
            <a:ext cx="1920240" cy="10972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健康食品</a:t>
            </a:r>
          </a:p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(專利)</a:t>
            </a:r>
          </a:p>
        </p:txBody>
      </p:sp>
      <p:sp>
        <p:nvSpPr>
          <p:cNvPr id="453" name="Down Arrow 452"/>
          <p:cNvSpPr/>
          <p:nvPr/>
        </p:nvSpPr>
        <p:spPr>
          <a:xfrm>
            <a:off x="10360152" y="4343400"/>
            <a:ext cx="219456" cy="41148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Rounded Rectangle 453"/>
          <p:cNvSpPr/>
          <p:nvPr/>
        </p:nvSpPr>
        <p:spPr>
          <a:xfrm>
            <a:off x="9509760" y="4846320"/>
            <a:ext cx="192024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400" b="1">
                <a:solidFill>
                  <a:srgbClr val="FFFFFF"/>
                </a:solidFill>
                <a:latin typeface="微軟正黑體"/>
              </a:rPr>
              <a:t>使用量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2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企業架構</a:t>
            </a:r>
            <a:endParaRPr/>
          </a:p>
        </p:txBody>
      </p:sp>
      <p:sp>
        <p:nvSpPr>
          <p:cNvPr id="554" name="Rectangle 553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Rectangle 55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Rounded Rectangle 555"/>
          <p:cNvSpPr/>
          <p:nvPr/>
        </p:nvSpPr>
        <p:spPr>
          <a:xfrm>
            <a:off x="4901184" y="1371600"/>
            <a:ext cx="2377440" cy="502920"/>
          </a:xfrm>
          <a:prstGeom prst="round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負責人</a:t>
            </a:r>
          </a:p>
        </p:txBody>
      </p:sp>
      <p:sp>
        <p:nvSpPr>
          <p:cNvPr id="557" name="Rounded Rectangle 556"/>
          <p:cNvSpPr/>
          <p:nvPr/>
        </p:nvSpPr>
        <p:spPr>
          <a:xfrm>
            <a:off x="4901184" y="2240280"/>
            <a:ext cx="2377440" cy="502920"/>
          </a:xfrm>
          <a:prstGeom prst="round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CEO</a:t>
            </a:r>
          </a:p>
        </p:txBody>
      </p:sp>
      <p:sp>
        <p:nvSpPr>
          <p:cNvPr id="558" name="Down Arrow 557"/>
          <p:cNvSpPr/>
          <p:nvPr/>
        </p:nvSpPr>
        <p:spPr>
          <a:xfrm>
            <a:off x="5980176" y="1920240"/>
            <a:ext cx="219456" cy="27432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Rectangle 558"/>
          <p:cNvSpPr/>
          <p:nvPr/>
        </p:nvSpPr>
        <p:spPr>
          <a:xfrm>
            <a:off x="2194560" y="2971800"/>
            <a:ext cx="7242048" cy="25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Rectangle 559"/>
          <p:cNvSpPr/>
          <p:nvPr/>
        </p:nvSpPr>
        <p:spPr>
          <a:xfrm>
            <a:off x="6089904" y="2743200"/>
            <a:ext cx="25400" cy="228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Rounded Rectangle 560"/>
          <p:cNvSpPr/>
          <p:nvPr/>
        </p:nvSpPr>
        <p:spPr>
          <a:xfrm>
            <a:off x="731520" y="3154680"/>
            <a:ext cx="292608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教育</a:t>
            </a:r>
          </a:p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(培訓總監)</a:t>
            </a:r>
          </a:p>
        </p:txBody>
      </p:sp>
      <p:sp>
        <p:nvSpPr>
          <p:cNvPr id="562" name="Rectangle 561"/>
          <p:cNvSpPr/>
          <p:nvPr/>
        </p:nvSpPr>
        <p:spPr>
          <a:xfrm>
            <a:off x="2194560" y="2971800"/>
            <a:ext cx="25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Rounded Rectangle 562"/>
          <p:cNvSpPr/>
          <p:nvPr/>
        </p:nvSpPr>
        <p:spPr>
          <a:xfrm>
            <a:off x="4352544" y="3154680"/>
            <a:ext cx="292608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行銷</a:t>
            </a:r>
          </a:p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(行銷總監)</a:t>
            </a:r>
          </a:p>
        </p:txBody>
      </p:sp>
      <p:sp>
        <p:nvSpPr>
          <p:cNvPr id="564" name="Rectangle 563"/>
          <p:cNvSpPr/>
          <p:nvPr/>
        </p:nvSpPr>
        <p:spPr>
          <a:xfrm>
            <a:off x="5815584" y="2971800"/>
            <a:ext cx="25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Rounded Rectangle 564"/>
          <p:cNvSpPr/>
          <p:nvPr/>
        </p:nvSpPr>
        <p:spPr>
          <a:xfrm>
            <a:off x="7973568" y="3154680"/>
            <a:ext cx="2926080" cy="59436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行政</a:t>
            </a:r>
          </a:p>
          <a:p>
            <a:pPr algn="ctr">
              <a:defRPr>
                <a:latin typeface="微軟正黑體"/>
              </a:defRPr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(行政總監)</a:t>
            </a:r>
          </a:p>
        </p:txBody>
      </p:sp>
      <p:sp>
        <p:nvSpPr>
          <p:cNvPr id="566" name="Rectangle 565"/>
          <p:cNvSpPr/>
          <p:nvPr/>
        </p:nvSpPr>
        <p:spPr>
          <a:xfrm>
            <a:off x="9436608" y="2971800"/>
            <a:ext cx="2540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Down Arrow 566"/>
          <p:cNvSpPr/>
          <p:nvPr/>
        </p:nvSpPr>
        <p:spPr>
          <a:xfrm>
            <a:off x="2084831" y="3794760"/>
            <a:ext cx="219456" cy="32004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Rounded Rectangle 567"/>
          <p:cNvSpPr/>
          <p:nvPr/>
        </p:nvSpPr>
        <p:spPr>
          <a:xfrm>
            <a:off x="731520" y="4160520"/>
            <a:ext cx="12801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業務培訓</a:t>
            </a:r>
          </a:p>
        </p:txBody>
      </p:sp>
      <p:sp>
        <p:nvSpPr>
          <p:cNvPr id="569" name="Rounded Rectangle 568"/>
          <p:cNvSpPr/>
          <p:nvPr/>
        </p:nvSpPr>
        <p:spPr>
          <a:xfrm>
            <a:off x="2377440" y="4160520"/>
            <a:ext cx="128016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100" b="1">
                <a:solidFill>
                  <a:srgbClr val="083344"/>
                </a:solidFill>
                <a:latin typeface="微軟正黑體"/>
              </a:rPr>
              <a:t>產品培訓</a:t>
            </a:r>
          </a:p>
        </p:txBody>
      </p:sp>
      <p:sp>
        <p:nvSpPr>
          <p:cNvPr id="570" name="Down Arrow 569"/>
          <p:cNvSpPr/>
          <p:nvPr/>
        </p:nvSpPr>
        <p:spPr>
          <a:xfrm>
            <a:off x="9326880" y="3794760"/>
            <a:ext cx="219456" cy="32004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Rounded Rectangle 570"/>
          <p:cNvSpPr/>
          <p:nvPr/>
        </p:nvSpPr>
        <p:spPr>
          <a:xfrm>
            <a:off x="7973568" y="4160520"/>
            <a:ext cx="86868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000" b="1">
                <a:solidFill>
                  <a:srgbClr val="083344"/>
                </a:solidFill>
                <a:latin typeface="微軟正黑體"/>
              </a:rPr>
              <a:t>財務</a:t>
            </a:r>
          </a:p>
        </p:txBody>
      </p:sp>
      <p:sp>
        <p:nvSpPr>
          <p:cNvPr id="572" name="Rounded Rectangle 571"/>
          <p:cNvSpPr/>
          <p:nvPr/>
        </p:nvSpPr>
        <p:spPr>
          <a:xfrm>
            <a:off x="8979408" y="4160520"/>
            <a:ext cx="86868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000" b="1">
                <a:solidFill>
                  <a:srgbClr val="083344"/>
                </a:solidFill>
                <a:latin typeface="微軟正黑體"/>
              </a:rPr>
              <a:t>客服</a:t>
            </a:r>
          </a:p>
        </p:txBody>
      </p:sp>
      <p:sp>
        <p:nvSpPr>
          <p:cNvPr id="573" name="Rounded Rectangle 572"/>
          <p:cNvSpPr/>
          <p:nvPr/>
        </p:nvSpPr>
        <p:spPr>
          <a:xfrm>
            <a:off x="9985248" y="4160520"/>
            <a:ext cx="868680" cy="59436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000" b="1">
                <a:solidFill>
                  <a:srgbClr val="083344"/>
                </a:solidFill>
                <a:latin typeface="微軟正黑體"/>
              </a:rPr>
              <a:t>技術</a:t>
            </a:r>
          </a:p>
        </p:txBody>
      </p:sp>
      <p:sp>
        <p:nvSpPr>
          <p:cNvPr id="574" name="Down Arrow 573"/>
          <p:cNvSpPr/>
          <p:nvPr/>
        </p:nvSpPr>
        <p:spPr>
          <a:xfrm>
            <a:off x="5705856" y="3794760"/>
            <a:ext cx="219456" cy="274320"/>
          </a:xfrm>
          <a:prstGeom prst="downArrow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Rounded Rectangle 574"/>
          <p:cNvSpPr/>
          <p:nvPr/>
        </p:nvSpPr>
        <p:spPr>
          <a:xfrm>
            <a:off x="4206240" y="4114800"/>
            <a:ext cx="1097280" cy="5029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000" b="1">
                <a:solidFill>
                  <a:srgbClr val="083344"/>
                </a:solidFill>
                <a:latin typeface="微軟正黑體"/>
              </a:rPr>
              <a:t>網路</a:t>
            </a:r>
          </a:p>
        </p:txBody>
      </p:sp>
      <p:sp>
        <p:nvSpPr>
          <p:cNvPr id="576" name="Rounded Rectangle 575"/>
          <p:cNvSpPr/>
          <p:nvPr/>
        </p:nvSpPr>
        <p:spPr>
          <a:xfrm>
            <a:off x="5440680" y="4114800"/>
            <a:ext cx="914400" cy="5029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000" b="1">
                <a:solidFill>
                  <a:srgbClr val="083344"/>
                </a:solidFill>
                <a:latin typeface="微軟正黑體"/>
              </a:rPr>
              <a:t>店</a:t>
            </a:r>
          </a:p>
        </p:txBody>
      </p:sp>
      <p:sp>
        <p:nvSpPr>
          <p:cNvPr id="577" name="Rounded Rectangle 576"/>
          <p:cNvSpPr/>
          <p:nvPr/>
        </p:nvSpPr>
        <p:spPr>
          <a:xfrm>
            <a:off x="6492240" y="4114800"/>
            <a:ext cx="914400" cy="50292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1000" b="1">
                <a:solidFill>
                  <a:srgbClr val="083344"/>
                </a:solidFill>
                <a:latin typeface="微軟正黑體"/>
              </a:rPr>
              <a:t>業務</a:t>
            </a:r>
          </a:p>
        </p:txBody>
      </p:sp>
      <p:sp>
        <p:nvSpPr>
          <p:cNvPr id="578" name="Rectangle 577"/>
          <p:cNvSpPr/>
          <p:nvPr/>
        </p:nvSpPr>
        <p:spPr>
          <a:xfrm>
            <a:off x="4069080" y="4709160"/>
            <a:ext cx="9144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Rectangle 578"/>
          <p:cNvSpPr/>
          <p:nvPr/>
        </p:nvSpPr>
        <p:spPr>
          <a:xfrm>
            <a:off x="4754880" y="4617720"/>
            <a:ext cx="1905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Rounded Rectangle 579"/>
          <p:cNvSpPr/>
          <p:nvPr/>
        </p:nvSpPr>
        <p:spPr>
          <a:xfrm>
            <a:off x="3566160" y="4892040"/>
            <a:ext cx="91440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900" b="0">
                <a:solidFill>
                  <a:srgbClr val="334155"/>
                </a:solidFill>
                <a:latin typeface="微軟正黑體"/>
              </a:rPr>
              <a:t>自媒體</a:t>
            </a:r>
          </a:p>
        </p:txBody>
      </p:sp>
      <p:sp>
        <p:nvSpPr>
          <p:cNvPr id="581" name="Rectangle 580"/>
          <p:cNvSpPr/>
          <p:nvPr/>
        </p:nvSpPr>
        <p:spPr>
          <a:xfrm>
            <a:off x="4069080" y="4709160"/>
            <a:ext cx="1905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Rounded Rectangle 581"/>
          <p:cNvSpPr/>
          <p:nvPr/>
        </p:nvSpPr>
        <p:spPr>
          <a:xfrm>
            <a:off x="4617720" y="4892040"/>
            <a:ext cx="1097280" cy="5029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>
                <a:latin typeface="微軟正黑體"/>
              </a:defRPr>
            </a:pPr>
            <a:r>
              <a:rPr sz="900" b="0">
                <a:solidFill>
                  <a:srgbClr val="334155"/>
                </a:solidFill>
                <a:latin typeface="微軟正黑體"/>
              </a:rPr>
              <a:t>官網 / 媒體</a:t>
            </a:r>
          </a:p>
        </p:txBody>
      </p:sp>
      <p:sp>
        <p:nvSpPr>
          <p:cNvPr id="583" name="Rectangle 582"/>
          <p:cNvSpPr/>
          <p:nvPr/>
        </p:nvSpPr>
        <p:spPr>
          <a:xfrm>
            <a:off x="4983480" y="4709160"/>
            <a:ext cx="19050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3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endParaRPr/>
          </a:p>
        </p:txBody>
      </p:sp>
      <p:graphicFrame>
        <p:nvGraphicFramePr>
          <p:cNvPr id="559" name="Google Shape;559;p13"/>
          <p:cNvGraphicFramePr/>
          <p:nvPr/>
        </p:nvGraphicFramePr>
        <p:xfrm>
          <a:off x="314632" y="450643"/>
          <a:ext cx="3000000" cy="30000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197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endParaRPr sz="1800"/>
                    </a:p>
                  </a:txBody>
                  <a:tcPr marL="91450" marR="91450" marT="45725" marB="45725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b="1">
                          <a:solidFill>
                            <a:srgbClr val="FFFFFF"/>
                          </a:solidFill>
                          <a:latin typeface="微軟正黑體"/>
                        </a:rPr>
                        <a:t>企業獨特優勢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endParaRPr sz="1800"/>
                    </a:p>
                  </a:txBody>
                  <a:tcPr marL="91450" marR="91450" marT="45725" marB="45725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公司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身心健康優質品牌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創辦人的故事(不為利益) 實體點 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產品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量子能量與其他結合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專利   特別產品 高利潤  日常用品取代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制度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解決所有直銷無法解決的問題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傳統制度  不會被傳直銷三個字影響  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系統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免費引流 完整系統 趨勢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 身心靈老師培訓 業務系統培訓  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行銷模式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多通路布局  天地人 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只要分享APP  後面收入就有關 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品牌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培養很多身心靈老師推薦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最多身心靈老師推薦的品牌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團隊 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2400"/>
                        <a:t> 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專業團隊 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4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技術 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靈性技術 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>
                          <a:solidFill>
                            <a:srgbClr val="334155"/>
                          </a:solidFill>
                          <a:latin typeface="微軟正黑體"/>
                        </a:rPr>
                        <a:t>免費教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60" name="Rectangle 559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Rectangle 560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4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我們在徵的人才</a:t>
            </a:r>
            <a:endParaRPr/>
          </a:p>
        </p:txBody>
      </p:sp>
      <p:sp>
        <p:nvSpPr>
          <p:cNvPr id="565" name="Google Shape;565;p14"/>
          <p:cNvSpPr txBox="1">
            <a:spLocks noGrp="1"/>
          </p:cNvSpPr>
          <p:nvPr>
            <p:ph idx="1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1、身心靈老師或想學習的人(透過座談會)</a:t>
            </a:r>
            <a:endParaRPr/>
          </a:p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2、特助(細心 )</a:t>
            </a:r>
            <a:endParaRPr sz="36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3、財稅相關專業(會計師)</a:t>
            </a:r>
            <a:endParaRPr/>
          </a:p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4、醫療相關專業(醫師/護理師/營養師/醫檢師/藥師 心理師)</a:t>
            </a:r>
            <a:endParaRPr/>
          </a:p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5、行銷相關專業(小編/拍攝/剪片/經紀人)</a:t>
            </a:r>
            <a:endParaRPr/>
          </a:p>
          <a:p>
            <a:pPr marL="1016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  <a:ea typeface="Microsoft JhengHei"/>
                <a:cs typeface="Microsoft JhengHei"/>
                <a:sym typeface="Microsoft JhengHei"/>
              </a:rPr>
              <a:t>6、法律相關專業</a:t>
            </a:r>
            <a:endParaRPr/>
          </a:p>
        </p:txBody>
      </p:sp>
      <p:sp>
        <p:nvSpPr>
          <p:cNvPr id="566" name="Rectangle 565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Rectangle 566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5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實體</a:t>
            </a:r>
            <a:endParaRPr/>
          </a:p>
        </p:txBody>
      </p:sp>
      <p:sp>
        <p:nvSpPr>
          <p:cNvPr id="571" name="Google Shape;571;p15"/>
          <p:cNvSpPr txBox="1">
            <a:spLocks noGrp="1"/>
          </p:cNvSpPr>
          <p:nvPr>
            <p:ph idx="1"/>
          </p:nvPr>
        </p:nvSpPr>
        <p:spPr>
          <a:xfrm>
            <a:off x="623393" y="148478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一樓：咖啡廳+茶飲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二樓：運動教室 身心靈  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三樓：諮詢室/整脊/調理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四樓：診所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或者一層有兩個功能也可</a:t>
            </a:r>
            <a:endParaRPr/>
          </a:p>
        </p:txBody>
      </p:sp>
      <p:sp>
        <p:nvSpPr>
          <p:cNvPr id="572" name="Rectangle 571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Rectangle 572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6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咖啡廳外觀示意圖</a:t>
            </a:r>
            <a:endParaRPr/>
          </a:p>
        </p:txBody>
      </p:sp>
      <p:pic>
        <p:nvPicPr>
          <p:cNvPr id="577" name="Google Shape;577;p16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78200" y="1247050"/>
            <a:ext cx="4652700" cy="26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1190" y="2228129"/>
            <a:ext cx="4727276" cy="472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16" title="Gemini_Generated_Image_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7150" y="855575"/>
            <a:ext cx="4925892" cy="268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16" title="cafe_yoga_stud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7331" y="3866350"/>
            <a:ext cx="2986749" cy="2986749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Rectangle 580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Rectangle 581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524" y="2362475"/>
            <a:ext cx="5369250" cy="35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17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運動教室示意圖</a:t>
            </a:r>
            <a:endParaRPr/>
          </a:p>
        </p:txBody>
      </p:sp>
      <p:pic>
        <p:nvPicPr>
          <p:cNvPr id="587" name="Google Shape;587;p17" title="Gemini_Generated_Image_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62501" y="2756800"/>
            <a:ext cx="4781551" cy="3185174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Rectangle 587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9" name="Rectangle 588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8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美容/身心靈教室外觀示意圖</a:t>
            </a:r>
            <a:endParaRPr/>
          </a:p>
        </p:txBody>
      </p:sp>
      <p:pic>
        <p:nvPicPr>
          <p:cNvPr id="593" name="Google Shape;593;p18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19401" y="1745201"/>
            <a:ext cx="5376600" cy="35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18" title="healing_ro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76751" y="1399456"/>
            <a:ext cx="5262848" cy="5262848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Rectangle 594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6" name="Rectangle 595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9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辦公室示意圖</a:t>
            </a:r>
            <a:endParaRPr/>
          </a:p>
        </p:txBody>
      </p:sp>
      <p:pic>
        <p:nvPicPr>
          <p:cNvPr id="600" name="Google Shape;600;p19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741225" y="1405975"/>
            <a:ext cx="8918400" cy="48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Rectangle 600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2" name="Rectangle 601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20"/>
          <p:cNvSpPr txBox="1">
            <a:spLocks noGrp="1"/>
          </p:cNvSpPr>
          <p:nvPr>
            <p:ph type="title"/>
          </p:nvPr>
        </p:nvSpPr>
        <p:spPr>
          <a:xfrm>
            <a:off x="960120" y="548640"/>
            <a:ext cx="10497312" cy="731520"/>
          </a:xfrm>
          <a:prstGeom prst="rect">
            <a:avLst/>
          </a:prstGeom>
          <a:solidFill>
            <a:srgbClr val="7D8C4C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</a:pPr>
            <a:r>
              <a:rPr lang="zh-TW" sz="3200" b="1">
                <a:solidFill>
                  <a:srgbClr val="083344"/>
                </a:solidFill>
                <a:latin typeface="微軟正黑體"/>
              </a:rPr>
              <a:t>分租模式的行銷優勢</a:t>
            </a:r>
            <a:endParaRPr/>
          </a:p>
        </p:txBody>
      </p:sp>
      <p:sp>
        <p:nvSpPr>
          <p:cNvPr id="606" name="Google Shape;606;p20"/>
          <p:cNvSpPr txBox="1">
            <a:spLocks noGrp="1"/>
          </p:cNvSpPr>
          <p:nvPr>
            <p:ph idx="1"/>
          </p:nvPr>
        </p:nvSpPr>
        <p:spPr>
          <a:xfrm>
            <a:off x="437648" y="1495934"/>
            <a:ext cx="11009808" cy="4781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交叉引流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櫃台協助檢測 服務與成交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讓老師做本來在做的事情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2000"/>
              </a:spcBef>
              <a:spcAft>
                <a:spcPts val="0"/>
              </a:spcAft>
              <a:buSzPts val="3600"/>
              <a:buNone/>
              <a:defRPr>
                <a:latin typeface="微軟正黑體"/>
              </a:defRPr>
            </a:pPr>
            <a:r>
              <a:rPr lang="zh-TW" sz="1600" b="0">
                <a:solidFill>
                  <a:srgbClr val="334155"/>
                </a:solidFill>
                <a:latin typeface="微軟正黑體"/>
              </a:rPr>
              <a:t>吧檯飲品與點心可增加公司收益</a:t>
            </a:r>
            <a:endParaRPr/>
          </a:p>
        </p:txBody>
      </p:sp>
      <p:pic>
        <p:nvPicPr>
          <p:cNvPr id="607" name="Google Shape;60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7901" y="1996898"/>
            <a:ext cx="3554083" cy="3554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24792" y="1939470"/>
            <a:ext cx="4760302" cy="4123426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Rectangle 608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0" name="Rectangle 609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3" name="Google Shape;613;p21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8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9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6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b="1" u="none" strike="noStrike" cap="none">
                          <a:solidFill>
                            <a:srgbClr val="FFFFFF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層次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b="1" u="none" strike="noStrike" cap="none">
                          <a:solidFill>
                            <a:srgbClr val="FFFFFF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定位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b="1" u="none" strike="noStrike" cap="none">
                          <a:solidFill>
                            <a:srgbClr val="FFFFFF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時間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b="1" u="none" strike="noStrike" cap="none">
                          <a:solidFill>
                            <a:srgbClr val="FFFFFF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條件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b="1" u="none" strike="noStrike" cap="none">
                          <a:solidFill>
                            <a:srgbClr val="FFFFFF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收入模式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300" b="1" u="none" strike="noStrike" cap="none">
                          <a:solidFill>
                            <a:srgbClr val="FFFFFF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成長方向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1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靈性老師 / 個人顧問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2024、7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以自身能力開課或做個案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課程費、諮詢費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打造個人品牌、累積口碑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專業個體戶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2025、1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有穩定學員與回頭客，開始有小影響力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一對多課程、套裝服務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介紹個案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3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微型工作室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2025、9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大量尋找老師與業務團隊與工作人員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課程＋產品銷售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培養老師與業務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5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公司化經營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2026、5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租下辦公室或店面做初期培訓與內部測試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B2C課程＋B2B合作（企業方案）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建立培訓系統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6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小型品牌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2026、12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建立規模組織與大量曝光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一棟正式營業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會員制、訂閱制、品牌產品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打造真靈光店面營收樣板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7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連鎖 / 擴張中心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2027、10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擁有多個實體據點，可能採加盟模式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加盟金、授權費、分店營收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建立標準化課程＋加盟SOP(內部創業)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8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全國品牌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2028 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在全台灣多地區佈局，成為知名身心靈品牌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大型活動、出版、品牌合作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與政府、企業、學校合作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9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平台型企業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2029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建立「真靈光平台」，整合老師、學員、產品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平台抽成、廣告、流量變現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打造身心靈版的「蝦皮＋全聯」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78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10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生態系統企業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2030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建立完整「身心靈生態圈」：</a:t>
                      </a:r>
                      <a:endParaRPr sz="1800" u="none" strike="noStrike" cap="none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課程、產品、療癒中心、學校、診所、金融 養生村 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多元收入（平台＋實體＋科技＋投資）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>
                          <a:latin typeface="微軟正黑體"/>
                        </a:defRPr>
                      </a:pPr>
                      <a:r>
                        <a:rPr lang="zh-TW" sz="1100" b="0" u="none" strike="noStrike" cap="none">
                          <a:solidFill>
                            <a:srgbClr val="334155"/>
                          </a:solidFill>
                          <a:latin typeface="微軟正黑體"/>
                          <a:ea typeface="Microsoft JhengHei"/>
                          <a:cs typeface="Microsoft JhengHei"/>
                          <a:sym typeface="Microsoft JhengHei"/>
                        </a:rPr>
                        <a:t>成為全球第一的身心靈生態系，連結百萬導師與用戶</a:t>
                      </a:r>
                      <a:endParaRPr/>
                    </a:p>
                  </a:txBody>
                  <a:tcPr marL="50325" marR="50325" marT="25175" marB="2517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3843</Words>
  <Application>Microsoft Office PowerPoint</Application>
  <PresentationFormat>寬螢幕</PresentationFormat>
  <Paragraphs>888</Paragraphs>
  <Slides>70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70</vt:i4>
      </vt:variant>
    </vt:vector>
  </HeadingPairs>
  <TitlesOfParts>
    <vt:vector size="79" baseType="lpstr">
      <vt:lpstr>Noto Sans Symbols</vt:lpstr>
      <vt:lpstr>微軟正黑體</vt:lpstr>
      <vt:lpstr>微軟正黑體</vt:lpstr>
      <vt:lpstr>Aptos</vt:lpstr>
      <vt:lpstr>Arial</vt:lpstr>
      <vt:lpstr>Calibri</vt:lpstr>
      <vt:lpstr>Century Gothic</vt:lpstr>
      <vt:lpstr>Sorts Mill Goudy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     18歲上心靈課程訂下人生目標</vt:lpstr>
      <vt:lpstr>平台創立動機</vt:lpstr>
      <vt:lpstr>遇到大師指點 做出規劃</vt:lpstr>
      <vt:lpstr>身心靈流程</vt:lpstr>
      <vt:lpstr>半自動化循環流程</vt:lpstr>
      <vt:lpstr>身心靈一站式服務培訓系統</vt:lpstr>
      <vt:lpstr>代理商的收入來源</vt:lpstr>
      <vt:lpstr> 三年計畫 </vt:lpstr>
      <vt:lpstr>PowerPoint 簡報</vt:lpstr>
      <vt:lpstr>企業架構</vt:lpstr>
      <vt:lpstr>PowerPoint 簡報</vt:lpstr>
      <vt:lpstr>我們在徵的人才</vt:lpstr>
      <vt:lpstr>實體</vt:lpstr>
      <vt:lpstr>咖啡廳外觀示意圖</vt:lpstr>
      <vt:lpstr>運動教室示意圖</vt:lpstr>
      <vt:lpstr>美容/身心靈教室外觀示意圖</vt:lpstr>
      <vt:lpstr>辦公室示意圖</vt:lpstr>
      <vt:lpstr>分租模式的行銷優勢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 Victor</cp:lastModifiedBy>
  <cp:revision>2</cp:revision>
  <dcterms:created xsi:type="dcterms:W3CDTF">2013-01-27T09:14:16Z</dcterms:created>
  <dcterms:modified xsi:type="dcterms:W3CDTF">2026-06-29T00:37:00Z</dcterms:modified>
  <cp:category/>
</cp:coreProperties>
</file>